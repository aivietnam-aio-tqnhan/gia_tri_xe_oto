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9" r:id="rId3"/>
    <p:sldId id="260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2" r:id="rId12"/>
    <p:sldId id="273" r:id="rId13"/>
    <p:sldId id="275" r:id="rId14"/>
    <p:sldId id="276" r:id="rId15"/>
    <p:sldId id="277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g/feVIVbFuoWwRTm8at7c5l2mr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00456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789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/>
          <p:nvPr/>
        </p:nvSpPr>
        <p:spPr>
          <a:xfrm>
            <a:off x="0" y="1"/>
            <a:ext cx="457200" cy="7383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0C0C0C"/>
                </a:solidFill>
                <a:latin typeface="Algerian"/>
                <a:ea typeface="Algerian"/>
                <a:cs typeface="Algerian"/>
                <a:sym typeface="Algerian"/>
              </a:rPr>
              <a:t>‹#›</a:t>
            </a:fld>
            <a:endParaRPr sz="1800">
              <a:solidFill>
                <a:srgbClr val="0C0C0C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pic>
        <p:nvPicPr>
          <p:cNvPr id="27" name="Google Shape;27;p6" descr="A black background with white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4538" y="44846"/>
            <a:ext cx="1968472" cy="64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-2512" y="738391"/>
            <a:ext cx="12192000" cy="1361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6"/>
          <p:cNvSpPr txBox="1"/>
          <p:nvPr/>
        </p:nvSpPr>
        <p:spPr>
          <a:xfrm>
            <a:off x="2349088" y="0"/>
            <a:ext cx="9004711" cy="99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endParaRPr sz="4400" b="1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IVIETNAM-AIO-TQNHAN/gia_tri_xe_ot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365760" y="1520842"/>
            <a:ext cx="11460480" cy="1485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A6FF"/>
              </a:buClr>
              <a:buSzPts val="6000"/>
              <a:buFont typeface="Times New Roman"/>
              <a:buNone/>
            </a:pPr>
            <a:r>
              <a:rPr lang="en-US" sz="4000" b="1" dirty="0">
                <a:solidFill>
                  <a:srgbClr val="2FA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Lake Medallion + Star Schema </a:t>
            </a:r>
            <a:r>
              <a:rPr lang="en-US" sz="4000" b="1" dirty="0" err="1">
                <a:solidFill>
                  <a:srgbClr val="2FA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bằng</a:t>
            </a:r>
            <a:r>
              <a:rPr lang="en-US" sz="4000" b="1" dirty="0">
                <a:solidFill>
                  <a:srgbClr val="2FA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dirty="0" err="1">
                <a:solidFill>
                  <a:srgbClr val="2FA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PySpark</a:t>
            </a:r>
            <a:endParaRPr b="1" dirty="0">
              <a:solidFill>
                <a:srgbClr val="2FA6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sz="4000" b="1" i="0" dirty="0" err="1">
                <a:solidFill>
                  <a:srgbClr val="2FA6FF"/>
                </a:solidFill>
                <a:latin typeface="Times New Roman"/>
              </a:rPr>
              <a:t>cho</a:t>
            </a:r>
            <a:r>
              <a:rPr sz="4000" b="1" i="0" dirty="0">
                <a:solidFill>
                  <a:srgbClr val="2FA6FF"/>
                </a:solidFill>
                <a:latin typeface="Times New Roman"/>
              </a:rPr>
              <a:t> </a:t>
            </a:r>
            <a:r>
              <a:rPr sz="4000" b="1" i="0" dirty="0" err="1">
                <a:solidFill>
                  <a:srgbClr val="2FA6FF"/>
                </a:solidFill>
                <a:latin typeface="Times New Roman"/>
              </a:rPr>
              <a:t>giá</a:t>
            </a:r>
            <a:r>
              <a:rPr sz="4000" b="1" i="0" dirty="0">
                <a:solidFill>
                  <a:srgbClr val="2FA6FF"/>
                </a:solidFill>
                <a:latin typeface="Times New Roman"/>
              </a:rPr>
              <a:t> </a:t>
            </a:r>
            <a:r>
              <a:rPr sz="4000" b="1" i="0" dirty="0" err="1">
                <a:solidFill>
                  <a:srgbClr val="2FA6FF"/>
                </a:solidFill>
                <a:latin typeface="Times New Roman"/>
              </a:rPr>
              <a:t>trị</a:t>
            </a:r>
            <a:r>
              <a:rPr sz="4000" b="1" i="0" dirty="0">
                <a:solidFill>
                  <a:srgbClr val="2FA6FF"/>
                </a:solidFill>
                <a:latin typeface="Times New Roman"/>
              </a:rPr>
              <a:t> </a:t>
            </a:r>
            <a:r>
              <a:rPr sz="4000" b="1" i="0" dirty="0" err="1">
                <a:solidFill>
                  <a:srgbClr val="2FA6FF"/>
                </a:solidFill>
                <a:latin typeface="Times New Roman"/>
              </a:rPr>
              <a:t>xe</a:t>
            </a:r>
            <a:r>
              <a:rPr sz="4000" b="1" i="0" dirty="0">
                <a:solidFill>
                  <a:srgbClr val="2FA6FF"/>
                </a:solidFill>
                <a:latin typeface="Times New Roman"/>
              </a:rPr>
              <a:t> ô </a:t>
            </a:r>
            <a:r>
              <a:rPr sz="4000" b="1" i="0" dirty="0" err="1">
                <a:solidFill>
                  <a:srgbClr val="2FA6FF"/>
                </a:solidFill>
                <a:latin typeface="Times New Roman"/>
              </a:rPr>
              <a:t>tô</a:t>
            </a:r>
            <a:endParaRPr sz="4000" b="1" i="0" dirty="0">
              <a:solidFill>
                <a:srgbClr val="2FA6FF"/>
              </a:solidFill>
              <a:latin typeface="Times New Roman"/>
            </a:endParaRPr>
          </a:p>
        </p:txBody>
      </p:sp>
      <p:sp>
        <p:nvSpPr>
          <p:cNvPr id="93" name="Google Shape;93;p1"/>
          <p:cNvSpPr txBox="1">
            <a:spLocks noGrp="1"/>
          </p:cNvSpPr>
          <p:nvPr>
            <p:ph type="subTitle" idx="1"/>
          </p:nvPr>
        </p:nvSpPr>
        <p:spPr>
          <a:xfrm>
            <a:off x="1633684" y="342900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None/>
            </a:pPr>
            <a:r>
              <a:rPr lang="en-US" sz="30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Sources &amp; Data Ingestion using </a:t>
            </a:r>
            <a:r>
              <a:rPr lang="en-US" sz="3000" b="1" dirty="0" err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PySpark</a:t>
            </a:r>
            <a:endParaRPr sz="36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34159" y="6159484"/>
            <a:ext cx="1199525" cy="374571"/>
          </a:xfrm>
          <a:prstGeom prst="roundRect">
            <a:avLst>
              <a:gd name="adj" fmla="val 16667"/>
            </a:avLst>
          </a:prstGeom>
          <a:solidFill>
            <a:srgbClr val="C4E0B2"/>
          </a:solidFill>
          <a:ln w="9525" cap="flat" cmpd="sng">
            <a:solidFill>
              <a:srgbClr val="8DA9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sng" strike="noStrike" cap="none" dirty="0" err="1">
                <a:solidFill>
                  <a:srgbClr val="1348F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Data&amp;Code</a:t>
            </a:r>
            <a:endParaRPr sz="1600" dirty="0">
              <a:solidFill>
                <a:srgbClr val="1348F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013449" y="5036429"/>
            <a:ext cx="37766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Trần</a:t>
            </a:r>
            <a:r>
              <a:rPr lang="en-US" sz="2400" b="1" dirty="0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Quang </a:t>
            </a:r>
            <a:r>
              <a:rPr lang="en-US" sz="2400" b="1" dirty="0" err="1">
                <a:solidFill>
                  <a:srgbClr val="BF9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endParaRPr sz="2400" b="1" dirty="0">
              <a:solidFill>
                <a:srgbClr val="BF9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" descr="A white circle with black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71" y="77700"/>
            <a:ext cx="2550639" cy="100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33856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6000" b="1" i="0" dirty="0">
                <a:solidFill>
                  <a:srgbClr val="FFFFFF"/>
                </a:solidFill>
                <a:latin typeface="Times New Roman"/>
              </a:rPr>
              <a:t>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481328"/>
            <a:ext cx="6126480" cy="960120"/>
          </a:xfrm>
          <a:prstGeom prst="roundRect">
            <a:avLst>
              <a:gd name="adj" fmla="val 12000"/>
            </a:avLst>
          </a:prstGeom>
          <a:solidFill>
            <a:srgbClr val="F4B183"/>
          </a:solidFill>
          <a:ln w="31750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Bối</a:t>
            </a:r>
            <a:r>
              <a:rPr sz="3000" b="1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cảnh</a:t>
            </a:r>
            <a:r>
              <a:rPr sz="3000" b="1" i="0" dirty="0">
                <a:solidFill>
                  <a:srgbClr val="C55A11"/>
                </a:solidFill>
                <a:latin typeface="Times New Roman"/>
              </a:rPr>
              <a:t> &amp; </a:t>
            </a:r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Bài</a:t>
            </a:r>
            <a:r>
              <a:rPr sz="3000" b="1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toá</a:t>
            </a:r>
            <a:r>
              <a:rPr lang="en-US" sz="3000" b="1" i="0" dirty="0" err="1">
                <a:solidFill>
                  <a:srgbClr val="C55A11"/>
                </a:solidFill>
                <a:latin typeface="Times New Roman"/>
              </a:rPr>
              <a:t>n</a:t>
            </a:r>
            <a:endParaRPr sz="3000" b="1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6072" y="1325880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SECTION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07208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Kiến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thức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nề</a:t>
            </a:r>
            <a:r>
              <a:rPr lang="en-US" sz="2600" b="0" i="0" dirty="0" err="1">
                <a:solidFill>
                  <a:srgbClr val="C55A11"/>
                </a:solidFill>
                <a:latin typeface="Times New Roman"/>
              </a:rPr>
              <a:t>n</a:t>
            </a:r>
            <a:endParaRPr sz="2600" b="0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6072" y="2651760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SECTION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33087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Thiết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kế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&amp;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Xây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dựng</a:t>
            </a:r>
            <a:endParaRPr sz="2600" b="0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6072" y="3977639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SECTION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58968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Kết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quả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&amp;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Đánh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gi</a:t>
            </a:r>
            <a:r>
              <a:rPr lang="en-US" sz="2600" dirty="0" err="1">
                <a:solidFill>
                  <a:srgbClr val="C55A11"/>
                </a:solidFill>
                <a:latin typeface="Times New Roman"/>
              </a:rPr>
              <a:t>á</a:t>
            </a:r>
            <a:endParaRPr sz="2600" b="0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6072" y="5303520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SECTION 4</a:t>
            </a:r>
          </a:p>
        </p:txBody>
      </p:sp>
      <p:pic>
        <p:nvPicPr>
          <p:cNvPr id="11" name="Picture 10" descr="hinh_08_hop_dong_theo_t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296" y="2571344"/>
            <a:ext cx="4822436" cy="23919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1: Bối cảnh &amp; Bài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0070C0"/>
                </a:solidFill>
                <a:latin typeface="Times New Roman"/>
              </a:rPr>
              <a:t>❖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Trong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bảo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hiểm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vật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chất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xe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,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giá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trị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xe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yếu</a:t>
            </a:r>
            <a:r>
              <a:rPr lang="en-US"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tố</a:t>
            </a:r>
            <a:r>
              <a:rPr lang="en-US"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quyết</a:t>
            </a:r>
            <a:r>
              <a:rPr lang="en-US"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định</a:t>
            </a:r>
            <a:r>
              <a:rPr lang="en-US"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cả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phí</a:t>
            </a:r>
            <a:r>
              <a:rPr lang="en-US"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bảo</a:t>
            </a:r>
            <a:r>
              <a:rPr lang="en-US"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hiểm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lẫn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bồi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thường</a:t>
            </a:r>
            <a:endParaRPr sz="2000" b="1" i="0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115519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262626"/>
                </a:solidFill>
                <a:latin typeface="Times New Roman"/>
              </a:rPr>
              <a:t>Số tiền bảo hiểm (STBH) của đơn vật chất xe được ấn định theo </a:t>
            </a:r>
            <a:r>
              <a:rPr sz="1700" b="1" i="0">
                <a:solidFill>
                  <a:srgbClr val="262626"/>
                </a:solidFill>
                <a:latin typeface="Times New Roman"/>
              </a:rPr>
              <a:t>giá trị thực tế của xe lúc cấp đơn</a:t>
            </a:r>
            <a:r>
              <a:rPr sz="1700" b="0" i="0">
                <a:solidFill>
                  <a:srgbClr val="262626"/>
                </a:solidFill>
                <a:latin typeface="Times New Roman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755648"/>
            <a:ext cx="115519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1">
                <a:solidFill>
                  <a:srgbClr val="262626"/>
                </a:solidFill>
                <a:latin typeface="Cambria Math"/>
              </a:rPr>
              <a:t>P = r ×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40440" y="1755648"/>
            <a:ext cx="7315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</a:rPr>
              <a:t>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076" y="2212848"/>
            <a:ext cx="11016244" cy="2554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595959"/>
                </a:solidFill>
                <a:latin typeface="Times New Roman"/>
              </a:rPr>
              <a:t>• P: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phí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bảo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hiểm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 ·  r: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tỷ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lệ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phí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theo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sản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phẩm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/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nhóm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xe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 ·  S: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số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tiền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bảo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hiểm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≈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giá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trị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xe</a:t>
            </a:r>
            <a:endParaRPr sz="1300" b="0" i="0" dirty="0">
              <a:solidFill>
                <a:srgbClr val="595959"/>
              </a:solidFill>
              <a:latin typeface="Times New Roman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638765"/>
              </p:ext>
            </p:extLst>
          </p:nvPr>
        </p:nvGraphicFramePr>
        <p:xfrm>
          <a:off x="320040" y="2871216"/>
          <a:ext cx="11417035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55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3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Định</a:t>
                      </a:r>
                      <a:r>
                        <a:rPr sz="15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giá</a:t>
                      </a:r>
                      <a:endParaRPr sz="1500" b="1" i="0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Hệ quả với khách hàng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Hệ quả với công ty bảo hiểm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Cao </a:t>
                      </a:r>
                      <a:r>
                        <a:rPr sz="15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hơn</a:t>
                      </a:r>
                      <a:r>
                        <a:rPr sz="1500" b="1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giá</a:t>
                      </a:r>
                      <a:r>
                        <a:rPr sz="1500" b="1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trị</a:t>
                      </a:r>
                      <a:r>
                        <a:rPr sz="1500" b="1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thật</a:t>
                      </a:r>
                      <a:endParaRPr sz="1500" b="1" i="0" dirty="0">
                        <a:solidFill>
                          <a:srgbClr val="262626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Đóng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phí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nhiều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hơn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cần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thiết</a:t>
                      </a:r>
                      <a:endParaRPr sz="1500" b="0" i="0" dirty="0">
                        <a:solidFill>
                          <a:srgbClr val="262626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626"/>
                          </a:solidFill>
                          <a:latin typeface="Times New Roman"/>
                        </a:rPr>
                        <a:t>Rủi ro trục lợi; tranh chấp khi tổn thất toàn bộ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62626"/>
                          </a:solidFill>
                          <a:latin typeface="Times New Roman"/>
                        </a:rPr>
                        <a:t>Thấp hơn giá trị thật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Bồi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thường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theo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tỷ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lệ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endParaRPr sz="1500" b="1" i="0" dirty="0">
                        <a:solidFill>
                          <a:srgbClr val="262626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Khiếu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nại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; </a:t>
                      </a:r>
                      <a:r>
                        <a:rPr lang="en-US"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khả</a:t>
                      </a:r>
                      <a:r>
                        <a:rPr lang="en-US" sz="1500" b="0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500" b="0" i="0" baseline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năng</a:t>
                      </a:r>
                      <a:r>
                        <a:rPr lang="en-US" sz="1500" b="0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phí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thu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không</a:t>
                      </a:r>
                      <a:r>
                        <a:rPr lang="en-US" sz="1500" b="0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500" b="0" i="0" baseline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đủ</a:t>
                      </a:r>
                      <a:r>
                        <a:rPr lang="en-US" sz="1500" b="0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500" b="0" i="0" baseline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bù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rủi</a:t>
                      </a:r>
                      <a:r>
                        <a:rPr sz="15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ro</a:t>
                      </a:r>
                      <a:endParaRPr sz="1500" b="0" i="0" dirty="0">
                        <a:solidFill>
                          <a:srgbClr val="262626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4611874"/>
            <a:ext cx="11551920" cy="5786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Mỗi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hợp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đồng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vật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chất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xe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1" i="0" dirty="0" err="1">
                <a:solidFill>
                  <a:srgbClr val="262626"/>
                </a:solidFill>
                <a:latin typeface="Times New Roman"/>
              </a:rPr>
              <a:t>đã</a:t>
            </a:r>
            <a:r>
              <a:rPr sz="17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1" i="0" dirty="0" err="1">
                <a:solidFill>
                  <a:srgbClr val="262626"/>
                </a:solidFill>
                <a:latin typeface="Times New Roman"/>
              </a:rPr>
              <a:t>chứa</a:t>
            </a:r>
            <a:r>
              <a:rPr sz="17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1" i="0" dirty="0" err="1">
                <a:solidFill>
                  <a:srgbClr val="262626"/>
                </a:solidFill>
                <a:latin typeface="Times New Roman"/>
              </a:rPr>
              <a:t>sẵn</a:t>
            </a:r>
            <a:r>
              <a:rPr sz="17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1" i="0" dirty="0" err="1">
                <a:solidFill>
                  <a:srgbClr val="262626"/>
                </a:solidFill>
                <a:latin typeface="Times New Roman"/>
              </a:rPr>
              <a:t>giá</a:t>
            </a:r>
            <a:r>
              <a:rPr lang="en-US" sz="17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700" b="1" i="0" dirty="0" err="1">
                <a:solidFill>
                  <a:srgbClr val="262626"/>
                </a:solidFill>
                <a:latin typeface="Times New Roman"/>
              </a:rPr>
              <a:t>trị</a:t>
            </a:r>
            <a:r>
              <a:rPr sz="17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1" i="0" dirty="0" err="1">
                <a:solidFill>
                  <a:srgbClr val="262626"/>
                </a:solidFill>
                <a:latin typeface="Times New Roman"/>
              </a:rPr>
              <a:t>xe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— con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số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S do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thẩm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định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viên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chốt</a:t>
            </a:r>
            <a:r>
              <a:rPr lang="en-US"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700" b="0" i="0" dirty="0" err="1">
                <a:solidFill>
                  <a:srgbClr val="262626"/>
                </a:solidFill>
                <a:latin typeface="Times New Roman"/>
              </a:rPr>
              <a:t>khi</a:t>
            </a:r>
            <a:r>
              <a:rPr lang="en-US"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700" b="0" i="0" dirty="0" err="1">
                <a:solidFill>
                  <a:srgbClr val="262626"/>
                </a:solidFill>
                <a:latin typeface="Times New Roman"/>
              </a:rPr>
              <a:t>cấp</a:t>
            </a:r>
            <a:r>
              <a:rPr lang="en-US"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700" b="0" i="0" dirty="0" err="1">
                <a:solidFill>
                  <a:srgbClr val="262626"/>
                </a:solidFill>
                <a:latin typeface="Times New Roman"/>
              </a:rPr>
              <a:t>đơn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.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Đề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tài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dùng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chính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những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con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số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đó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làm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dữ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700" b="0" i="0" dirty="0" err="1">
                <a:solidFill>
                  <a:srgbClr val="262626"/>
                </a:solidFill>
                <a:latin typeface="Times New Roman"/>
              </a:rPr>
              <a:t>liệu</a:t>
            </a:r>
            <a:r>
              <a:rPr sz="17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806440"/>
            <a:ext cx="11551920" cy="6858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Hiện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tại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đa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số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giá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trị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xe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bị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định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giá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cao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hơn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giá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trị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thị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trường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dẫn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đến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khó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cạnh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tranh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vì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phí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cao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,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và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1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phần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khả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năng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sale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muốn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hưởng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hoa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hồng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800" dirty="0" err="1">
                <a:solidFill>
                  <a:srgbClr val="7F6000"/>
                </a:solidFill>
                <a:latin typeface="Times New Roman"/>
              </a:rPr>
              <a:t>cao</a:t>
            </a:r>
            <a:r>
              <a:rPr lang="en-US" sz="1800" dirty="0">
                <a:solidFill>
                  <a:srgbClr val="7F6000"/>
                </a:solidFill>
                <a:latin typeface="Times New Roman"/>
              </a:rPr>
              <a:t>.</a:t>
            </a:r>
            <a:endParaRPr sz="1800" b="0" i="0" dirty="0">
              <a:solidFill>
                <a:srgbClr val="7F6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1: Bối cảnh &amp; Bài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9" y="987552"/>
            <a:ext cx="1182624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0070C0"/>
                </a:solidFill>
                <a:latin typeface="Times New Roman"/>
              </a:rPr>
              <a:t>❖</a:t>
            </a:r>
            <a:r>
              <a:rPr lang="en-US"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Nhu</a:t>
            </a:r>
            <a:r>
              <a:rPr lang="en-US"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cầu</a:t>
            </a:r>
            <a:r>
              <a:rPr lang="en-US"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từ</a:t>
            </a:r>
            <a:r>
              <a:rPr lang="en-US"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người</a:t>
            </a:r>
            <a:r>
              <a:rPr lang="en-US"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dùng</a:t>
            </a:r>
            <a:endParaRPr sz="2000" b="1" i="0" dirty="0">
              <a:solidFill>
                <a:srgbClr val="0070C0"/>
              </a:solidFill>
              <a:latin typeface="Times New Roman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244772"/>
              </p:ext>
            </p:extLst>
          </p:nvPr>
        </p:nvGraphicFramePr>
        <p:xfrm>
          <a:off x="320040" y="1591056"/>
          <a:ext cx="7704844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95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Nhu</a:t>
                      </a: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4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cầu</a:t>
                      </a:r>
                      <a:endParaRPr sz="1400" b="1" i="0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Người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 </a:t>
                      </a:r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dùng</a:t>
                      </a:r>
                      <a:endParaRPr sz="1400" b="1" i="0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Bảng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 Gold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Q1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Xe X đời Y, N chỗ được định giá bao nhiêu khi </a:t>
                      </a:r>
                      <a:r>
                        <a:rPr sz="1400" b="1" i="0">
                          <a:solidFill>
                            <a:srgbClr val="262626"/>
                          </a:solidFill>
                          <a:latin typeface="Times New Roman"/>
                        </a:rPr>
                        <a:t>mới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 và </a:t>
                      </a:r>
                      <a:r>
                        <a:rPr sz="1400" b="1" i="0">
                          <a:solidFill>
                            <a:srgbClr val="262626"/>
                          </a:solidFill>
                          <a:latin typeface="Times New Roman"/>
                        </a:rPr>
                        <a:t>đã qua sử dụng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? Còn lại bao nhiêu % giá trị?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Nghiệp</a:t>
                      </a:r>
                      <a:r>
                        <a:rPr lang="en-US" sz="1400" b="0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vụ</a:t>
                      </a:r>
                      <a:r>
                        <a:rPr lang="en-US" sz="1400" b="0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Xe</a:t>
                      </a:r>
                      <a:endParaRPr sz="1400" b="0" i="0" dirty="0">
                        <a:solidFill>
                          <a:srgbClr val="262626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mart_vehicle_price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Q2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Số hợp đồng và giá </a:t>
                      </a:r>
                      <a:r>
                        <a:rPr sz="1400" b="1" i="0">
                          <a:solidFill>
                            <a:srgbClr val="262626"/>
                          </a:solidFill>
                          <a:latin typeface="Times New Roman"/>
                        </a:rPr>
                        <a:t>biến động theo tháng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 thế nào, theo hãng và mục đích sử dụng?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Nghiệp</a:t>
                      </a:r>
                      <a:r>
                        <a:rPr lang="en-US" sz="1400" b="0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vụ</a:t>
                      </a:r>
                      <a:r>
                        <a:rPr lang="en-US" sz="1400" b="0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Xe</a:t>
                      </a:r>
                      <a:endParaRPr lang="en-US" sz="1400" b="0" i="0" dirty="0">
                        <a:solidFill>
                          <a:srgbClr val="262626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mart_monthly_trend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Q3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Mỗi lô tháng có </a:t>
                      </a:r>
                      <a:r>
                        <a:rPr sz="1400" b="1" i="0">
                          <a:solidFill>
                            <a:srgbClr val="262626"/>
                          </a:solidFill>
                          <a:latin typeface="Times New Roman"/>
                        </a:rPr>
                        <a:t>bao nhiêu dòng bị loại, vì sao</a:t>
                      </a:r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? Kết quả Q1–Q2 có đáng tin không?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Nghiệp</a:t>
                      </a:r>
                      <a:r>
                        <a:rPr lang="en-US" sz="1400" b="0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vụ</a:t>
                      </a:r>
                      <a:r>
                        <a:rPr lang="en-US" sz="1400" b="0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Xe</a:t>
                      </a:r>
                      <a:endParaRPr lang="en-US" sz="1400" b="0" i="0" dirty="0">
                        <a:solidFill>
                          <a:srgbClr val="262626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mart_data_quality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Q4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Có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bảng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sạch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đúng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grain, chia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sẵn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train/test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để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4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huấn</a:t>
                      </a:r>
                      <a:r>
                        <a:rPr sz="1400" b="1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4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luyện</a:t>
                      </a:r>
                      <a:r>
                        <a:rPr sz="1400" b="1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model </a:t>
                      </a:r>
                      <a:r>
                        <a:rPr sz="14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dự</a:t>
                      </a:r>
                      <a:r>
                        <a:rPr sz="1400" b="1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4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đoán</a:t>
                      </a:r>
                      <a:r>
                        <a:rPr sz="1400" b="1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4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giá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không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?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Định</a:t>
                      </a:r>
                      <a:r>
                        <a:rPr lang="en-US" sz="1400" b="0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400" b="0" i="0" baseline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phí</a:t>
                      </a:r>
                      <a:endParaRPr sz="1400" b="0" i="0" dirty="0">
                        <a:solidFill>
                          <a:srgbClr val="262626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mart_ml_training</a:t>
                      </a:r>
                      <a:endParaRPr sz="1400" b="0" i="0" dirty="0">
                        <a:solidFill>
                          <a:srgbClr val="262626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20040" y="5358384"/>
            <a:ext cx="11440235" cy="6858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Bộ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phận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định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phí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cần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dữ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liệu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sạch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để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đưa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vào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model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dự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đoán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giá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trị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xe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.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Độ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trễ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cho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phép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1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tháng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và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+/- so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với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thị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trường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7F6000"/>
                </a:solidFill>
                <a:latin typeface="Times New Roman"/>
              </a:rPr>
              <a:t>khoảng</a:t>
            </a:r>
            <a:r>
              <a:rPr lang="en-US" sz="1600" dirty="0">
                <a:solidFill>
                  <a:srgbClr val="7F6000"/>
                </a:solidFill>
                <a:latin typeface="Times New Roman"/>
              </a:rPr>
              <a:t> 10%</a:t>
            </a:r>
            <a:endParaRPr sz="1600" b="0" i="0" dirty="0">
              <a:solidFill>
                <a:srgbClr val="7F6000"/>
              </a:solidFill>
              <a:latin typeface="Times New Roman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8559875" y="1468397"/>
            <a:ext cx="3200400" cy="3291840"/>
            <a:chOff x="8321039" y="1801368"/>
            <a:chExt cx="3200400" cy="3291840"/>
          </a:xfrm>
        </p:grpSpPr>
        <p:cxnSp>
          <p:nvCxnSpPr>
            <p:cNvPr id="15" name="Connector 9"/>
            <p:cNvCxnSpPr/>
            <p:nvPr/>
          </p:nvCxnSpPr>
          <p:spPr>
            <a:xfrm>
              <a:off x="9921239" y="3858768"/>
              <a:ext cx="0" cy="411480"/>
            </a:xfrm>
            <a:prstGeom prst="line">
              <a:avLst/>
            </a:prstGeom>
            <a:ln w="22225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8321039" y="1801368"/>
              <a:ext cx="3200400" cy="3291840"/>
              <a:chOff x="8321039" y="1801368"/>
              <a:chExt cx="3200400" cy="3291840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8321039" y="1801368"/>
                <a:ext cx="3200400" cy="822960"/>
              </a:xfrm>
              <a:prstGeom prst="roundRect">
                <a:avLst>
                  <a:gd name="adj" fmla="val 12000"/>
                </a:avLst>
              </a:prstGeom>
              <a:solidFill>
                <a:srgbClr val="D9D9D9"/>
              </a:solidFill>
              <a:ln w="15875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7432" rIns="54864" bIns="27432" rtlCol="0" anchor="ctr"/>
              <a:lstStyle/>
              <a:p>
                <a:pPr algn="ctr"/>
                <a:r>
                  <a:rPr sz="1500" b="1" i="0">
                    <a:solidFill>
                      <a:srgbClr val="262626"/>
                    </a:solidFill>
                    <a:latin typeface="Times New Roman"/>
                  </a:rPr>
                  <a:t>CSDL nghiệp vụ</a:t>
                </a:r>
              </a:p>
              <a:p>
                <a:pPr algn="ctr"/>
                <a:r>
                  <a:rPr sz="1300" b="0" i="0">
                    <a:solidFill>
                      <a:srgbClr val="262626"/>
                    </a:solidFill>
                    <a:latin typeface="Times New Roman"/>
                  </a:rPr>
                  <a:t>52 cột thô, có dữ liệu cá nhân</a:t>
                </a:r>
              </a:p>
            </p:txBody>
          </p:sp>
          <p:cxnSp>
            <p:nvCxnSpPr>
              <p:cNvPr id="18" name="Connector 7"/>
              <p:cNvCxnSpPr/>
              <p:nvPr/>
            </p:nvCxnSpPr>
            <p:spPr>
              <a:xfrm>
                <a:off x="9921239" y="2624328"/>
                <a:ext cx="0" cy="411480"/>
              </a:xfrm>
              <a:prstGeom prst="line">
                <a:avLst/>
              </a:prstGeom>
              <a:ln w="22225">
                <a:solidFill>
                  <a:srgbClr val="595959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ounded Rectangle 18"/>
              <p:cNvSpPr/>
              <p:nvPr/>
            </p:nvSpPr>
            <p:spPr>
              <a:xfrm>
                <a:off x="8321039" y="3035808"/>
                <a:ext cx="3200400" cy="822960"/>
              </a:xfrm>
              <a:prstGeom prst="roundRect">
                <a:avLst>
                  <a:gd name="adj" fmla="val 12000"/>
                </a:avLst>
              </a:prstGeom>
              <a:solidFill>
                <a:srgbClr val="FBE5D6"/>
              </a:solidFill>
              <a:ln w="15875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7432" rIns="54864" bIns="27432" rtlCol="0" anchor="ctr"/>
              <a:lstStyle/>
              <a:p>
                <a:pPr algn="ctr"/>
                <a:r>
                  <a:rPr sz="1500" b="1" i="0">
                    <a:solidFill>
                      <a:srgbClr val="262626"/>
                    </a:solidFill>
                    <a:latin typeface="Times New Roman"/>
                  </a:rPr>
                  <a:t>File bàn giao</a:t>
                </a:r>
              </a:p>
              <a:p>
                <a:pPr algn="ctr"/>
                <a:r>
                  <a:rPr sz="1300" b="0" i="0">
                    <a:solidFill>
                      <a:srgbClr val="262626"/>
                    </a:solidFill>
                    <a:latin typeface="Times New Roman"/>
                  </a:rPr>
                  <a:t>16 cột · CSV tháng + manifest</a:t>
                </a:r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8321039" y="4270248"/>
                <a:ext cx="3200400" cy="822960"/>
              </a:xfrm>
              <a:prstGeom prst="roundRect">
                <a:avLst>
                  <a:gd name="adj" fmla="val 12000"/>
                </a:avLst>
              </a:prstGeom>
              <a:solidFill>
                <a:srgbClr val="DDEBF7"/>
              </a:solidFill>
              <a:ln w="15875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7432" rIns="54864" bIns="27432" rtlCol="0" anchor="ctr"/>
              <a:lstStyle/>
              <a:p>
                <a:pPr algn="ctr"/>
                <a:r>
                  <a:rPr sz="1500" b="1" i="0" dirty="0">
                    <a:solidFill>
                      <a:srgbClr val="262626"/>
                    </a:solidFill>
                    <a:latin typeface="Times New Roman"/>
                  </a:rPr>
                  <a:t>Pipeline </a:t>
                </a:r>
                <a:endParaRPr lang="en-US" sz="1500" b="1" i="0" dirty="0">
                  <a:solidFill>
                    <a:srgbClr val="262626"/>
                  </a:solidFill>
                  <a:latin typeface="Times New Roman"/>
                </a:endParaRPr>
              </a:p>
              <a:p>
                <a:pPr algn="ctr"/>
                <a:r>
                  <a:rPr sz="1300" b="0" i="0" dirty="0">
                    <a:solidFill>
                      <a:srgbClr val="262626"/>
                    </a:solidFill>
                    <a:latin typeface="Times New Roman"/>
                  </a:rPr>
                  <a:t>Landing → Bronze → Silver → Gold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1: Bối cảnh &amp; Bài toán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0070C0"/>
                </a:solidFill>
                <a:latin typeface="Times New Roman"/>
              </a:rPr>
              <a:t>❖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Phạm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vi &amp;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giả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địn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h</a:t>
            </a:r>
            <a:endParaRPr sz="2000" b="1" i="0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0040" y="1298448"/>
            <a:ext cx="2560320" cy="84124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 i="0">
                <a:solidFill>
                  <a:srgbClr val="262626"/>
                </a:solidFill>
                <a:latin typeface="Times New Roman"/>
              </a:rPr>
              <a:t>Trong phạm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445151"/>
            <a:ext cx="8808720" cy="5478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Từ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landing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trở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đi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b="0" i="0" dirty="0">
                <a:solidFill>
                  <a:srgbClr val="262626"/>
                </a:solidFill>
                <a:latin typeface="Times New Roman"/>
              </a:rPr>
              <a:t>(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data contract</a:t>
            </a:r>
            <a:r>
              <a:rPr lang="en-US" sz="1600" b="0" i="0" dirty="0">
                <a:solidFill>
                  <a:srgbClr val="262626"/>
                </a:solidFill>
                <a:latin typeface="Times New Roman"/>
              </a:rPr>
              <a:t>)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cổng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kiểm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tra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nạp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incremental + idempotent,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làm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sạch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+ quarantine, star schema, mart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phân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tích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bảng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đặc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trưng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ML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kèm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contract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đầu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ra.</a:t>
            </a:r>
            <a:endParaRPr sz="1600" b="0" i="0" dirty="0">
              <a:solidFill>
                <a:srgbClr val="262626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0040" y="2286000"/>
            <a:ext cx="2560320" cy="84124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 i="0">
                <a:solidFill>
                  <a:srgbClr val="262626"/>
                </a:solidFill>
                <a:latin typeface="Times New Roman"/>
              </a:rPr>
              <a:t>Ngoài phạm 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2555813"/>
            <a:ext cx="880872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Cách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trích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dữ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liệu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từ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CSDL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nghiệp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vụ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b="0" i="0" dirty="0">
                <a:solidFill>
                  <a:srgbClr val="262626"/>
                </a:solidFill>
                <a:latin typeface="Times New Roman"/>
              </a:rPr>
              <a:t>,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huấn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luyện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model</a:t>
            </a:r>
            <a:r>
              <a:rPr lang="en-US" sz="16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dashboard </a:t>
            </a:r>
            <a:r>
              <a:rPr lang="en-US" sz="1600" b="0" i="0" dirty="0">
                <a:solidFill>
                  <a:srgbClr val="262626"/>
                </a:solidFill>
                <a:latin typeface="Times New Roman"/>
              </a:rPr>
              <a:t>,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tích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hợp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vào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hệ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thống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cấp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đơn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3273552"/>
            <a:ext cx="2560320" cy="841248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 i="0">
                <a:solidFill>
                  <a:srgbClr val="262626"/>
                </a:solidFill>
                <a:latin typeface="Times New Roman"/>
              </a:rPr>
              <a:t>Giả định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3543365"/>
            <a:ext cx="880872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 dirty="0">
                <a:solidFill>
                  <a:srgbClr val="262626"/>
                </a:solidFill>
                <a:latin typeface="Times New Roman"/>
              </a:rPr>
              <a:t>Ban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Nghiệp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vụ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Xe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bàn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giao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1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/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tháng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kèm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manifest,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trước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ngày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05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tháng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kế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tiếp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261104"/>
            <a:ext cx="256032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 i="0">
                <a:solidFill>
                  <a:srgbClr val="262626"/>
                </a:solidFill>
                <a:latin typeface="Times New Roman"/>
              </a:rPr>
              <a:t>Không thay thế con người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4261104"/>
            <a:ext cx="880872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Số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liệu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đầu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vào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tham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khảo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;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quyết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định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định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giá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vẫn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thuộc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thẩm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định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viên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5486400"/>
            <a:ext cx="11551920" cy="9144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Mục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tiêu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xây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dựng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data pipeline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kết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hợp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mô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hình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dự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đoán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nhầm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đáp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ứng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nhu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cầu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kinh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b="0" i="0" dirty="0" err="1">
                <a:solidFill>
                  <a:srgbClr val="7F6000"/>
                </a:solidFill>
                <a:latin typeface="Times New Roman"/>
              </a:rPr>
              <a:t>doanh</a:t>
            </a:r>
            <a:r>
              <a:rPr lang="en-US" sz="2000" b="0" i="0" dirty="0">
                <a:solidFill>
                  <a:srgbClr val="7F6000"/>
                </a:solidFill>
                <a:latin typeface="Times New Roman"/>
              </a:rPr>
              <a:t> (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Bảo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hiểm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số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-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Insurtech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)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mà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không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còn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sự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tham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gia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của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thẩm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định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viên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vào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khâu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cấp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</a:t>
            </a:r>
            <a:r>
              <a:rPr lang="en-US" sz="2000" dirty="0" err="1">
                <a:solidFill>
                  <a:srgbClr val="7F6000"/>
                </a:solidFill>
                <a:latin typeface="Times New Roman"/>
              </a:rPr>
              <a:t>đơn</a:t>
            </a:r>
            <a:r>
              <a:rPr lang="en-US" sz="2000" dirty="0">
                <a:solidFill>
                  <a:srgbClr val="7F6000"/>
                </a:solidFill>
                <a:latin typeface="Times New Roman"/>
              </a:rPr>
              <a:t> Online.</a:t>
            </a:r>
            <a:endParaRPr sz="2000" b="0" i="0" dirty="0">
              <a:solidFill>
                <a:srgbClr val="7F6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33856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6000" b="1" i="0">
                <a:solidFill>
                  <a:srgbClr val="FFFFFF"/>
                </a:solidFill>
                <a:latin typeface="Times New Roman"/>
              </a:rPr>
              <a:t>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481328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Bối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cảnh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&amp;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Bài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toán</a:t>
            </a:r>
            <a:endParaRPr sz="2600" b="0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6072" y="1325880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SECTION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07208"/>
            <a:ext cx="6126480" cy="960120"/>
          </a:xfrm>
          <a:prstGeom prst="roundRect">
            <a:avLst>
              <a:gd name="adj" fmla="val 12000"/>
            </a:avLst>
          </a:prstGeom>
          <a:solidFill>
            <a:srgbClr val="F4B183"/>
          </a:solidFill>
          <a:ln w="31750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Kiến</a:t>
            </a:r>
            <a:r>
              <a:rPr sz="3000" b="1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thức</a:t>
            </a:r>
            <a:r>
              <a:rPr sz="3000" b="1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nền</a:t>
            </a:r>
            <a:endParaRPr sz="3000" b="1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6072" y="2651760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SECTION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33087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Thiết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kế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&amp;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Xây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dựng</a:t>
            </a:r>
            <a:endParaRPr sz="2600" b="0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6072" y="3977639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SECTION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58968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Kết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quả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&amp;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Đánh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giá</a:t>
            </a:r>
            <a:endParaRPr sz="2600" b="0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6072" y="5303520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SECTION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3017520"/>
            <a:ext cx="960120" cy="822960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262626"/>
                </a:solidFill>
                <a:latin typeface="Times New Roman"/>
              </a:rPr>
              <a:t>Landing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0" y="3429000"/>
            <a:ext cx="27432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03920" y="3017520"/>
            <a:ext cx="960120" cy="822960"/>
          </a:xfrm>
          <a:prstGeom prst="roundRect">
            <a:avLst>
              <a:gd name="adj" fmla="val 12000"/>
            </a:avLst>
          </a:prstGeom>
          <a:solidFill>
            <a:srgbClr val="C9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Bronze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64040" y="3429000"/>
            <a:ext cx="27432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38360" y="3017520"/>
            <a:ext cx="960120" cy="822960"/>
          </a:xfrm>
          <a:prstGeom prst="roundRect">
            <a:avLst>
              <a:gd name="adj" fmla="val 12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262626"/>
                </a:solidFill>
                <a:latin typeface="Times New Roman"/>
              </a:rPr>
              <a:t>Silver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98480" y="3429000"/>
            <a:ext cx="27432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972800" y="3017520"/>
            <a:ext cx="960120" cy="822960"/>
          </a:xfrm>
          <a:prstGeom prst="roundRect">
            <a:avLst>
              <a:gd name="adj" fmla="val 12000"/>
            </a:avLst>
          </a:prstGeom>
          <a:solidFill>
            <a:srgbClr val="E6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262626"/>
                </a:solidFill>
                <a:latin typeface="Times New Roman"/>
              </a:rPr>
              <a:t>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931920"/>
            <a:ext cx="4663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Batch · incremental · idempotent · contract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2: Kiến thức nền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0070C0"/>
                </a:solidFill>
                <a:latin typeface="Times New Roman"/>
              </a:rPr>
              <a:t>❖Data Ingestion: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nguồn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theo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tháng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→ batch, incremental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và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idempotent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389888"/>
            <a:ext cx="3698240" cy="548640"/>
          </a:xfrm>
          <a:prstGeom prst="roundRect">
            <a:avLst>
              <a:gd name="adj" fmla="val 12000"/>
            </a:avLst>
          </a:prstGeom>
          <a:solidFill>
            <a:srgbClr val="1F5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Batch vs Streaming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123992"/>
            <a:ext cx="3698240" cy="2512016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Times New Roman"/>
              </a:rPr>
              <a:t>Batch: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gom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dữ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liệu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thành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xử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lý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theo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lịch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. Streaming: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xử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lý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từng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sự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kiện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ngay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khi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đến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.</a:t>
            </a:r>
            <a:endParaRPr lang="en-US" sz="1600" b="0" i="0" dirty="0">
              <a:solidFill>
                <a:srgbClr val="262626"/>
              </a:solidFill>
              <a:latin typeface="Times New Roman"/>
            </a:endParaRPr>
          </a:p>
          <a:p>
            <a:pPr algn="l"/>
            <a:endParaRPr sz="1600" b="0" i="0" dirty="0">
              <a:solidFill>
                <a:srgbClr val="262626"/>
              </a:solidFill>
              <a:latin typeface="Times New Roman"/>
            </a:endParaRPr>
          </a:p>
          <a:p>
            <a:pPr algn="l"/>
            <a:r>
              <a:rPr sz="1600" b="0" i="0" dirty="0">
                <a:solidFill>
                  <a:srgbClr val="262626"/>
                </a:solidFill>
                <a:latin typeface="Times New Roman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Nguồn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đến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1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/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tháng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nên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batch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đủ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;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không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có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lý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do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dùng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streaming.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46880" y="1389888"/>
            <a:ext cx="3698240" cy="548640"/>
          </a:xfrm>
          <a:prstGeom prst="roundRect">
            <a:avLst>
              <a:gd name="adj" fmla="val 12000"/>
            </a:avLst>
          </a:prstGeom>
          <a:solidFill>
            <a:srgbClr val="1F5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Full load vs Incremental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6880" y="2123992"/>
            <a:ext cx="3698240" cy="2512016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Times New Roman"/>
              </a:rPr>
              <a:t>Full load: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nạp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lại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toàn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bộ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mỗi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lần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. Incremental: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chỉ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nạp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mới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chưa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có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trong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sổ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.</a:t>
            </a:r>
            <a:endParaRPr lang="en-US" sz="1600" b="0" i="0" dirty="0">
              <a:solidFill>
                <a:srgbClr val="262626"/>
              </a:solidFill>
              <a:latin typeface="Times New Roman"/>
            </a:endParaRPr>
          </a:p>
          <a:p>
            <a:pPr algn="l"/>
            <a:endParaRPr sz="1600" b="0" i="0" dirty="0">
              <a:solidFill>
                <a:srgbClr val="262626"/>
              </a:solidFill>
              <a:latin typeface="Times New Roman"/>
            </a:endParaRPr>
          </a:p>
          <a:p>
            <a:pPr algn="l"/>
            <a:r>
              <a:rPr sz="1600" b="0" i="0" dirty="0">
                <a:solidFill>
                  <a:srgbClr val="262626"/>
                </a:solidFill>
                <a:latin typeface="Times New Roman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Sổ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loaded_batches.csv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ghi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đã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nạp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;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lần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chạy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sau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bỏ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qua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đó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73720" y="1389888"/>
            <a:ext cx="3698240" cy="548640"/>
          </a:xfrm>
          <a:prstGeom prst="roundRect">
            <a:avLst>
              <a:gd name="adj" fmla="val 12000"/>
            </a:avLst>
          </a:prstGeom>
          <a:solidFill>
            <a:srgbClr val="1F5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Idempotent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73720" y="2123992"/>
            <a:ext cx="3698240" cy="2512016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Chạy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1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lần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hay 10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lần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kết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quả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như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nhau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.</a:t>
            </a:r>
            <a:endParaRPr lang="en-US" sz="1600" b="0" i="0" dirty="0">
              <a:solidFill>
                <a:srgbClr val="262626"/>
              </a:solidFill>
              <a:latin typeface="Times New Roman"/>
            </a:endParaRPr>
          </a:p>
          <a:p>
            <a:pPr algn="l"/>
            <a:endParaRPr lang="en-US" sz="1600" dirty="0">
              <a:solidFill>
                <a:srgbClr val="262626"/>
              </a:solidFill>
              <a:latin typeface="Times New Roman"/>
            </a:endParaRPr>
          </a:p>
          <a:p>
            <a:pPr algn="l"/>
            <a:endParaRPr sz="1600" b="0" i="0" dirty="0">
              <a:solidFill>
                <a:srgbClr val="262626"/>
              </a:solidFill>
              <a:latin typeface="Times New Roman"/>
            </a:endParaRPr>
          </a:p>
          <a:p>
            <a:pPr algn="l"/>
            <a:r>
              <a:rPr sz="1600" b="0" i="0" dirty="0">
                <a:solidFill>
                  <a:srgbClr val="262626"/>
                </a:solidFill>
                <a:latin typeface="Times New Roman"/>
              </a:rPr>
              <a:t>→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Điều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kiện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để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dám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chạy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lại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khi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có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sự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cố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mà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không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sinh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bản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trùng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hay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mất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dữ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liệu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892040"/>
            <a:ext cx="11551920" cy="12344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sz="1400" b="0" i="0" dirty="0">
                <a:solidFill>
                  <a:srgbClr val="262626"/>
                </a:solidFill>
                <a:latin typeface="Times New Roman"/>
              </a:rPr>
              <a:t>Ingestion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đưa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dữ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liệu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từ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nguồn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hệ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lưu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trữ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phân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tích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một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cách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có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kiểm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soát</a:t>
            </a:r>
            <a:r>
              <a:rPr lang="en-US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biết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nào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đã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lúc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nào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chạy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lại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không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làm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sai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kết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quả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. </a:t>
            </a:r>
            <a:endParaRPr lang="en-US" sz="1400" b="0" i="0" dirty="0">
              <a:solidFill>
                <a:srgbClr val="262626"/>
              </a:solidFill>
              <a:latin typeface="Times New Roman"/>
            </a:endParaRPr>
          </a:p>
          <a:p>
            <a:pPr algn="l"/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Với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đề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tài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này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, idempotent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đạt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được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bằng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hai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cơ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chế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: Bronze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tra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sổ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trước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khi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nạp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, Silver/Gold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ghi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đè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(full refresh)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từ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Bronze.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2: Kiến thức nền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932688"/>
            <a:ext cx="1182624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0070C0"/>
                </a:solidFill>
                <a:latin typeface="Times New Roman"/>
              </a:rPr>
              <a:t>❖Data contrac</a:t>
            </a:r>
            <a:r>
              <a:rPr lang="en-US" sz="2000" b="1" i="0" dirty="0">
                <a:solidFill>
                  <a:srgbClr val="0070C0"/>
                </a:solidFill>
                <a:latin typeface="Times New Roman"/>
              </a:rPr>
              <a:t>t</a:t>
            </a:r>
            <a:endParaRPr sz="2000" b="1" i="0" dirty="0">
              <a:solidFill>
                <a:srgbClr val="0070C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5279" y="1591056"/>
            <a:ext cx="11060601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lang="en-US" sz="1600" b="0" i="0" dirty="0">
                <a:solidFill>
                  <a:srgbClr val="262626"/>
                </a:solidFill>
                <a:latin typeface="Times New Roman"/>
              </a:rPr>
              <a:t>Data 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Contract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đặc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tả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hình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thức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giữa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bên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cung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cấp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(producer)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và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bên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sử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dirty="0" err="1">
                <a:solidFill>
                  <a:srgbClr val="262626"/>
                </a:solidFill>
                <a:latin typeface="Times New Roman"/>
              </a:rPr>
              <a:t>dụng</a:t>
            </a:r>
            <a:r>
              <a:rPr lang="en-US" sz="1600" dirty="0">
                <a:solidFill>
                  <a:srgbClr val="262626"/>
                </a:solidFill>
                <a:latin typeface="Times New Roman"/>
              </a:rPr>
              <a:t> (consumer),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thoả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thuận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kiểm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được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bằng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máy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định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dạng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cột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kiểu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khoá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nhịp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,</a:t>
            </a:r>
            <a:r>
              <a:rPr lang="en-US"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Times New Roman"/>
              </a:rPr>
              <a:t>cập</a:t>
            </a:r>
            <a:r>
              <a:rPr lang="en-US"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Times New Roman"/>
              </a:rPr>
              <a:t>nhật</a:t>
            </a:r>
            <a:r>
              <a:rPr lang="en-US"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Times New Roman"/>
              </a:rPr>
              <a:t>dữ</a:t>
            </a:r>
            <a:r>
              <a:rPr lang="en-US"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600" b="0" i="0" dirty="0" err="1">
                <a:solidFill>
                  <a:srgbClr val="262626"/>
                </a:solidFill>
                <a:latin typeface="Times New Roman"/>
              </a:rPr>
              <a:t>liệu</a:t>
            </a:r>
            <a:endParaRPr sz="1600" b="0" i="0" dirty="0">
              <a:solidFill>
                <a:srgbClr val="262626"/>
              </a:solidFill>
              <a:latin typeface="Times New Roman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267267"/>
              </p:ext>
            </p:extLst>
          </p:nvPr>
        </p:nvGraphicFramePr>
        <p:xfrm>
          <a:off x="2399276" y="2434090"/>
          <a:ext cx="5577840" cy="352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8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Câu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hỏi</a:t>
                      </a:r>
                      <a:endParaRPr sz="1300" b="1" i="0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Trả lời trong DATA_CONTRACT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Định dạng?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CSV UTF-8 có BOM, partition as_of_month=YYYY-MM + _manifest.json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Schema?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16 cột, đúng thứ tự; Bronze thêm 3 cột kỹ thuật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Khoá?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ma_dinh_gia — duy nhất, không rỗng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Nhịp / SLA?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1 lô/tháng, trước ngày 05 tháng kế tiếp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Luật nghiệm thu?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5 luật REJECT cả lô · 8 luật QUARANTINE từng dòng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n-US" sz="13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Cập</a:t>
                      </a:r>
                      <a:r>
                        <a:rPr lang="en-US" sz="1300" b="1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3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nhật</a:t>
                      </a:r>
                      <a:r>
                        <a:rPr lang="en-US" sz="1300" b="1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300" b="1" i="0" baseline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dữ</a:t>
                      </a:r>
                      <a:r>
                        <a:rPr lang="en-US" sz="1300" b="1" i="0" baseline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300" b="1" i="0" baseline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liệu</a:t>
                      </a:r>
                      <a:r>
                        <a:rPr sz="1300" b="1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?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Bên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cung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cấp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gửi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lại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lô</a:t>
                      </a:r>
                      <a:r>
                        <a:rPr sz="1300" b="1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mới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; pipeline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không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sửa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file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2: Kiến thức nền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" y="969265"/>
            <a:ext cx="1182624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0070C0"/>
                </a:solidFill>
                <a:latin typeface="Times New Roman"/>
              </a:rPr>
              <a:t>❖Medallion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591056"/>
          <a:ext cx="6766558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4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1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4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6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Tầng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Một câu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Kiểu ghi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Nguyên tắc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Landing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“Nguồn gửi gì, giữ nguyên vậy”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Bất biến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Bronze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“Đã nhận, chưa đụng vào”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append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Mọi cột </a:t>
                      </a:r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string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 + cột kỹ thuật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Silver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“Đúng và nhất quán”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overwrite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Ép kiểu, một đơn vị, </a:t>
                      </a:r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star schema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, quarantine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Gold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“Sẵn sàng để dùng”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overwrite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Chỉ JOIN + GROUP BY, không làm sạch thêm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105656"/>
            <a:ext cx="676656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Vì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sao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Bronze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đọc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mọi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cột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dạng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string?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Ép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kiểu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sớm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thì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“1.669.000.000”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thành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null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giá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trị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gốc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mất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luôn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. Parse ở Silver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thì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dòng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lỗi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quarantine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kèm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nguyên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giá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trị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thô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81328"/>
            <a:ext cx="2377440" cy="713232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 dirty="0">
                <a:solidFill>
                  <a:srgbClr val="262626"/>
                </a:solidFill>
                <a:latin typeface="Times New Roman"/>
              </a:rPr>
              <a:t>Landing</a:t>
            </a:r>
          </a:p>
          <a:p>
            <a:pPr algn="ctr"/>
            <a:r>
              <a:rPr sz="1300" b="0" i="0" dirty="0">
                <a:solidFill>
                  <a:srgbClr val="262626"/>
                </a:solidFill>
                <a:latin typeface="Times New Roman"/>
              </a:rPr>
              <a:t>CSV + manifest </a:t>
            </a:r>
            <a:r>
              <a:rPr lang="en-US" sz="1300" b="0" i="0" dirty="0">
                <a:solidFill>
                  <a:srgbClr val="262626"/>
                </a:solidFill>
                <a:latin typeface="Times New Roman"/>
              </a:rPr>
              <a:t>,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bất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biến</a:t>
            </a:r>
            <a:endParaRPr sz="1300" b="0" i="0" dirty="0">
              <a:solidFill>
                <a:srgbClr val="262626"/>
              </a:solidFill>
              <a:latin typeface="Times New Roman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8595360" y="2194560"/>
            <a:ext cx="0" cy="402336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6640" y="2596896"/>
            <a:ext cx="2377440" cy="713232"/>
          </a:xfrm>
          <a:prstGeom prst="roundRect">
            <a:avLst>
              <a:gd name="adj" fmla="val 12000"/>
            </a:avLst>
          </a:prstGeom>
          <a:solidFill>
            <a:srgbClr val="C98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Times New Roman"/>
              </a:rPr>
              <a:t>Bronze</a:t>
            </a:r>
          </a:p>
          <a:p>
            <a:pPr algn="ctr"/>
            <a:r>
              <a:rPr sz="1300" b="0" i="0" dirty="0">
                <a:solidFill>
                  <a:srgbClr val="FFFFFF"/>
                </a:solidFill>
                <a:latin typeface="Times New Roman"/>
              </a:rPr>
              <a:t>append </a:t>
            </a:r>
            <a:r>
              <a:rPr sz="1300" b="0" i="0" dirty="0" err="1">
                <a:solidFill>
                  <a:srgbClr val="FFFFFF"/>
                </a:solidFill>
                <a:latin typeface="Times New Roman"/>
              </a:rPr>
              <a:t>mọi</a:t>
            </a:r>
            <a:r>
              <a:rPr sz="1300" b="0" i="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Times New Roman"/>
              </a:rPr>
              <a:t>cột</a:t>
            </a:r>
            <a:r>
              <a:rPr sz="1300" b="0" i="0" dirty="0">
                <a:solidFill>
                  <a:srgbClr val="FFFFFF"/>
                </a:solidFill>
                <a:latin typeface="Times New Roman"/>
              </a:rPr>
              <a:t> string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95360" y="3310128"/>
            <a:ext cx="0" cy="402336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3712464"/>
            <a:ext cx="2377440" cy="713232"/>
          </a:xfrm>
          <a:prstGeom prst="roundRect">
            <a:avLst>
              <a:gd name="adj" fmla="val 12000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 dirty="0">
                <a:solidFill>
                  <a:srgbClr val="262626"/>
                </a:solidFill>
                <a:latin typeface="Times New Roman"/>
              </a:rPr>
              <a:t>Silver</a:t>
            </a:r>
          </a:p>
          <a:p>
            <a:pPr algn="ctr"/>
            <a:r>
              <a:rPr sz="1300" b="0" i="0" dirty="0">
                <a:solidFill>
                  <a:srgbClr val="262626"/>
                </a:solidFill>
                <a:latin typeface="Times New Roman"/>
              </a:rPr>
              <a:t>star schema </a:t>
            </a:r>
            <a:r>
              <a:rPr lang="en-US" sz="1300" b="0" i="0" dirty="0">
                <a:solidFill>
                  <a:srgbClr val="262626"/>
                </a:solidFill>
                <a:latin typeface="Times New Roman"/>
              </a:rPr>
              <a:t>,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overwrite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95360" y="4425696"/>
            <a:ext cx="0" cy="402336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4828032"/>
            <a:ext cx="2377440" cy="713232"/>
          </a:xfrm>
          <a:prstGeom prst="roundRect">
            <a:avLst>
              <a:gd name="adj" fmla="val 12000"/>
            </a:avLst>
          </a:prstGeom>
          <a:solidFill>
            <a:srgbClr val="E6B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262626"/>
                </a:solidFill>
                <a:latin typeface="Times New Roman"/>
              </a:rPr>
              <a:t>Gold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3 mart BI + 1 bảng ML</a:t>
            </a:r>
          </a:p>
        </p:txBody>
      </p:sp>
      <p:sp>
        <p:nvSpPr>
          <p:cNvPr id="14" name="Hexagon 13"/>
          <p:cNvSpPr/>
          <p:nvPr/>
        </p:nvSpPr>
        <p:spPr>
          <a:xfrm>
            <a:off x="10058400" y="2079100"/>
            <a:ext cx="1783080" cy="566928"/>
          </a:xfrm>
          <a:prstGeom prst="hexagon">
            <a:avLst/>
          </a:prstGeom>
          <a:solidFill>
            <a:srgbClr val="F8CBAD"/>
          </a:solidFill>
          <a:ln w="15875">
            <a:solidFill>
              <a:srgbClr val="EC6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 dirty="0" err="1">
                <a:solidFill>
                  <a:srgbClr val="262626"/>
                </a:solidFill>
                <a:latin typeface="Times New Roman"/>
              </a:rPr>
              <a:t>Cổng</a:t>
            </a:r>
            <a:r>
              <a:rPr sz="12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200" b="1" i="0" dirty="0" err="1">
                <a:solidFill>
                  <a:srgbClr val="262626"/>
                </a:solidFill>
                <a:latin typeface="Times New Roman"/>
              </a:rPr>
              <a:t>kiểm</a:t>
            </a:r>
            <a:r>
              <a:rPr sz="12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200" b="1" i="0" dirty="0" err="1">
                <a:solidFill>
                  <a:srgbClr val="262626"/>
                </a:solidFill>
                <a:latin typeface="Times New Roman"/>
              </a:rPr>
              <a:t>tra</a:t>
            </a:r>
            <a:endParaRPr sz="1200" b="1" i="0" dirty="0">
              <a:solidFill>
                <a:srgbClr val="262626"/>
              </a:solidFill>
              <a:latin typeface="Times New Roman"/>
            </a:endParaRPr>
          </a:p>
          <a:p>
            <a:pPr algn="ctr"/>
            <a:r>
              <a:rPr sz="1000" b="0" i="0" dirty="0">
                <a:solidFill>
                  <a:srgbClr val="262626"/>
                </a:solidFill>
                <a:latin typeface="Times New Roman"/>
              </a:rPr>
              <a:t>5 </a:t>
            </a:r>
            <a:r>
              <a:rPr sz="1000" b="0" i="0" dirty="0" err="1">
                <a:solidFill>
                  <a:srgbClr val="262626"/>
                </a:solidFill>
                <a:latin typeface="Times New Roman"/>
              </a:rPr>
              <a:t>luật</a:t>
            </a:r>
            <a:r>
              <a:rPr sz="1000" b="0" i="0" dirty="0">
                <a:solidFill>
                  <a:srgbClr val="262626"/>
                </a:solidFill>
                <a:latin typeface="Times New Roman"/>
              </a:rPr>
              <a:t> · REJECT </a:t>
            </a:r>
            <a:r>
              <a:rPr sz="1000" b="0" i="0" dirty="0" err="1">
                <a:solidFill>
                  <a:srgbClr val="262626"/>
                </a:solidFill>
                <a:latin typeface="Times New Roman"/>
              </a:rPr>
              <a:t>lô</a:t>
            </a:r>
            <a:endParaRPr sz="1000" b="0" i="0" dirty="0">
              <a:solidFill>
                <a:srgbClr val="262626"/>
              </a:solidFill>
              <a:latin typeface="Times New Roman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058400" y="3630168"/>
            <a:ext cx="1783080" cy="566928"/>
          </a:xfrm>
          <a:prstGeom prst="roundRect">
            <a:avLst>
              <a:gd name="adj" fmla="val 12000"/>
            </a:avLst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262626"/>
                </a:solidFill>
                <a:latin typeface="Times New Roman"/>
              </a:rPr>
              <a:t>quarantine</a:t>
            </a:r>
          </a:p>
          <a:p>
            <a:pPr algn="ctr"/>
            <a:r>
              <a:rPr sz="1000" b="0" i="0">
                <a:solidFill>
                  <a:srgbClr val="262626"/>
                </a:solidFill>
                <a:latin typeface="Times New Roman"/>
              </a:rPr>
              <a:t>8 luật · từng dòng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84080" y="3913632"/>
            <a:ext cx="274320" cy="0"/>
          </a:xfrm>
          <a:prstGeom prst="line">
            <a:avLst/>
          </a:prstGeom>
          <a:ln w="22225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5"/>
          <p:cNvCxnSpPr>
            <a:endCxn id="14" idx="3"/>
          </p:cNvCxnSpPr>
          <p:nvPr/>
        </p:nvCxnSpPr>
        <p:spPr>
          <a:xfrm flipV="1">
            <a:off x="8595360" y="2362564"/>
            <a:ext cx="1463040" cy="14876"/>
          </a:xfrm>
          <a:prstGeom prst="line">
            <a:avLst/>
          </a:prstGeom>
          <a:ln w="22225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2: Kiến thức nền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" y="1060704"/>
            <a:ext cx="1182624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0070C0"/>
                </a:solidFill>
                <a:latin typeface="Times New Roman"/>
              </a:rPr>
              <a:t>❖Star schema: fact ở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một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grain, dimension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để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lọc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và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nhóm</a:t>
            </a:r>
            <a:endParaRPr sz="2000" b="1" i="0" dirty="0">
              <a:solidFill>
                <a:srgbClr val="0070C0"/>
              </a:solidFill>
              <a:latin typeface="Times New Roman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591056"/>
          <a:ext cx="6949440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Khái niệm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Ví dụ trong đề tài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Times New Roman"/>
                        </a:rPr>
                        <a:t>Grain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1 dòng fact_valuation = 1 hợp đồng định giá (ma_dinh_gia)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Times New Roman"/>
                        </a:rPr>
                        <a:t>Measure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gia_tri_trieu_vnd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Times New Roman"/>
                        </a:rPr>
                        <a:t>Surrogate key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model_key = xxhash64(ma_dong_xe)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Times New Roman"/>
                        </a:rPr>
                        <a:t>Degenerate dimension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ma_dinh_gia nằm thẳng trong fact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2626"/>
                          </a:solidFill>
                          <a:latin typeface="Times New Roman"/>
                        </a:rPr>
                        <a:t>Role-playing dimension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2626"/>
                          </a:solidFill>
                          <a:latin typeface="Times New Roman"/>
                        </a:rPr>
                        <a:t>dim_date dùng cho cả ngày duyệt lẫn ngày hiệu lực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791456"/>
            <a:ext cx="6949440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Quy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tắc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: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chốt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grain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trước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khi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chọn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cột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.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Mọi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câu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hỏi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Q1–Q4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đều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suy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ra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được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từ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grain “1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hợp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đồng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591056"/>
            <a:ext cx="4297680" cy="35661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sz="1400" b="1" i="0" dirty="0" err="1">
                <a:solidFill>
                  <a:srgbClr val="548235"/>
                </a:solidFill>
                <a:latin typeface="Times New Roman"/>
              </a:rPr>
              <a:t>Định</a:t>
            </a:r>
            <a:r>
              <a:rPr sz="1400" b="1" i="0" dirty="0">
                <a:solidFill>
                  <a:srgbClr val="548235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548235"/>
                </a:solidFill>
                <a:latin typeface="Times New Roman"/>
              </a:rPr>
              <a:t>nghĩa</a:t>
            </a:r>
            <a:r>
              <a:rPr sz="1400" b="1" i="0" dirty="0">
                <a:solidFill>
                  <a:srgbClr val="548235"/>
                </a:solidFill>
                <a:latin typeface="Times New Roman"/>
              </a:rPr>
              <a:t>: </a:t>
            </a:r>
            <a:endParaRPr lang="en-US" sz="1400" b="1" i="0" dirty="0">
              <a:solidFill>
                <a:srgbClr val="548235"/>
              </a:solidFill>
              <a:latin typeface="Times New Roman"/>
            </a:endParaRPr>
          </a:p>
          <a:p>
            <a:pPr algn="l"/>
            <a:endParaRPr lang="en-US" sz="1400" b="1" i="0" dirty="0">
              <a:solidFill>
                <a:srgbClr val="548235"/>
              </a:solidFill>
              <a:latin typeface="Times New Roman"/>
            </a:endParaRPr>
          </a:p>
          <a:p>
            <a:pPr algn="l"/>
            <a:r>
              <a:rPr sz="1400" b="1" i="0" dirty="0">
                <a:solidFill>
                  <a:srgbClr val="262626"/>
                </a:solidFill>
                <a:latin typeface="Times New Roman"/>
              </a:rPr>
              <a:t>Fact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ghi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lại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một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sự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kiện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nghiệp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vụ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được</a:t>
            </a:r>
            <a:r>
              <a:rPr lang="en-US" dirty="0">
                <a:solidFill>
                  <a:srgbClr val="262626"/>
                </a:solidFill>
                <a:latin typeface="Times New Roman"/>
              </a:rPr>
              <a:t>,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ở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đây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một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lần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định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giá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xe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khi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cấp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hợp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đồng</a:t>
            </a:r>
            <a:r>
              <a:rPr lang="en-US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chứa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các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con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số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để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cộng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/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gộp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(measure).</a:t>
            </a:r>
            <a:endParaRPr lang="en-US" sz="1400" b="0" i="0" dirty="0">
              <a:solidFill>
                <a:srgbClr val="262626"/>
              </a:solidFill>
              <a:latin typeface="Times New Roman"/>
            </a:endParaRPr>
          </a:p>
          <a:p>
            <a:pPr algn="l"/>
            <a:endParaRPr sz="1400" b="0" i="0" dirty="0">
              <a:solidFill>
                <a:srgbClr val="262626"/>
              </a:solidFill>
              <a:latin typeface="Times New Roman"/>
            </a:endParaRPr>
          </a:p>
          <a:p>
            <a:pPr algn="l"/>
            <a:r>
              <a:rPr sz="1400" b="1" i="0" dirty="0">
                <a:solidFill>
                  <a:srgbClr val="262626"/>
                </a:solidFill>
                <a:latin typeface="Times New Roman"/>
              </a:rPr>
              <a:t>Dimension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bối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cảnh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của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sự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kiện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: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xe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gì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loại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xe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nào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ngày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nào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dùng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để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lọc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nhóm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khi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phân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tích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nector 16"/>
          <p:cNvCxnSpPr/>
          <p:nvPr/>
        </p:nvCxnSpPr>
        <p:spPr>
          <a:xfrm>
            <a:off x="9601200" y="3566160"/>
            <a:ext cx="1463040" cy="105156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8138160" y="3566160"/>
            <a:ext cx="1463040" cy="105156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601200" y="2240280"/>
            <a:ext cx="0" cy="132588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12192000" cy="1133856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6000" b="1" i="0">
                <a:solidFill>
                  <a:srgbClr val="FFFFFF"/>
                </a:solidFill>
                <a:latin typeface="Times New Roman"/>
              </a:rPr>
              <a:t>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481328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Bối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cảnh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&amp;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Bài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toá</a:t>
            </a:r>
            <a:r>
              <a:rPr lang="en-US" sz="2600" b="0" i="0" dirty="0" err="1">
                <a:solidFill>
                  <a:srgbClr val="C55A11"/>
                </a:solidFill>
                <a:latin typeface="Times New Roman"/>
              </a:rPr>
              <a:t>n</a:t>
            </a:r>
            <a:endParaRPr sz="2600" b="0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6072" y="1325880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SECTION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07208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Kiến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thức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nền</a:t>
            </a:r>
            <a:endParaRPr sz="2600" b="0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6072" y="2651760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SECTION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33087"/>
            <a:ext cx="6126480" cy="960120"/>
          </a:xfrm>
          <a:prstGeom prst="roundRect">
            <a:avLst>
              <a:gd name="adj" fmla="val 12000"/>
            </a:avLst>
          </a:prstGeom>
          <a:solidFill>
            <a:srgbClr val="F4B183"/>
          </a:solidFill>
          <a:ln w="31750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Thiết</a:t>
            </a:r>
            <a:r>
              <a:rPr sz="3000" b="1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kế</a:t>
            </a:r>
            <a:r>
              <a:rPr sz="3000" b="1" i="0" dirty="0">
                <a:solidFill>
                  <a:srgbClr val="C55A11"/>
                </a:solidFill>
                <a:latin typeface="Times New Roman"/>
              </a:rPr>
              <a:t> &amp; </a:t>
            </a:r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Xây</a:t>
            </a:r>
            <a:r>
              <a:rPr sz="3000" b="1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dựng</a:t>
            </a:r>
            <a:endParaRPr sz="3000" b="1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6072" y="3977639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SECTION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58968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Kết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quả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&amp;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Đánh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giá</a:t>
            </a:r>
            <a:endParaRPr sz="2600" b="0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6072" y="5303520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SECTION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320040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F4B18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 i="0">
                <a:solidFill>
                  <a:srgbClr val="262626"/>
                </a:solidFill>
                <a:latin typeface="Times New Roman"/>
              </a:rPr>
              <a:t>fact_valuation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96596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dim_model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34340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dim_vehicle_type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0" y="4343400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dim_date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3: Thiết kế &amp; Xây dựng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70C0"/>
                </a:solidFill>
                <a:latin typeface="Times New Roman"/>
              </a:rPr>
              <a:t>❖Kiến trúc tổng thể: một nguồn, bốn tầng, hai loại đầu 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35608"/>
            <a:ext cx="1965960" cy="1234440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262626"/>
                </a:solidFill>
                <a:latin typeface="Times New Roman"/>
              </a:rPr>
              <a:t>Landing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CSV tháng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+ manifest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+ ref có phiên bản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2048256"/>
            <a:ext cx="384048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70048" y="1435608"/>
            <a:ext cx="1965960" cy="1234440"/>
          </a:xfrm>
          <a:prstGeom prst="roundRect">
            <a:avLst>
              <a:gd name="adj" fmla="val 12000"/>
            </a:avLst>
          </a:prstGeom>
          <a:solidFill>
            <a:srgbClr val="F8CBAD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262626"/>
                </a:solidFill>
                <a:latin typeface="Times New Roman"/>
              </a:rPr>
              <a:t>Cổng kiểm tra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5 luật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REJECT cả lô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36008" y="2048256"/>
            <a:ext cx="384048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0056" y="1435608"/>
            <a:ext cx="1965960" cy="1234440"/>
          </a:xfrm>
          <a:prstGeom prst="roundRect">
            <a:avLst>
              <a:gd name="adj" fmla="val 12000"/>
            </a:avLst>
          </a:prstGeom>
          <a:solidFill>
            <a:srgbClr val="C98B5A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Bronze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Times New Roman"/>
              </a:rPr>
              <a:t>append-only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Times New Roman"/>
              </a:rPr>
              <a:t>mọi cột string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Times New Roman"/>
              </a:rPr>
              <a:t>+ sổ loaded_batches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86016" y="2048256"/>
            <a:ext cx="384048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70064" y="1435608"/>
            <a:ext cx="1965960" cy="1234440"/>
          </a:xfrm>
          <a:prstGeom prst="roundRect">
            <a:avLst>
              <a:gd name="adj" fmla="val 12000"/>
            </a:avLst>
          </a:prstGeom>
          <a:solidFill>
            <a:srgbClr val="A6A6A6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262626"/>
                </a:solidFill>
                <a:latin typeface="Times New Roman"/>
              </a:rPr>
              <a:t>Silver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star schema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fact + 3 dim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36024" y="2048256"/>
            <a:ext cx="384048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720072" y="1435608"/>
            <a:ext cx="1965960" cy="1234440"/>
          </a:xfrm>
          <a:prstGeom prst="roundRect">
            <a:avLst>
              <a:gd name="adj" fmla="val 12000"/>
            </a:avLst>
          </a:prstGeom>
          <a:solidFill>
            <a:srgbClr val="E6B82E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262626"/>
                </a:solidFill>
                <a:latin typeface="Times New Roman"/>
              </a:rPr>
              <a:t>Gold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3 mart BI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1 bảng 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0064" y="2944368"/>
            <a:ext cx="1965960" cy="548640"/>
          </a:xfrm>
          <a:prstGeom prst="roundRect">
            <a:avLst>
              <a:gd name="adj" fmla="val 12000"/>
            </a:avLst>
          </a:prstGeom>
          <a:solidFill>
            <a:srgbClr val="FFE699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quarantine (8 luật)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53044" y="2670048"/>
            <a:ext cx="0" cy="27432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331471"/>
              </p:ext>
            </p:extLst>
          </p:nvPr>
        </p:nvGraphicFramePr>
        <p:xfrm>
          <a:off x="320040" y="3887974"/>
          <a:ext cx="7498077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0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2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Bước</a:t>
                      </a:r>
                      <a:endParaRPr sz="1300" b="1" i="0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File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Chạy độc lập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Cổng kiểm tra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src/validate.py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python -m src.validate (không cần Spark)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Landing → Bronze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src/bronze.py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python -m src.bronze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Bronze → Silver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src/silver.py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python -m src.silver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Silver → Gold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src/gold.py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python -m src.gold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Cả pipeline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src/run_pipeline.py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~1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phút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trên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máy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local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092440" y="4270248"/>
            <a:ext cx="384048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600" b="1" i="0">
                <a:solidFill>
                  <a:srgbClr val="262626"/>
                </a:solidFill>
                <a:latin typeface="Times New Roman"/>
              </a:rPr>
              <a:t>PySpark 3.5</a:t>
            </a:r>
            <a:r>
              <a:rPr sz="1600" b="0" i="0">
                <a:solidFill>
                  <a:srgbClr val="262626"/>
                </a:solidFill>
                <a:latin typeface="Times New Roman"/>
              </a:rPr>
              <a:t> chạy local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• Lưu </a:t>
            </a:r>
            <a:r>
              <a:rPr sz="1600" b="1" i="0">
                <a:solidFill>
                  <a:srgbClr val="262626"/>
                </a:solidFill>
                <a:latin typeface="Times New Roman"/>
              </a:rPr>
              <a:t>Parquet</a:t>
            </a:r>
            <a:r>
              <a:rPr sz="1600" b="0" i="0">
                <a:solidFill>
                  <a:srgbClr val="262626"/>
                </a:solidFill>
                <a:latin typeface="Times New Roman"/>
              </a:rPr>
              <a:t>, partition theo tháng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• Spark SQL ở Gold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600" b="1" i="0">
                <a:solidFill>
                  <a:srgbClr val="262626"/>
                </a:solidFill>
                <a:latin typeface="Times New Roman"/>
              </a:rPr>
              <a:t>pytest — 27 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3: Thiết kế &amp; Xây dựng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70C0"/>
                </a:solidFill>
                <a:latin typeface="Times New Roman"/>
              </a:rPr>
              <a:t>❖Cổng kiểm tra lô: năm luật, sai một luật là từ chối cả lô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013064"/>
              </p:ext>
            </p:extLst>
          </p:nvPr>
        </p:nvGraphicFramePr>
        <p:xfrm>
          <a:off x="320040" y="1591056"/>
          <a:ext cx="8237106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19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7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rule_id</a:t>
                      </a:r>
                      <a:endParaRPr sz="1300" b="1" i="0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Bắt lỗi gì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MANIFEST_INVALID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Thiếu/hỏng manifest, thiếu field, không thấy file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CHECKSUM_MISMATCH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File hỏng, truyền thiếu, </a:t>
                      </a:r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bị sửa tay</a:t>
                      </a:r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 sau bàn giao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SCHEMA_COLUMN_MISSING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Header thiếu cột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COUNT_MISMATCH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Số dòng ≠ manifest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PARTITION_MISMATCH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Thư mục, manifest, cột as_of_month không khớp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39" y="4471416"/>
            <a:ext cx="7991447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Nghiệm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: 7 test</a:t>
            </a:r>
            <a:r>
              <a:rPr lang="en-US" sz="1400" b="0" i="0" dirty="0">
                <a:solidFill>
                  <a:srgbClr val="262626"/>
                </a:solidFill>
                <a:latin typeface="Times New Roman"/>
              </a:rPr>
              <a:t>,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mỗi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test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làm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hỏng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một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bản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sao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thật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theo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một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cách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, validator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phải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bắt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đúng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luật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đó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3: Thiết kế &amp; Xây dựng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70C0"/>
                </a:solidFill>
                <a:latin typeface="Times New Roman"/>
              </a:rPr>
              <a:t>❖Bronze: append-only, idempotent, và ghi dữ liệu trước — ghi sổ sau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98448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Cổng kiểm tra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57400" y="1728216"/>
            <a:ext cx="25603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13432" y="1298448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Đã có trong sổ?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→ bỏ qua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0792" y="1728216"/>
            <a:ext cx="25603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06824" y="1298448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Đọc CSV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(mọi cột string)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44184" y="1728216"/>
            <a:ext cx="25603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00216" y="1298448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Gắn _batch_id,</a:t>
            </a:r>
          </a:p>
          <a:p>
            <a:pPr algn="ctr"/>
            <a:r>
              <a:rPr sz="1300" b="0" i="0">
                <a:solidFill>
                  <a:srgbClr val="262626"/>
                </a:solidFill>
                <a:latin typeface="Times New Roman"/>
              </a:rPr>
              <a:t>_source_file, _ingest_ts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37576" y="1728216"/>
            <a:ext cx="25603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93608" y="1298448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C98B5A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Times New Roman"/>
              </a:rPr>
              <a:t>① Ghi Bronze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30968" y="1728216"/>
            <a:ext cx="256032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287000" y="1298448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C98B5A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Times New Roman"/>
              </a:rPr>
              <a:t>② Ghi sổ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395728"/>
            <a:ext cx="6949440" cy="2554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Vì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sao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ghi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dữ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liệu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trước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,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ghi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sổ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sau</a:t>
            </a:r>
            <a:endParaRPr sz="1300" b="0" i="1" dirty="0">
              <a:solidFill>
                <a:srgbClr val="595959"/>
              </a:solidFill>
              <a:latin typeface="Times New Roman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819580"/>
              </p:ext>
            </p:extLst>
          </p:nvPr>
        </p:nvGraphicFramePr>
        <p:xfrm>
          <a:off x="320040" y="2688336"/>
          <a:ext cx="10727823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4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Sự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cố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giữa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hai</a:t>
                      </a:r>
                      <a:r>
                        <a:rPr sz="13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bước</a:t>
                      </a:r>
                      <a:endParaRPr sz="1300" b="1" i="0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Ghi sổ trước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Ghi dữ liệu trước (đã chọn)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Hậu quả ở Bronze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Sổ nói “đã nạp”, Bronze không có → </a:t>
                      </a:r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mất lô vĩnh viễn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Lần sau nạp lại thành bản trùng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Hậu quả ở Silver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Thiếu cả tháng, không ai biết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Không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ảnh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hưởng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— Silver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chỉ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đọc</a:t>
                      </a:r>
                      <a:r>
                        <a:rPr sz="13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1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lô</a:t>
                      </a:r>
                      <a:r>
                        <a:rPr sz="1300" b="1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active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0040" y="4526280"/>
            <a:ext cx="694944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400" b="1" i="0">
                <a:solidFill>
                  <a:srgbClr val="262626"/>
                </a:solidFill>
                <a:latin typeface="Times New Roman"/>
              </a:rPr>
              <a:t>Lô active</a:t>
            </a:r>
            <a:r>
              <a:rPr sz="1400" b="0" i="0">
                <a:solidFill>
                  <a:srgbClr val="262626"/>
                </a:solidFill>
                <a:latin typeface="Times New Roman"/>
              </a:rPr>
              <a:t>: mỗi tháng lấy bản nạp mới nhất (_ingest_ts lớn nhất; bằng nhau → _batch_id lớn hơn). Gửi lại tháng 6 → Bronze giữ </a:t>
            </a:r>
            <a:r>
              <a:rPr sz="1400" b="1" i="0">
                <a:solidFill>
                  <a:srgbClr val="262626"/>
                </a:solidFill>
                <a:latin typeface="Times New Roman"/>
              </a:rPr>
              <a:t>cả hai</a:t>
            </a:r>
            <a:r>
              <a:rPr sz="1400" b="0" i="0">
                <a:solidFill>
                  <a:srgbClr val="262626"/>
                </a:solidFill>
                <a:latin typeface="Times New Roman"/>
              </a:rPr>
              <a:t> bản để truy vết, Silver chỉ đọc bản mới.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• Nghiệm thu: chạy lại lần hai → “bỏ qua 20 lô đã nạp”, Bronze không đổi một dòng.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3: Thiết kế &amp; Xây dựng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70C0"/>
                </a:solidFill>
                <a:latin typeface="Times New Roman"/>
              </a:rPr>
              <a:t>❖Silver: star schema ở grain “một hợp đồng”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1801368"/>
            <a:ext cx="2377440" cy="329184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fact_valuation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2130552"/>
            <a:ext cx="2377440" cy="2025395"/>
          </a:xfrm>
          <a:prstGeom prst="rect">
            <a:avLst/>
          </a:prstGeom>
          <a:solidFill>
            <a:srgbClr val="FDEBE0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ma_dinh_gia  (degenerate)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model_key  FK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vehicle_type_key  FK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ngay_duyet_key  FK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hieu_luc_tu_key  FK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nam_san_xuat, so_cho_ngoi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loai_dinh_gia, tuoi_xe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gia_tri_trieu_vnd  MEASURE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as_of_month, _batch_id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2011680" cy="329184"/>
          </a:xfrm>
          <a:prstGeom prst="rect">
            <a:avLst/>
          </a:prstGeom>
          <a:solidFill>
            <a:srgbClr val="1F5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dim_model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2011680" cy="736092"/>
          </a:xfrm>
          <a:prstGeom prst="rect">
            <a:avLst/>
          </a:prstGeom>
          <a:solidFill>
            <a:srgbClr val="DDEBF7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model_key  PK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ma_dong_xe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hang_xe, hieu_xe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447288"/>
            <a:ext cx="2011680" cy="329184"/>
          </a:xfrm>
          <a:prstGeom prst="rect">
            <a:avLst/>
          </a:prstGeom>
          <a:solidFill>
            <a:srgbClr val="1F5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Times New Roman"/>
              </a:rPr>
              <a:t>dim_vehicle_type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776472"/>
            <a:ext cx="2011680" cy="950976"/>
          </a:xfrm>
          <a:prstGeom prst="rect">
            <a:avLst/>
          </a:prstGeom>
          <a:solidFill>
            <a:srgbClr val="DDEBF7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vehicle_type_key  PK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nhom_xe, mo_ta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muc_dich_su_dung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trong_pham_vi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121408"/>
            <a:ext cx="2011680" cy="329184"/>
          </a:xfrm>
          <a:prstGeom prst="rect">
            <a:avLst/>
          </a:prstGeom>
          <a:solidFill>
            <a:srgbClr val="1F5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Times New Roman"/>
              </a:rPr>
              <a:t>dim_date</a:t>
            </a:r>
            <a:endParaRPr sz="1300" b="1" i="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40680" y="2450592"/>
            <a:ext cx="2011680" cy="736092"/>
          </a:xfrm>
          <a:prstGeom prst="rect">
            <a:avLst/>
          </a:prstGeom>
          <a:solidFill>
            <a:srgbClr val="DDEBF7"/>
          </a:solidFill>
          <a:ln w="15875">
            <a:solidFill>
              <a:srgbClr val="1F5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date_key  PK (yyyymmdd)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ngay, nam, quy, thang</a:t>
            </a:r>
          </a:p>
          <a:p>
            <a:pPr algn="l"/>
            <a:r>
              <a:rPr sz="1100" b="0" i="0">
                <a:solidFill>
                  <a:srgbClr val="262626"/>
                </a:solidFill>
                <a:latin typeface="Times New Roman"/>
              </a:rPr>
              <a:t>nam_thang, la_cuoi_tuan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1847088"/>
            <a:ext cx="320040" cy="640080"/>
          </a:xfrm>
          <a:prstGeom prst="line">
            <a:avLst/>
          </a:prstGeom>
          <a:ln w="22225">
            <a:solidFill>
              <a:srgbClr val="1F5F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31720" y="2715768"/>
            <a:ext cx="320040" cy="1143000"/>
          </a:xfrm>
          <a:prstGeom prst="line">
            <a:avLst/>
          </a:prstGeom>
          <a:ln w="22225">
            <a:solidFill>
              <a:srgbClr val="1F5F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029200" y="2487168"/>
            <a:ext cx="411480" cy="411480"/>
          </a:xfrm>
          <a:prstGeom prst="line">
            <a:avLst/>
          </a:prstGeom>
          <a:ln w="22225">
            <a:solidFill>
              <a:srgbClr val="1F5F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029200" y="2670048"/>
            <a:ext cx="411480" cy="457200"/>
          </a:xfrm>
          <a:prstGeom prst="line">
            <a:avLst/>
          </a:prstGeom>
          <a:ln w="22225">
            <a:solidFill>
              <a:srgbClr val="1F5F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0" y="1298448"/>
            <a:ext cx="4572000" cy="2554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 dirty="0">
                <a:solidFill>
                  <a:srgbClr val="595959"/>
                </a:solidFill>
                <a:latin typeface="Times New Roman"/>
              </a:rPr>
              <a:t>Grain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và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số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dòng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Silver (20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lô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, ref 2026-07)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0" y="1591056"/>
          <a:ext cx="457199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29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7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Bảng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Grain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Dòng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fact_valuation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1 hợp đồng định giá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53.064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dim_model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1 mã dòng xe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2.167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dim_vehicle_type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1 mã loại xe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dim_date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1 ngày (2024–2027)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1.461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quarantine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1 dòng Bronze bị loại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6.357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315200" y="4224528"/>
            <a:ext cx="457200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dim_model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: 2.167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mã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→ 106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dòng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xe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→ 27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hãng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Đơn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vị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: VND →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triệu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VND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ngay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ở Silver;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từ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đây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trở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chỉ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một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đơn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vị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95328"/>
            <a:ext cx="6035040" cy="116852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ma_dong_xe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cột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quan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trọng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nhất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hãng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và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dòng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xe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đều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giải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mã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từ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nó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qua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ref_model_map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(ref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có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phiên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bản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ở landing,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kiểm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SHA-256).</a:t>
            </a:r>
          </a:p>
          <a:p>
            <a:pPr algn="l">
              <a:spcAft>
                <a:spcPts val="1000"/>
              </a:spcAft>
            </a:pPr>
            <a:r>
              <a:rPr sz="16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loai_dinh_gia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∈ {new, used}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cột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suy</a:t>
            </a:r>
            <a:r>
              <a:rPr sz="16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Times New Roman"/>
              </a:rPr>
              <a:t>luận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(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đời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xe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≥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năm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hiệu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lực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→ new);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luật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đã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được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nghiệp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vụ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xác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nhận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hợp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Times New Roman"/>
              </a:rPr>
              <a:t>lý</a:t>
            </a:r>
            <a:r>
              <a:rPr sz="1600" b="0" i="0" dirty="0">
                <a:solidFill>
                  <a:srgbClr val="262626"/>
                </a:solidFill>
                <a:latin typeface="Times New Roman"/>
              </a:rPr>
              <a:t> (2026-09-29).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3: Thiết kế &amp; Xây dựng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70C0"/>
                </a:solidFill>
                <a:latin typeface="Times New Roman"/>
              </a:rPr>
              <a:t>❖Quarantine: tách dòng lỗi, không xoá, và đối soát đủ từng dòng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39" y="1298448"/>
            <a:ext cx="8325817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Mỗi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dòng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vi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phạm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mang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một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rule_id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—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luật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đầu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tiên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theo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thứ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tự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ưu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tiên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—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giữ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nguyên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mọi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cột</a:t>
            </a:r>
            <a:r>
              <a:rPr sz="14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262626"/>
                </a:solidFill>
                <a:latin typeface="Times New Roman"/>
              </a:rPr>
              <a:t>thô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03044"/>
              </p:ext>
            </p:extLst>
          </p:nvPr>
        </p:nvGraphicFramePr>
        <p:xfrm>
          <a:off x="320040" y="2002536"/>
          <a:ext cx="6766559" cy="2971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5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Luật</a:t>
                      </a:r>
                      <a:endParaRPr sz="1200" b="1" i="0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Vi phạm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Dòng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CORRUPT_RECORD · DUP_KEY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Vỡ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cột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,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khoá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hợp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đồng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rỗng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/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trùng</a:t>
                      </a:r>
                      <a:endParaRPr sz="1200" b="0" i="0" dirty="0">
                        <a:solidFill>
                          <a:srgbClr val="262626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0 · 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MISSING_FIELD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Rỗng ở mã xe / đời / số chỗ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34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DATE_INVALID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Ngày sai dạng, hiệu lực ngược, lệch ngày duyệt &gt; 1 năm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231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OUT_OF_SCOPE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Không phải ô tô chở người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MODEL_CODE_UNKNOWN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Mã xe chưa có trong ref_model_map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3.291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VALUE_INVALID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Đời / số chỗ / loại định giá ngoài miền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288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PRICE_INVALID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Giá sai dạng hoặc ngoài [50 triệu, 50 tỷ] VND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2.513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65449" y="5407581"/>
            <a:ext cx="6766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1" dirty="0" err="1">
                <a:solidFill>
                  <a:srgbClr val="262626"/>
                </a:solidFill>
                <a:latin typeface="Cambria Math"/>
              </a:rPr>
              <a:t>N_bronze_active</a:t>
            </a:r>
            <a:r>
              <a:rPr sz="1800" b="0" i="1" dirty="0">
                <a:solidFill>
                  <a:srgbClr val="262626"/>
                </a:solidFill>
                <a:latin typeface="Cambria Math"/>
              </a:rPr>
              <a:t> = </a:t>
            </a:r>
            <a:r>
              <a:rPr sz="1800" b="0" i="1" dirty="0" err="1">
                <a:solidFill>
                  <a:srgbClr val="262626"/>
                </a:solidFill>
                <a:latin typeface="Cambria Math"/>
              </a:rPr>
              <a:t>N_fact</a:t>
            </a:r>
            <a:r>
              <a:rPr sz="1800" b="0" i="1" dirty="0">
                <a:solidFill>
                  <a:srgbClr val="262626"/>
                </a:solidFill>
                <a:latin typeface="Cambria Math"/>
              </a:rPr>
              <a:t> + </a:t>
            </a:r>
            <a:r>
              <a:rPr sz="1800" b="0" i="1" dirty="0" err="1">
                <a:solidFill>
                  <a:srgbClr val="262626"/>
                </a:solidFill>
                <a:latin typeface="Cambria Math"/>
              </a:rPr>
              <a:t>N_quarantine</a:t>
            </a:r>
            <a:endParaRPr sz="1800" b="0" i="1" dirty="0">
              <a:solidFill>
                <a:srgbClr val="262626"/>
              </a:solidFill>
              <a:latin typeface="Cambria Math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506269" y="2002536"/>
            <a:ext cx="4502851" cy="2630879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sz="1300" b="1" i="0" dirty="0" err="1">
                <a:solidFill>
                  <a:srgbClr val="548235"/>
                </a:solidFill>
                <a:latin typeface="Times New Roman"/>
              </a:rPr>
              <a:t>Nhận</a:t>
            </a:r>
            <a:r>
              <a:rPr sz="1300" b="1" i="0" dirty="0">
                <a:solidFill>
                  <a:srgbClr val="548235"/>
                </a:solidFill>
                <a:latin typeface="Times New Roman"/>
              </a:rPr>
              <a:t> </a:t>
            </a:r>
            <a:r>
              <a:rPr sz="1300" b="1" i="0" dirty="0" err="1">
                <a:solidFill>
                  <a:srgbClr val="548235"/>
                </a:solidFill>
                <a:latin typeface="Times New Roman"/>
              </a:rPr>
              <a:t>định</a:t>
            </a:r>
            <a:r>
              <a:rPr sz="1300" b="1" i="0" dirty="0">
                <a:solidFill>
                  <a:srgbClr val="548235"/>
                </a:solidFill>
                <a:latin typeface="Times New Roman"/>
              </a:rPr>
              <a:t>: 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MODEL_CODE_UNKNOWN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chiếm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phần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lớn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quarantine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tin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tốt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: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dữ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liệu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gốc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không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sai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chỉ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thiếu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một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dòng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tra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cứu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.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Sửa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bằng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cách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bổ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sung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mã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vào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ref_model_map</a:t>
            </a:r>
            <a:r>
              <a:rPr lang="en-US" sz="1300" dirty="0">
                <a:solidFill>
                  <a:srgbClr val="262626"/>
                </a:solidFill>
                <a:latin typeface="Times New Roman"/>
              </a:rPr>
              <a:t>,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không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đụng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code,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không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cần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nguồn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gửi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lại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3: Thiết kế &amp; Xây dựng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0070C0"/>
                </a:solidFill>
                <a:latin typeface="Times New Roman"/>
              </a:rPr>
              <a:t>❖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Bàn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giao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ref 2026-07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kéo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2.744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dòng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về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fact ở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mọi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tháng</a:t>
            </a:r>
            <a:endParaRPr sz="2000" b="1" i="0" dirty="0">
              <a:solidFill>
                <a:srgbClr val="0070C0"/>
              </a:solidFill>
              <a:latin typeface="Times New Roman"/>
            </a:endParaRPr>
          </a:p>
        </p:txBody>
      </p:sp>
      <p:pic>
        <p:nvPicPr>
          <p:cNvPr id="4" name="Picture 3" descr="hinh_07_phien_ban_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98448"/>
            <a:ext cx="7223760" cy="3598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4915102"/>
            <a:ext cx="7223760" cy="2554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Tỷ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lệ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quarantine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theo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tháng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: ref 2026-06 so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với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ref 2026-07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26679" y="1298448"/>
            <a:ext cx="4160520" cy="2554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Cùng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20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lô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,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hai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phiên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bản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ref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26679" y="1591056"/>
          <a:ext cx="416051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86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ref 2026-06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ref 2026-07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Mã / dòng xe / hãng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1.426 / 61 / 13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2.167 / 106 / 27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fact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50.320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53.064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quarantine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9.101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6.357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% quarantine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15,32%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10,70%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MODEL_CODE_UNKNOWN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6.202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3.291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26679" y="4178808"/>
            <a:ext cx="4160520" cy="12480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 dirty="0">
                <a:solidFill>
                  <a:srgbClr val="262626"/>
                </a:solidFill>
                <a:latin typeface="Times New Roman"/>
              </a:rPr>
              <a:t>• Ref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có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phiên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bản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ở landing: version=YYYY-MM + manifest,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kiểm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SHA-256 </a:t>
            </a:r>
            <a:r>
              <a:rPr lang="en-US" sz="1300" b="0" i="0" dirty="0">
                <a:solidFill>
                  <a:srgbClr val="262626"/>
                </a:solidFill>
                <a:latin typeface="Times New Roman"/>
              </a:rPr>
              <a:t>,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1" i="0" dirty="0" err="1">
                <a:solidFill>
                  <a:srgbClr val="262626"/>
                </a:solidFill>
                <a:latin typeface="Times New Roman"/>
              </a:rPr>
              <a:t>bất</a:t>
            </a:r>
            <a:r>
              <a:rPr sz="13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1" i="0" dirty="0" err="1">
                <a:solidFill>
                  <a:srgbClr val="262626"/>
                </a:solidFill>
                <a:latin typeface="Times New Roman"/>
              </a:rPr>
              <a:t>biến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như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tháng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300" b="0" i="0" dirty="0">
                <a:solidFill>
                  <a:srgbClr val="262626"/>
                </a:solidFill>
                <a:latin typeface="Times New Roman"/>
              </a:rPr>
              <a:t>• Silver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dùng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bản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mới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nhất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cho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mọi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tháng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(restate); </a:t>
            </a:r>
            <a:endParaRPr lang="en-US" sz="1300" b="0" i="0" dirty="0">
              <a:solidFill>
                <a:srgbClr val="262626"/>
              </a:solidFill>
              <a:latin typeface="Times New Roman"/>
            </a:endParaRPr>
          </a:p>
          <a:p>
            <a:pPr algn="l">
              <a:spcAft>
                <a:spcPts val="500"/>
              </a:spcAft>
            </a:pPr>
            <a:r>
              <a:rPr sz="1300" b="0" i="0" dirty="0">
                <a:solidFill>
                  <a:srgbClr val="262626"/>
                </a:solidFill>
                <a:latin typeface="Times New Roman"/>
              </a:rPr>
              <a:t>--ref-version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để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tái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tạo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kết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quả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cũ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300" b="0" i="0" dirty="0">
                <a:solidFill>
                  <a:srgbClr val="262626"/>
                </a:solidFill>
                <a:latin typeface="Times New Roman"/>
              </a:rPr>
              <a:t>• run_log.csv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ghi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lại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mỗi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lần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chạy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: ref,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mốc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chia,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số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dòng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3: Thiết kế &amp; Xây dựng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0070C0"/>
                </a:solidFill>
                <a:latin typeface="Times New Roman"/>
              </a:rPr>
              <a:t>❖Gold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cho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phân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tích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: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cùng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một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lang="en-US" sz="2000" b="1" i="0" dirty="0" err="1">
                <a:solidFill>
                  <a:srgbClr val="0070C0"/>
                </a:solidFill>
                <a:latin typeface="Times New Roman"/>
              </a:rPr>
              <a:t>cách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truy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vấn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</a:t>
            </a:r>
            <a:r>
              <a:rPr sz="2000" b="1" i="0" dirty="0" err="1">
                <a:solidFill>
                  <a:srgbClr val="0070C0"/>
                </a:solidFill>
                <a:latin typeface="Times New Roman"/>
              </a:rPr>
              <a:t>trên</a:t>
            </a:r>
            <a:r>
              <a:rPr sz="2000" b="1" i="0" dirty="0">
                <a:solidFill>
                  <a:srgbClr val="0070C0"/>
                </a:solidFill>
                <a:latin typeface="Times New Roman"/>
              </a:rPr>
              <a:t> star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98448"/>
            <a:ext cx="6583680" cy="13258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200" b="0" i="0">
                <a:solidFill>
                  <a:srgbClr val="E6E6E6"/>
                </a:solidFill>
                <a:latin typeface="Consolas"/>
              </a:rPr>
              <a:t>SELECT &lt;thuộc tính dimension&gt;, MEDIAN(f.gia_tri_trieu_vnd)</a:t>
            </a:r>
          </a:p>
          <a:p>
            <a:pPr algn="l"/>
            <a:r>
              <a:rPr sz="1200" b="0" i="0">
                <a:solidFill>
                  <a:srgbClr val="E6E6E6"/>
                </a:solidFill>
                <a:latin typeface="Consolas"/>
              </a:rPr>
              <a:t>FROM fact_valuation f JOIN dim_model m ON f.model_key = m.model_key</a:t>
            </a:r>
          </a:p>
          <a:p>
            <a:pPr algn="l"/>
            <a:r>
              <a:rPr sz="1200" b="0" i="0">
                <a:solidFill>
                  <a:srgbClr val="E6E6E6"/>
                </a:solidFill>
                <a:latin typeface="Consolas"/>
              </a:rPr>
              <a:t>                      JOIN dim_date  d ON f.ngay_duyet_key = d.date_key</a:t>
            </a:r>
          </a:p>
          <a:p>
            <a:pPr algn="l"/>
            <a:r>
              <a:rPr sz="1200" b="0" i="0">
                <a:solidFill>
                  <a:srgbClr val="E6E6E6"/>
                </a:solidFill>
                <a:latin typeface="Consolas"/>
              </a:rPr>
              <a:t>GROUP BY &lt;thuộc tính dimension&gt;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807208"/>
            <a:ext cx="6583680" cy="2554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 dirty="0">
                <a:solidFill>
                  <a:srgbClr val="595959"/>
                </a:solidFill>
                <a:latin typeface="Times New Roman"/>
              </a:rPr>
              <a:t>Ba mart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phân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tích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(20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lô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3099816"/>
          <a:ext cx="6583678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6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8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Mart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Grain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Dòng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mart_vehicle_price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(hãng, dòng xe, đời, số chỗ)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1.417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mart_monthly_trend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(tháng, hãng, mục đích sử dụng, mới/cũ)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1.243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62626"/>
                          </a:solidFill>
                          <a:latin typeface="Times New Roman"/>
                        </a:rPr>
                        <a:t>mart_data_quality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tháng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62626"/>
                          </a:solidFill>
                          <a:latin typeface="Times New Roman"/>
                        </a:rPr>
                        <a:t>20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60" y="1389888"/>
            <a:ext cx="46634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1">
                <a:solidFill>
                  <a:srgbClr val="262626"/>
                </a:solidFill>
                <a:latin typeface="Cambria Math"/>
              </a:rPr>
              <a:t>ρ = P̃_used / P̃_new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389888"/>
            <a:ext cx="7315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2000" b="0" i="0">
                <a:solidFill>
                  <a:srgbClr val="262626"/>
                </a:solidFill>
                <a:latin typeface="Times New Roman"/>
              </a:rPr>
              <a:t>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847088"/>
            <a:ext cx="4663440" cy="6683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 dirty="0">
                <a:solidFill>
                  <a:srgbClr val="595959"/>
                </a:solidFill>
                <a:latin typeface="Times New Roman"/>
              </a:rPr>
              <a:t>•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P̃_used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,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P̃_new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: </a:t>
            </a:r>
            <a:r>
              <a:rPr sz="1300" b="1" i="0" dirty="0" err="1">
                <a:solidFill>
                  <a:srgbClr val="595959"/>
                </a:solidFill>
                <a:latin typeface="Times New Roman"/>
              </a:rPr>
              <a:t>trung</a:t>
            </a:r>
            <a:r>
              <a:rPr sz="1300" b="1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1" i="0" dirty="0" err="1">
                <a:solidFill>
                  <a:srgbClr val="595959"/>
                </a:solidFill>
                <a:latin typeface="Times New Roman"/>
              </a:rPr>
              <a:t>vị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giá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định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giá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(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triệu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VND)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của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các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hợp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đồng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used / new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trong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cùng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nhóm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(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hãng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,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dòng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xe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,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đời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,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số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chỗ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)</a:t>
            </a:r>
          </a:p>
          <a:p>
            <a:pPr algn="l">
              <a:spcAft>
                <a:spcPts val="100"/>
              </a:spcAft>
            </a:pPr>
            <a:r>
              <a:rPr sz="1300" b="0" i="0" dirty="0">
                <a:solidFill>
                  <a:srgbClr val="595959"/>
                </a:solidFill>
                <a:latin typeface="Times New Roman"/>
              </a:rPr>
              <a:t>• ρ: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ty_le_con_lai</a:t>
            </a:r>
            <a:r>
              <a:rPr lang="en-US" sz="1300" dirty="0">
                <a:solidFill>
                  <a:srgbClr val="595959"/>
                </a:solidFill>
                <a:latin typeface="Times New Roman"/>
              </a:rPr>
              <a:t> ~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tỷ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lệ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giá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trị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còn</a:t>
            </a:r>
            <a:r>
              <a:rPr sz="1300" b="0" i="0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595959"/>
                </a:solidFill>
                <a:latin typeface="Times New Roman"/>
              </a:rPr>
              <a:t>lại</a:t>
            </a:r>
            <a:endParaRPr sz="1300" b="0" i="0" dirty="0">
              <a:solidFill>
                <a:srgbClr val="595959"/>
              </a:solidFill>
              <a:latin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3760" y="3310128"/>
            <a:ext cx="4663440" cy="14630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sz="1400" b="1" i="0">
                <a:solidFill>
                  <a:srgbClr val="548235"/>
                </a:solidFill>
                <a:latin typeface="Times New Roman"/>
              </a:rPr>
              <a:t>Vì sao: </a:t>
            </a:r>
            <a:r>
              <a:rPr sz="1400" b="0" i="0">
                <a:solidFill>
                  <a:srgbClr val="262626"/>
                </a:solidFill>
                <a:latin typeface="Times New Roman"/>
              </a:rPr>
              <a:t>Trung vị, không trung bình: chỉ một hợp đồng khai giá bất thường là kéo lệch trung bình của cả nhóm; trung vị thì không.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3: Thiết kế &amp; Xây dựng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70C0"/>
                </a:solidFill>
                <a:latin typeface="Times New Roman"/>
              </a:rPr>
              <a:t>❖Gold cho ML: không gộp, không leakage, chia theo thời gian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58521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mart_ml_training: </a:t>
            </a:r>
            <a:r>
              <a:rPr sz="1400" b="1" i="0">
                <a:solidFill>
                  <a:srgbClr val="262626"/>
                </a:solidFill>
                <a:latin typeface="Times New Roman"/>
              </a:rPr>
              <a:t>1 dòng = 1 hợp đồng</a:t>
            </a:r>
            <a:r>
              <a:rPr sz="1400" b="0" i="0">
                <a:solidFill>
                  <a:srgbClr val="262626"/>
                </a:solidFill>
                <a:latin typeface="Times New Roman"/>
              </a:rPr>
              <a:t> (53.064 dòng), 8 feature + target gia_tri_trieu_vnd + cột split.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847088"/>
            <a:ext cx="58521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1">
                <a:solidFill>
                  <a:srgbClr val="262626"/>
                </a:solidFill>
                <a:latin typeface="Cambria Math"/>
              </a:rPr>
              <a:t>split = train nếu m ≤ m₀ ;  test nếu m &gt; m₀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0680" y="1847088"/>
            <a:ext cx="7315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Times New Roman"/>
              </a:rPr>
              <a:t>(4)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304288"/>
            <a:ext cx="5852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</a:rPr>
              <a:t>• m: tháng duyệt (thang_duyet)  ·  m₀: ML_TRAIN_END_MONTH = 2026-03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637635"/>
              </p:ext>
            </p:extLst>
          </p:nvPr>
        </p:nvGraphicFramePr>
        <p:xfrm>
          <a:off x="320040" y="2916936"/>
          <a:ext cx="5852160" cy="2011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2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Quyết định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Lý do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Không GROUP BY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Gộp về trung vị là xoá mất biến động mà model phải học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Chia theo tháng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Model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luôn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đoán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cho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tháng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tương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lai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Không feature tổng hợp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Trung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vị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theo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dòng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xe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tính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trên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toàn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bộ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dữ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liệu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chứa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giá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của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tập</a:t>
                      </a:r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 test → leakage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5001768"/>
            <a:ext cx="58521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Contract đầu ra </a:t>
            </a:r>
            <a:r>
              <a:rPr sz="1300" b="1" i="0">
                <a:solidFill>
                  <a:srgbClr val="262626"/>
                </a:solidFill>
                <a:latin typeface="Times New Roman"/>
              </a:rPr>
              <a:t>kiểm bằng code</a:t>
            </a:r>
            <a:r>
              <a:rPr sz="1300" b="0" i="0">
                <a:solidFill>
                  <a:srgbClr val="262626"/>
                </a:solidFill>
                <a:latin typeface="Times New Roman"/>
              </a:rPr>
              <a:t> trước khi ghi: sai cột, thứ tự, kiểu, hoặc có null → job dừng.</a:t>
            </a:r>
          </a:p>
        </p:txBody>
      </p:sp>
      <p:pic>
        <p:nvPicPr>
          <p:cNvPr id="11" name="Picture 10" descr="hinh_09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98448"/>
            <a:ext cx="5486400" cy="27213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4038037"/>
            <a:ext cx="5486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Hình 6: Số dòng train/test theo tháng duyệt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4394653"/>
          <a:ext cx="5486399" cy="987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Tháng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Dòng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Tỷ lệ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Dòng xe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train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2025-01 → 2026-03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38.357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72,3%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106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test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2026-04 → 2026-08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14.707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27,7%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105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33856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6000" b="1" i="0">
                <a:solidFill>
                  <a:srgbClr val="FFFFFF"/>
                </a:solidFill>
                <a:latin typeface="Times New Roman"/>
              </a:rPr>
              <a:t>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481328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Bối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cảnh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&amp;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Bài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toán</a:t>
            </a:r>
            <a:endParaRPr sz="2600" b="0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6072" y="1325880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SECTION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07208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Kiến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thức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nền</a:t>
            </a:r>
            <a:endParaRPr sz="2600" b="0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6072" y="2651760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SECTION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33087"/>
            <a:ext cx="55778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Thiết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kế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&amp;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Xây</a:t>
            </a:r>
            <a:r>
              <a:rPr sz="2600" b="0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2600" b="0" i="0" dirty="0" err="1">
                <a:solidFill>
                  <a:srgbClr val="C55A11"/>
                </a:solidFill>
                <a:latin typeface="Times New Roman"/>
              </a:rPr>
              <a:t>dựng</a:t>
            </a:r>
            <a:endParaRPr sz="2600" b="0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6072" y="3977639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Times New Roman"/>
              </a:rPr>
              <a:t>SECTION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58968"/>
            <a:ext cx="6126480" cy="960120"/>
          </a:xfrm>
          <a:prstGeom prst="roundRect">
            <a:avLst>
              <a:gd name="adj" fmla="val 12000"/>
            </a:avLst>
          </a:prstGeom>
          <a:solidFill>
            <a:srgbClr val="F4B183"/>
          </a:solidFill>
          <a:ln w="31750">
            <a:solidFill>
              <a:srgbClr val="C0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Kết</a:t>
            </a:r>
            <a:r>
              <a:rPr sz="3000" b="1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quả</a:t>
            </a:r>
            <a:r>
              <a:rPr sz="3000" b="1" i="0" dirty="0">
                <a:solidFill>
                  <a:srgbClr val="C55A11"/>
                </a:solidFill>
                <a:latin typeface="Times New Roman"/>
              </a:rPr>
              <a:t> &amp; </a:t>
            </a:r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Đánh</a:t>
            </a:r>
            <a:r>
              <a:rPr sz="3000" b="1" i="0" dirty="0">
                <a:solidFill>
                  <a:srgbClr val="C55A11"/>
                </a:solidFill>
                <a:latin typeface="Times New Roman"/>
              </a:rPr>
              <a:t> </a:t>
            </a:r>
            <a:r>
              <a:rPr sz="3000" b="1" i="0" dirty="0" err="1">
                <a:solidFill>
                  <a:srgbClr val="C55A11"/>
                </a:solidFill>
                <a:latin typeface="Times New Roman"/>
              </a:rPr>
              <a:t>giá</a:t>
            </a:r>
            <a:endParaRPr sz="3000" b="1" i="0" dirty="0">
              <a:solidFill>
                <a:srgbClr val="C55A11"/>
              </a:solidFill>
              <a:latin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6072" y="5303520"/>
            <a:ext cx="1463040" cy="310896"/>
          </a:xfrm>
          <a:prstGeom prst="roundRect">
            <a:avLst>
              <a:gd name="adj" fmla="val 12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SECTION 4</a:t>
            </a:r>
          </a:p>
        </p:txBody>
      </p:sp>
      <p:pic>
        <p:nvPicPr>
          <p:cNvPr id="11" name="Picture 10" descr="hinh_05_quarantine_theo_t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194560"/>
            <a:ext cx="4663440" cy="236341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4: Kết quả &amp; Đánh giá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70C0"/>
                </a:solidFill>
                <a:latin typeface="Times New Roman"/>
              </a:rPr>
              <a:t>❖Kết quả đo bằng số: 20/20 lô qua cổng, mỗi dòng Bronze đều có chỗ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51206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Bảng 20: Số dòng qua từng tầng (2025-01 → 2026-08)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591056"/>
          <a:ext cx="5120639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3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8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Tầng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Bảng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Dòng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Landing → Bronze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20/20 lô qua cổng kiểm tra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59.421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Silver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fact_valuation · quarantine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53.064 · 6.357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Times New Roman"/>
                        </a:rPr>
                        <a:t>Gold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3 mart BI · bảng ML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1.417 / 1.243 / 20 · 53.064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3557016"/>
            <a:ext cx="5120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1">
                <a:solidFill>
                  <a:srgbClr val="262626"/>
                </a:solidFill>
                <a:latin typeface="Cambria Math"/>
              </a:rPr>
              <a:t>q = N_quarantine / N_bronze_active ×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3557016"/>
            <a:ext cx="7315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262626"/>
                </a:solidFill>
                <a:latin typeface="Times New Roman"/>
              </a:rPr>
              <a:t>(5)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014216"/>
            <a:ext cx="51206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</a:rPr>
              <a:t>• 20 lô: </a:t>
            </a:r>
            <a:r>
              <a:rPr sz="1300" b="1" i="0">
                <a:solidFill>
                  <a:srgbClr val="595959"/>
                </a:solidFill>
                <a:latin typeface="Times New Roman"/>
              </a:rPr>
              <a:t>10,70%</a:t>
            </a:r>
            <a:r>
              <a:rPr sz="1300" b="0" i="0">
                <a:solidFill>
                  <a:srgbClr val="595959"/>
                </a:solidFill>
                <a:latin typeface="Times New Roman"/>
              </a:rPr>
              <a:t> toàn kỳ · 7,87% – 13,78% theo tháng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</a:rPr>
              <a:t>• 18 lô thật, ref 2026-06: 15,24% · 11,28% – 18,28%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700016"/>
            <a:ext cx="51206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Chạy lại → Bronze bỏ qua 20/20 lô · 27 test pass · cả pipeline ~1 phút.</a:t>
            </a:r>
          </a:p>
        </p:txBody>
      </p:sp>
      <p:pic>
        <p:nvPicPr>
          <p:cNvPr id="10" name="Picture 9" descr="hinh_05_quarantine_theo_t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98448"/>
            <a:ext cx="6217920" cy="31512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0" y="4467960"/>
            <a:ext cx="6217920" cy="2554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Tỷ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lệ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quarantine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theo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tháng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,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tách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theo</a:t>
            </a:r>
            <a:r>
              <a:rPr sz="1300" b="0" i="1" dirty="0">
                <a:solidFill>
                  <a:srgbClr val="595959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595959"/>
                </a:solidFill>
                <a:latin typeface="Times New Roman"/>
              </a:rPr>
              <a:t>rule_id</a:t>
            </a:r>
            <a:endParaRPr sz="1300" b="0" i="1" dirty="0">
              <a:solidFill>
                <a:srgbClr val="595959"/>
              </a:solidFill>
              <a:latin typeface="Times New Roman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0" y="4824576"/>
            <a:ext cx="6217920" cy="13258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n-US" sz="1200" b="1" i="0" dirty="0" err="1">
                <a:solidFill>
                  <a:srgbClr val="548235"/>
                </a:solidFill>
                <a:latin typeface="Times New Roman"/>
              </a:rPr>
              <a:t>B</a:t>
            </a:r>
            <a:r>
              <a:rPr sz="1200" b="1" i="0" dirty="0" err="1">
                <a:solidFill>
                  <a:srgbClr val="548235"/>
                </a:solidFill>
                <a:latin typeface="Times New Roman"/>
              </a:rPr>
              <a:t>iểu</a:t>
            </a:r>
            <a:r>
              <a:rPr sz="1200" b="1" i="0" dirty="0">
                <a:solidFill>
                  <a:srgbClr val="548235"/>
                </a:solidFill>
                <a:latin typeface="Times New Roman"/>
              </a:rPr>
              <a:t> </a:t>
            </a:r>
            <a:r>
              <a:rPr sz="1200" b="1" i="0" dirty="0" err="1">
                <a:solidFill>
                  <a:srgbClr val="548235"/>
                </a:solidFill>
                <a:latin typeface="Times New Roman"/>
              </a:rPr>
              <a:t>đồ</a:t>
            </a:r>
            <a:r>
              <a:rPr sz="1200" b="1" i="0" dirty="0">
                <a:solidFill>
                  <a:srgbClr val="548235"/>
                </a:solidFill>
                <a:latin typeface="Times New Roman"/>
              </a:rPr>
              <a:t>: </a:t>
            </a:r>
            <a:r>
              <a:rPr sz="1200" b="0" i="0" dirty="0">
                <a:solidFill>
                  <a:srgbClr val="262626"/>
                </a:solidFill>
                <a:latin typeface="Times New Roman"/>
              </a:rPr>
              <a:t>2026-03 </a:t>
            </a:r>
            <a:r>
              <a:rPr sz="1200" b="0" i="0" dirty="0" err="1">
                <a:solidFill>
                  <a:srgbClr val="262626"/>
                </a:solidFill>
                <a:latin typeface="Times New Roman"/>
              </a:rPr>
              <a:t>cao</a:t>
            </a:r>
            <a:r>
              <a:rPr sz="12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262626"/>
                </a:solidFill>
                <a:latin typeface="Times New Roman"/>
              </a:rPr>
              <a:t>nhất</a:t>
            </a:r>
            <a:r>
              <a:rPr sz="1200" b="0" i="0" dirty="0">
                <a:solidFill>
                  <a:srgbClr val="262626"/>
                </a:solidFill>
                <a:latin typeface="Times New Roman"/>
              </a:rPr>
              <a:t> (13,78%) do VALUE_INVALID </a:t>
            </a:r>
            <a:r>
              <a:rPr sz="1200" b="0" i="0" dirty="0" err="1">
                <a:solidFill>
                  <a:srgbClr val="262626"/>
                </a:solidFill>
                <a:latin typeface="Times New Roman"/>
              </a:rPr>
              <a:t>tăng</a:t>
            </a:r>
            <a:r>
              <a:rPr sz="12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262626"/>
                </a:solidFill>
                <a:latin typeface="Times New Roman"/>
              </a:rPr>
              <a:t>vọt</a:t>
            </a:r>
            <a:r>
              <a:rPr sz="12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262626"/>
                </a:solidFill>
                <a:latin typeface="Times New Roman"/>
              </a:rPr>
              <a:t>lên</a:t>
            </a:r>
            <a:r>
              <a:rPr sz="1200" b="0" i="0" dirty="0">
                <a:solidFill>
                  <a:srgbClr val="262626"/>
                </a:solidFill>
                <a:latin typeface="Times New Roman"/>
              </a:rPr>
              <a:t> 121 </a:t>
            </a:r>
            <a:r>
              <a:rPr sz="1200" b="0" i="0" dirty="0" err="1">
                <a:solidFill>
                  <a:srgbClr val="262626"/>
                </a:solidFill>
                <a:latin typeface="Times New Roman"/>
              </a:rPr>
              <a:t>dòng</a:t>
            </a:r>
            <a:r>
              <a:rPr sz="1200" b="0" i="0" dirty="0">
                <a:solidFill>
                  <a:srgbClr val="262626"/>
                </a:solidFill>
                <a:latin typeface="Times New Roman"/>
              </a:rPr>
              <a:t>; 2025-02 </a:t>
            </a:r>
            <a:r>
              <a:rPr sz="1200" b="0" i="0" dirty="0" err="1">
                <a:solidFill>
                  <a:srgbClr val="262626"/>
                </a:solidFill>
                <a:latin typeface="Times New Roman"/>
              </a:rPr>
              <a:t>cao</a:t>
            </a:r>
            <a:r>
              <a:rPr sz="12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200" b="0" i="0" dirty="0" err="1">
                <a:solidFill>
                  <a:srgbClr val="262626"/>
                </a:solidFill>
                <a:latin typeface="Times New Roman"/>
              </a:rPr>
              <a:t>vì</a:t>
            </a:r>
            <a:r>
              <a:rPr sz="1200" b="0" i="0" dirty="0">
                <a:solidFill>
                  <a:srgbClr val="262626"/>
                </a:solidFill>
                <a:latin typeface="Times New Roman"/>
              </a:rPr>
              <a:t> PRICE_INVALID (159/268).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4: Kết quả &amp; Đánh giá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70C0"/>
                </a:solidFill>
                <a:latin typeface="Times New Roman"/>
              </a:rPr>
              <a:t>❖Dữ liệu nói gì: xe cũ cùng đời được định giá thấp hơn xe mới khoảng 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298448"/>
            <a:ext cx="576072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400" b="1" i="0">
                <a:solidFill>
                  <a:srgbClr val="262626"/>
                </a:solidFill>
                <a:latin typeface="Times New Roman"/>
              </a:rPr>
              <a:t>Tỷ lệ còn lại</a:t>
            </a:r>
            <a:r>
              <a:rPr sz="1400" b="0" i="0">
                <a:solidFill>
                  <a:srgbClr val="262626"/>
                </a:solidFill>
                <a:latin typeface="Times New Roman"/>
              </a:rPr>
              <a:t> (3): 115/951 nhóm có đủ giá mới lẫn giá cũ — </a:t>
            </a:r>
            <a:r>
              <a:rPr sz="1400" b="1" i="0">
                <a:solidFill>
                  <a:srgbClr val="262626"/>
                </a:solidFill>
                <a:latin typeface="Times New Roman"/>
              </a:rPr>
              <a:t>tất cả đều đời 2024–2026</a:t>
            </a:r>
            <a:r>
              <a:rPr sz="1400" b="0" i="0">
                <a:solidFill>
                  <a:srgbClr val="262626"/>
                </a:solidFill>
                <a:latin typeface="Times New Roman"/>
              </a:rPr>
              <a:t>; trung vị ρ = </a:t>
            </a:r>
            <a:r>
              <a:rPr sz="1400" b="1" i="0">
                <a:solidFill>
                  <a:srgbClr val="262626"/>
                </a:solidFill>
                <a:latin typeface="Times New Roman"/>
              </a:rPr>
              <a:t>0,938</a:t>
            </a:r>
            <a:r>
              <a:rPr sz="1400" b="0" i="0">
                <a:solidFill>
                  <a:srgbClr val="262626"/>
                </a:solidFill>
                <a:latin typeface="Times New Roman"/>
              </a:rPr>
              <a:t>, khoảng 0,47 – 1,11. Theo đời: 2024 → 0,926 · 2025 → 0,938 · 2026 → 0,979.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400" b="1" i="0">
                <a:solidFill>
                  <a:srgbClr val="262626"/>
                </a:solidFill>
                <a:latin typeface="Times New Roman"/>
              </a:rPr>
              <a:t>13 nhóm có ρ &gt; 1</a:t>
            </a:r>
            <a:r>
              <a:rPr sz="1400" b="0" i="0">
                <a:solidFill>
                  <a:srgbClr val="262626"/>
                </a:solidFill>
                <a:latin typeface="Times New Roman"/>
              </a:rPr>
              <a:t> — xe cũ được định giá cao hơn xe mới cùng đời (vd. Hyundai Creta 2026: 1,082; Kia Carnival 2026: 1,106). Luật suy ra loai_dinh_gia đã được xác nhận → giả thuyết chính: khác phiên bản (trim) trong cùng dòng xe.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400" b="1" i="0">
                <a:solidFill>
                  <a:srgbClr val="262626"/>
                </a:solidFill>
                <a:latin typeface="Times New Roman"/>
              </a:rPr>
              <a:t>Chất lượng phụ thuộc bảng tham chiếu</a:t>
            </a:r>
            <a:r>
              <a:rPr sz="1400" b="0" i="0">
                <a:solidFill>
                  <a:srgbClr val="262626"/>
                </a:solidFill>
                <a:latin typeface="Times New Roman"/>
              </a:rPr>
              <a:t>: 64% dòng quarantine (18 lô thật) là MODEL_CODE_UNKNOWN — cải thiện bằng bổ sung ref_model_map, không cần đổi pipeline.</a:t>
            </a:r>
          </a:p>
        </p:txBody>
      </p:sp>
      <p:pic>
        <p:nvPicPr>
          <p:cNvPr id="5" name="Picture 4" descr="hinh_06_rho_theo_doi_x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98448"/>
            <a:ext cx="5623560" cy="3295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63640" y="4612092"/>
            <a:ext cx="56235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595959"/>
                </a:solidFill>
                <a:latin typeface="Times New Roman"/>
              </a:rPr>
              <a:t>Hình 8: Phân phối ρ theo đời xe (18 lô thật, ref 2026-06)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440680"/>
            <a:ext cx="11551920" cy="960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n-US" sz="2400" b="1" dirty="0" err="1">
                <a:solidFill>
                  <a:srgbClr val="548235"/>
                </a:solidFill>
                <a:latin typeface="Times New Roman"/>
              </a:rPr>
              <a:t>Nhận</a:t>
            </a:r>
            <a:r>
              <a:rPr lang="en-US" sz="2400" b="1" dirty="0">
                <a:solidFill>
                  <a:srgbClr val="548235"/>
                </a:solidFill>
                <a:latin typeface="Times New Roman"/>
              </a:rPr>
              <a:t> </a:t>
            </a:r>
            <a:r>
              <a:rPr lang="en-US" sz="2400" b="1" dirty="0" err="1">
                <a:solidFill>
                  <a:srgbClr val="548235"/>
                </a:solidFill>
                <a:latin typeface="Times New Roman"/>
              </a:rPr>
              <a:t>định</a:t>
            </a:r>
            <a:r>
              <a:rPr sz="2400" b="1" i="0" dirty="0">
                <a:solidFill>
                  <a:srgbClr val="548235"/>
                </a:solidFill>
                <a:latin typeface="Times New Roman"/>
              </a:rPr>
              <a:t>:</a:t>
            </a:r>
            <a:r>
              <a:rPr lang="en-US" sz="2400" b="1" i="0" dirty="0">
                <a:solidFill>
                  <a:srgbClr val="548235"/>
                </a:solidFill>
                <a:latin typeface="Times New Roman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Times New Roman"/>
              </a:rPr>
              <a:t>T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ỷ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lệ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 6%</a:t>
            </a:r>
            <a:r>
              <a:rPr sz="2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theo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nhận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2400" dirty="0" err="1">
                <a:solidFill>
                  <a:srgbClr val="262626"/>
                </a:solidFill>
                <a:latin typeface="Times New Roman"/>
              </a:rPr>
              <a:t>định</a:t>
            </a:r>
            <a:r>
              <a:rPr sz="2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2400" b="0" i="0" dirty="0" err="1">
                <a:solidFill>
                  <a:srgbClr val="262626"/>
                </a:solidFill>
                <a:latin typeface="Times New Roman"/>
              </a:rPr>
              <a:t>Nghiệp</a:t>
            </a:r>
            <a:r>
              <a:rPr sz="2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2400" b="0" i="0" dirty="0" err="1">
                <a:solidFill>
                  <a:srgbClr val="262626"/>
                </a:solidFill>
                <a:latin typeface="Times New Roman"/>
              </a:rPr>
              <a:t>vụ</a:t>
            </a:r>
            <a:r>
              <a:rPr sz="2400" b="0" i="0" dirty="0">
                <a:solidFill>
                  <a:srgbClr val="262626"/>
                </a:solidFill>
                <a:latin typeface="Times New Roman"/>
              </a:rPr>
              <a:t> Xe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khá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thấp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ước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tính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khấu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 hao 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trung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bình</a:t>
            </a:r>
            <a:r>
              <a:rPr lang="en-US" sz="2400" b="0" i="0" dirty="0">
                <a:solidFill>
                  <a:srgbClr val="262626"/>
                </a:solidFill>
                <a:latin typeface="Times New Roman"/>
              </a:rPr>
              <a:t> 15%/ </a:t>
            </a:r>
            <a:r>
              <a:rPr lang="en-US" sz="2400" b="0" i="0" dirty="0" err="1">
                <a:solidFill>
                  <a:srgbClr val="262626"/>
                </a:solidFill>
                <a:latin typeface="Times New Roman"/>
              </a:rPr>
              <a:t>năm</a:t>
            </a:r>
            <a:endParaRPr sz="2400" b="0" i="0" dirty="0">
              <a:solidFill>
                <a:srgbClr val="262626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4: Kết quả &amp; Đánh giá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70C0"/>
                </a:solidFill>
                <a:latin typeface="Times New Roman"/>
              </a:rPr>
              <a:t>❖Đối chiếu mục tiêu &amp; Hạn chế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465779"/>
              </p:ext>
            </p:extLst>
          </p:nvPr>
        </p:nvGraphicFramePr>
        <p:xfrm>
          <a:off x="320040" y="1591056"/>
          <a:ext cx="6035040" cy="2414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79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8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Mục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tiêu</a:t>
                      </a:r>
                      <a:endParaRPr sz="1200" b="1" i="0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Kết quả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Bằng chứng</a:t>
                      </a:r>
                    </a:p>
                  </a:txBody>
                  <a:tcPr marL="64008" marR="64008" marT="22860" marB="22860" anchor="ctr">
                    <a:solidFill>
                      <a:srgbClr val="1F5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Nạp incremental, idempotent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Đạt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Chạy lại: bỏ qua 20/20 lô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Cổng kiểm tra bắt lô hỏng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Đạt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7 test; sự cố CRLF thật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Star schema ở Silver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Đạt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fact + 3 dim; đối soát (2) khớp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Không mất dòng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Đạt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59.421 = 53.064 + 6.357</a:t>
                      </a:r>
                    </a:p>
                  </a:txBody>
                  <a:tcPr marL="64008" marR="64008" marT="22860" marB="22860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Trả lời Q1–Q4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Times New Roman"/>
                        </a:rPr>
                        <a:t>Đạt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262626"/>
                          </a:solidFill>
                          <a:latin typeface="Times New Roman"/>
                        </a:rPr>
                        <a:t>3 mart BI + </a:t>
                      </a:r>
                      <a:r>
                        <a:rPr sz="1200" b="0" i="0" dirty="0" err="1">
                          <a:solidFill>
                            <a:srgbClr val="262626"/>
                          </a:solidFill>
                          <a:latin typeface="Times New Roman"/>
                        </a:rPr>
                        <a:t>mart_ml_training</a:t>
                      </a:r>
                      <a:endParaRPr sz="1200" b="0" i="0" dirty="0">
                        <a:solidFill>
                          <a:srgbClr val="262626"/>
                        </a:solidFill>
                        <a:latin typeface="Times New Roman"/>
                      </a:endParaRP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29401" y="1966370"/>
            <a:ext cx="5303520" cy="13121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ref_model_map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chưa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phủ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hết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mã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→ 5,5%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dòng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(20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)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chưa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vào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fact.</a:t>
            </a:r>
          </a:p>
          <a:p>
            <a:pPr algn="l">
              <a:spcAft>
                <a:spcPts val="500"/>
              </a:spcAft>
            </a:pPr>
            <a:r>
              <a:rPr sz="13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loai_dinh_gia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1" i="0" dirty="0" err="1">
                <a:solidFill>
                  <a:srgbClr val="262626"/>
                </a:solidFill>
                <a:latin typeface="Times New Roman"/>
              </a:rPr>
              <a:t>suy</a:t>
            </a:r>
            <a:r>
              <a:rPr sz="13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1" i="0" dirty="0" err="1">
                <a:solidFill>
                  <a:srgbClr val="262626"/>
                </a:solidFill>
                <a:latin typeface="Times New Roman"/>
              </a:rPr>
              <a:t>luận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→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đổi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luật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thì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ρ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và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bảng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ML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đổi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theo.</a:t>
            </a:r>
            <a:endParaRPr sz="1300" b="0" i="0" dirty="0">
              <a:solidFill>
                <a:srgbClr val="262626"/>
              </a:solidFill>
              <a:latin typeface="Times New Roman"/>
            </a:endParaRPr>
          </a:p>
          <a:p>
            <a:pPr algn="l">
              <a:spcAft>
                <a:spcPts val="500"/>
              </a:spcAft>
            </a:pPr>
            <a:r>
              <a:rPr sz="13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Chỉ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18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tháng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dữ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liệu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thật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→ ρ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chỉ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đo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được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cho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xe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0–2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năm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tuổi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3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2026-07/08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và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ref 2026-07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là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1" i="0" dirty="0" err="1">
                <a:solidFill>
                  <a:srgbClr val="262626"/>
                </a:solidFill>
                <a:latin typeface="Times New Roman"/>
              </a:rPr>
              <a:t>giả</a:t>
            </a:r>
            <a:r>
              <a:rPr sz="1300" b="1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1" i="0" dirty="0" err="1">
                <a:solidFill>
                  <a:srgbClr val="262626"/>
                </a:solidFill>
                <a:latin typeface="Times New Roman"/>
              </a:rPr>
              <a:t>định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—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chỉ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dùng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cho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số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kỹ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thuật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  <a:p>
            <a:pPr algn="l">
              <a:spcAft>
                <a:spcPts val="500"/>
              </a:spcAft>
            </a:pPr>
            <a:r>
              <a:rPr sz="1300" b="0" i="0" dirty="0">
                <a:solidFill>
                  <a:srgbClr val="262626"/>
                </a:solidFill>
                <a:latin typeface="Times New Roman"/>
              </a:rPr>
              <a:t>• Parquet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thuần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(Data Lake):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không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ACID,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không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time travel, </a:t>
            </a:r>
            <a:r>
              <a:rPr sz="1300" b="0" i="0" dirty="0" err="1">
                <a:solidFill>
                  <a:srgbClr val="262626"/>
                </a:solidFill>
                <a:latin typeface="Times New Roman"/>
              </a:rPr>
              <a:t>không</a:t>
            </a:r>
            <a:r>
              <a:rPr sz="1300" b="0" i="0" dirty="0">
                <a:solidFill>
                  <a:srgbClr val="262626"/>
                </a:solidFill>
                <a:latin typeface="Times New Roman"/>
              </a:rPr>
              <a:t> SCD.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1760" y="91440"/>
            <a:ext cx="69494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C55A11"/>
                </a:solidFill>
                <a:latin typeface="Times New Roman"/>
              </a:rPr>
              <a:t>Section 4: Kết quả &amp; Đánh giá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841248"/>
            <a:ext cx="1182624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70C0"/>
                </a:solidFill>
                <a:latin typeface="Times New Roman"/>
              </a:rPr>
              <a:t>❖Hướng phát triển &amp; 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538921"/>
            <a:ext cx="11551920" cy="132497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Tiếp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tục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bổ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sung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ref_model_map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→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chạy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lại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Silver →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đo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lại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quarantine (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không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đổi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code).</a:t>
            </a:r>
          </a:p>
          <a:p>
            <a:pPr algn="l">
              <a:spcAft>
                <a:spcPts val="900"/>
              </a:spcAft>
            </a:pPr>
            <a:r>
              <a:rPr sz="15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dim_model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thành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1" i="0" dirty="0">
                <a:solidFill>
                  <a:srgbClr val="262626"/>
                </a:solidFill>
                <a:latin typeface="Times New Roman"/>
              </a:rPr>
              <a:t>SCD Type 2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khi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bảng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tham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chiếu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bắt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đầu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thay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đổi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thật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  <a:p>
            <a:pPr algn="l">
              <a:spcAft>
                <a:spcPts val="900"/>
              </a:spcAft>
            </a:pPr>
            <a:r>
              <a:rPr sz="15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Huấn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luyện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model baseline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trên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mart_ml_training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; so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điểm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chia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theo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tháng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với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chia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ngẫu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nhiên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để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1" i="0" dirty="0" err="1">
                <a:solidFill>
                  <a:srgbClr val="262626"/>
                </a:solidFill>
                <a:latin typeface="Times New Roman"/>
              </a:rPr>
              <a:t>đo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leakage.</a:t>
            </a:r>
          </a:p>
          <a:p>
            <a:pPr algn="l">
              <a:spcAft>
                <a:spcPts val="900"/>
              </a:spcAft>
            </a:pPr>
            <a:r>
              <a:rPr sz="1500" b="0" i="0" dirty="0">
                <a:solidFill>
                  <a:srgbClr val="262626"/>
                </a:solidFill>
                <a:latin typeface="Times New Roman"/>
              </a:rPr>
              <a:t>•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Đưa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500" b="0" i="0" dirty="0" err="1">
                <a:solidFill>
                  <a:srgbClr val="262626"/>
                </a:solidFill>
                <a:latin typeface="Times New Roman"/>
              </a:rPr>
              <a:t>thêm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nguồn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crawl</a:t>
            </a:r>
            <a:r>
              <a:rPr lang="en-US"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lang="en-US" sz="1500" b="0" i="0" dirty="0" err="1">
                <a:solidFill>
                  <a:srgbClr val="262626"/>
                </a:solidFill>
                <a:latin typeface="Times New Roman"/>
              </a:rPr>
              <a:t>từ</a:t>
            </a:r>
            <a:r>
              <a:rPr lang="en-US" sz="1500" b="0" i="0" dirty="0">
                <a:solidFill>
                  <a:srgbClr val="262626"/>
                </a:solidFill>
                <a:latin typeface="Times New Roman"/>
              </a:rPr>
              <a:t> bonbanh.com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1" i="0" dirty="0" err="1">
                <a:solidFill>
                  <a:srgbClr val="262626"/>
                </a:solidFill>
                <a:latin typeface="Times New Roman"/>
              </a:rPr>
              <a:t>khi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cần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độ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phủ</a:t>
            </a:r>
            <a:r>
              <a:rPr lang="en-US" sz="15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gắn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thêm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dim_source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vào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star schema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mà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không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phá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cấu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Times New Roman"/>
              </a:rPr>
              <a:t>trúc</a:t>
            </a:r>
            <a:r>
              <a:rPr sz="15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3398294"/>
            <a:ext cx="11551920" cy="152773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sz="1400" b="1" i="0" dirty="0" err="1">
                <a:solidFill>
                  <a:srgbClr val="548235"/>
                </a:solidFill>
                <a:latin typeface="Times New Roman"/>
              </a:rPr>
              <a:t>Kết</a:t>
            </a:r>
            <a:r>
              <a:rPr sz="1400" b="1" i="0" dirty="0">
                <a:solidFill>
                  <a:srgbClr val="548235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548235"/>
                </a:solidFill>
                <a:latin typeface="Times New Roman"/>
              </a:rPr>
              <a:t>luận</a:t>
            </a:r>
            <a:r>
              <a:rPr sz="1400" b="1" i="0" dirty="0">
                <a:solidFill>
                  <a:srgbClr val="548235"/>
                </a:solidFill>
                <a:latin typeface="Times New Roman"/>
              </a:rPr>
              <a:t>: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Đã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dựng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một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Data Lake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bốn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tầng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bằng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PySpark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từ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dữ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liệu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định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giá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thật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: 20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lô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qua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cổng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kiểm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tra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mọi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dòng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đều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có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chỗ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trong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fact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hoặc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quarantine,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bốn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câu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hỏi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nghiệp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vụ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có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bảng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trả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lời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.</a:t>
            </a:r>
            <a:endParaRPr lang="en-US" sz="1400" b="0" i="0" dirty="0">
              <a:solidFill>
                <a:srgbClr val="262626"/>
              </a:solidFill>
              <a:latin typeface="Times New Roman"/>
            </a:endParaRPr>
          </a:p>
          <a:p>
            <a:pPr algn="l"/>
            <a:endParaRPr sz="1400" b="0" i="0" dirty="0">
              <a:solidFill>
                <a:srgbClr val="262626"/>
              </a:solidFill>
              <a:latin typeface="Times New Roman"/>
            </a:endParaRPr>
          </a:p>
          <a:p>
            <a:pPr algn="l"/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Bài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học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chính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: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chốt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grain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luật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trước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khi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viết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code;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dữ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liệu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lỗi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phải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được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giữ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lại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để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sửa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không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được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xoá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  <a:p>
            <a:pPr algn="l"/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Giá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trị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thực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tế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: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một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nguồn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tham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chiếu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giá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xe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theo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dòng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/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đời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,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được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chất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lượng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từng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tháng</a:t>
            </a:r>
            <a:r>
              <a:rPr lang="en-US" dirty="0">
                <a:solidFill>
                  <a:srgbClr val="262626"/>
                </a:solidFill>
                <a:latin typeface="Times New Roman"/>
              </a:rPr>
              <a:t>,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đầu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cho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thẩm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định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và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cho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model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định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giá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sau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Times New Roman"/>
              </a:rPr>
              <a:t>này</a:t>
            </a:r>
            <a:r>
              <a:rPr sz="1400" b="0" i="0" dirty="0">
                <a:solidFill>
                  <a:srgbClr val="262626"/>
                </a:solidFill>
                <a:latin typeface="Times New Roman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669280"/>
            <a:ext cx="11551920" cy="73152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400" b="1" i="0" dirty="0">
                <a:solidFill>
                  <a:srgbClr val="FFFFFF"/>
                </a:solidFill>
                <a:latin typeface="Times New Roman"/>
              </a:rPr>
              <a:t>Thank you</a:t>
            </a:r>
            <a:endParaRPr sz="2400" b="1" i="0" dirty="0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3958</Words>
  <Application>Microsoft Office PowerPoint</Application>
  <PresentationFormat>Widescreen</PresentationFormat>
  <Paragraphs>498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Algerian</vt:lpstr>
      <vt:lpstr>Arial</vt:lpstr>
      <vt:lpstr>Calibri</vt:lpstr>
      <vt:lpstr>Cambria Math</vt:lpstr>
      <vt:lpstr>Consolas</vt:lpstr>
      <vt:lpstr>Times New Roman</vt:lpstr>
      <vt:lpstr>Office Theme</vt:lpstr>
      <vt:lpstr>Data Lake Medallion + Star Schema bằng PySpark cho giá trị xe ô tô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Lake Medallion + Star Schema bằng PySpark cho giá trị xe ô tô Từ bản trích dữ liệu định giá nghiệp vụ đến bảng phân tích và bảng đặc trưng ML</dc:title>
  <dc:creator>Dinh Vinh</dc:creator>
  <cp:lastModifiedBy>Quang Nhan TRAN</cp:lastModifiedBy>
  <cp:revision>11</cp:revision>
  <dcterms:created xsi:type="dcterms:W3CDTF">2020-03-12T03:20:56Z</dcterms:created>
  <dcterms:modified xsi:type="dcterms:W3CDTF">2026-10-14T14:25:09Z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2023-04-25T11:39:23Z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0d5f3e43-23a8-4a49-ae94-00ca286a0b61</vt:lpwstr>
  </property>
  <property fmtid="{D5CDD505-2E9C-101B-9397-08002B2CF9AE}" pid="7" name="MSIP_Label_defa4170-0d19-0005-0004-bc88714345d2_ActionId">
    <vt:lpwstr>136951cf-fc08-4d56-bcb4-8eb818cc7f75</vt:lpwstr>
  </property>
  <property fmtid="{D5CDD505-2E9C-101B-9397-08002B2CF9AE}" pid="8" name="MSIP_Label_defa4170-0d19-0005-0004-bc88714345d2_ContentBits">
    <vt:lpwstr>0</vt:lpwstr>
  </property>
</Properties>
</file>