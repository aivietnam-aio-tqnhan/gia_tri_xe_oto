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9" r:id="rId3"/>
    <p:sldId id="260" r:id="rId4"/>
    <p:sldId id="262" r:id="rId5"/>
    <p:sldId id="264" r:id="rId6"/>
    <p:sldId id="265" r:id="rId7"/>
    <p:sldId id="266" r:id="rId8"/>
    <p:sldId id="267" r:id="rId9"/>
    <p:sldId id="268" r:id="rId10"/>
    <p:sldId id="269" r:id="rId11"/>
    <p:sldId id="272" r:id="rId12"/>
    <p:sldId id="273" r:id="rId13"/>
    <p:sldId id="275" r:id="rId14"/>
    <p:sldId id="276" r:id="rId15"/>
    <p:sldId id="277" r:id="rId16"/>
    <p:sldId id="279" r:id="rId17"/>
    <p:sldId id="280" r:id="rId18"/>
    <p:sldId id="281" r:id="rId19"/>
    <p:sldId id="282" r:id="rId20"/>
    <p:sldId id="283" r:id="rId21"/>
    <p:sldId id="284" r:id="rId22"/>
    <p:sldId id="285" r:id="rId23"/>
    <p:sldId id="286" r:id="rId24"/>
    <p:sldId id="287" r:id="rId2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1" roundtripDataSignature="AMtx7mg/feVIVbFuoWwRTm8at7c5l2mrq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2" d="100"/>
          <a:sy n="112" d="100"/>
        </p:scale>
        <p:origin x="509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8004568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9" name="Google Shape;8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97895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imes New Roman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6"/>
          <p:cNvSpPr txBox="1"/>
          <p:nvPr/>
        </p:nvSpPr>
        <p:spPr>
          <a:xfrm>
            <a:off x="0" y="1"/>
            <a:ext cx="457200" cy="73839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‹#›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pic>
        <p:nvPicPr>
          <p:cNvPr id="27" name="Google Shape;27;p6" descr="A black background with white text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24538" y="44846"/>
            <a:ext cx="1968472" cy="648701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6"/>
          <p:cNvSpPr/>
          <p:nvPr/>
        </p:nvSpPr>
        <p:spPr>
          <a:xfrm>
            <a:off x="-2512" y="738391"/>
            <a:ext cx="12192000" cy="13615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9" name="Google Shape;29;p6"/>
          <p:cNvSpPr txBox="1"/>
          <p:nvPr/>
        </p:nvSpPr>
        <p:spPr>
          <a:xfrm>
            <a:off x="2349088" y="0"/>
            <a:ext cx="9004711" cy="998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endParaRPr sz="4400" b="1">
              <a:solidFill>
                <a:srgbClr val="00B05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imes New Roman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Times New Roman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4" name="Google Shape;64;p1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Times New Roman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1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2" name="Google Shape;7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  <a:defRPr sz="4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2" name="Google Shape;12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3" name="Google Shape;13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4" name="Google Shape;14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drive/folders/1QaN1FrujJwaQUELz_i_d2vf5D87fXMPw?usp=sharing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"/>
          <p:cNvSpPr txBox="1">
            <a:spLocks noGrp="1"/>
          </p:cNvSpPr>
          <p:nvPr>
            <p:ph type="ctrTitle"/>
          </p:nvPr>
        </p:nvSpPr>
        <p:spPr>
          <a:xfrm>
            <a:off x="365760" y="1520842"/>
            <a:ext cx="11460480" cy="14857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A6FF"/>
              </a:buClr>
              <a:buSzPts val="6000"/>
              <a:buFont typeface="Times New Roman"/>
              <a:buNone/>
            </a:pPr>
            <a:r>
              <a:rPr lang="en-US" sz="4000" b="1" dirty="0">
                <a:solidFill>
                  <a:srgbClr val="2FA6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 Lake Medallion + Star Schema </a:t>
            </a:r>
            <a:r>
              <a:rPr lang="en-US" sz="4000" b="1" dirty="0" err="1">
                <a:solidFill>
                  <a:srgbClr val="2FA6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bằng</a:t>
            </a:r>
            <a:r>
              <a:rPr lang="en-US" sz="4000" b="1" dirty="0">
                <a:solidFill>
                  <a:srgbClr val="2FA6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4000" b="1" dirty="0" err="1">
                <a:solidFill>
                  <a:srgbClr val="2FA6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PySpark</a:t>
            </a:r>
            <a:endParaRPr b="1" dirty="0">
              <a:solidFill>
                <a:srgbClr val="2FA6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/>
            <a:r>
              <a:rPr sz="4000" b="1" i="0" dirty="0" err="1">
                <a:solidFill>
                  <a:srgbClr val="2FA6FF"/>
                </a:solidFill>
                <a:latin typeface="Times New Roman"/>
              </a:rPr>
              <a:t>cho</a:t>
            </a:r>
            <a:r>
              <a:rPr sz="4000" b="1" i="0" dirty="0">
                <a:solidFill>
                  <a:srgbClr val="2FA6FF"/>
                </a:solidFill>
                <a:latin typeface="Times New Roman"/>
              </a:rPr>
              <a:t> </a:t>
            </a:r>
            <a:r>
              <a:rPr sz="4000" b="1" i="0" dirty="0" err="1">
                <a:solidFill>
                  <a:srgbClr val="2FA6FF"/>
                </a:solidFill>
                <a:latin typeface="Times New Roman"/>
              </a:rPr>
              <a:t>giá</a:t>
            </a:r>
            <a:r>
              <a:rPr sz="4000" b="1" i="0" dirty="0">
                <a:solidFill>
                  <a:srgbClr val="2FA6FF"/>
                </a:solidFill>
                <a:latin typeface="Times New Roman"/>
              </a:rPr>
              <a:t> </a:t>
            </a:r>
            <a:r>
              <a:rPr sz="4000" b="1" i="0" dirty="0" err="1">
                <a:solidFill>
                  <a:srgbClr val="2FA6FF"/>
                </a:solidFill>
                <a:latin typeface="Times New Roman"/>
              </a:rPr>
              <a:t>trị</a:t>
            </a:r>
            <a:r>
              <a:rPr sz="4000" b="1" i="0" dirty="0">
                <a:solidFill>
                  <a:srgbClr val="2FA6FF"/>
                </a:solidFill>
                <a:latin typeface="Times New Roman"/>
              </a:rPr>
              <a:t> </a:t>
            </a:r>
            <a:r>
              <a:rPr sz="4000" b="1" i="0" dirty="0" err="1">
                <a:solidFill>
                  <a:srgbClr val="2FA6FF"/>
                </a:solidFill>
                <a:latin typeface="Times New Roman"/>
              </a:rPr>
              <a:t>xe</a:t>
            </a:r>
            <a:r>
              <a:rPr sz="4000" b="1" i="0" dirty="0">
                <a:solidFill>
                  <a:srgbClr val="2FA6FF"/>
                </a:solidFill>
                <a:latin typeface="Times New Roman"/>
              </a:rPr>
              <a:t> ô </a:t>
            </a:r>
            <a:r>
              <a:rPr sz="4000" b="1" i="0" dirty="0" err="1" smtClean="0">
                <a:solidFill>
                  <a:srgbClr val="2FA6FF"/>
                </a:solidFill>
                <a:latin typeface="Times New Roman"/>
              </a:rPr>
              <a:t>tô</a:t>
            </a:r>
            <a:endParaRPr sz="4000" b="1" i="0" dirty="0">
              <a:solidFill>
                <a:srgbClr val="2FA6FF"/>
              </a:solidFill>
              <a:latin typeface="Times New Roman"/>
            </a:endParaRPr>
          </a:p>
        </p:txBody>
      </p:sp>
      <p:sp>
        <p:nvSpPr>
          <p:cNvPr id="93" name="Google Shape;93;p1"/>
          <p:cNvSpPr txBox="1">
            <a:spLocks noGrp="1"/>
          </p:cNvSpPr>
          <p:nvPr>
            <p:ph type="subTitle" idx="1"/>
          </p:nvPr>
        </p:nvSpPr>
        <p:spPr>
          <a:xfrm>
            <a:off x="1633684" y="3429000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3600"/>
              <a:buNone/>
            </a:pPr>
            <a:r>
              <a:rPr lang="en-US" sz="3000" b="1" dirty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 Sources &amp; Data Ingestion using </a:t>
            </a:r>
            <a:r>
              <a:rPr lang="en-US" sz="3000" b="1" dirty="0" err="1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PySpark</a:t>
            </a:r>
            <a:endParaRPr sz="3600" b="1" dirty="0">
              <a:solidFill>
                <a:srgbClr val="FF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4" name="Google Shape;94;p1"/>
          <p:cNvSpPr/>
          <p:nvPr/>
        </p:nvSpPr>
        <p:spPr>
          <a:xfrm>
            <a:off x="434159" y="6159484"/>
            <a:ext cx="1199525" cy="374571"/>
          </a:xfrm>
          <a:prstGeom prst="roundRect">
            <a:avLst>
              <a:gd name="adj" fmla="val 16667"/>
            </a:avLst>
          </a:prstGeom>
          <a:solidFill>
            <a:srgbClr val="C4E0B2"/>
          </a:solidFill>
          <a:ln w="9525" cap="flat" cmpd="sng">
            <a:solidFill>
              <a:srgbClr val="8DA9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sng" strike="noStrike" cap="none">
                <a:solidFill>
                  <a:srgbClr val="1348F1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3">
                  <a:extLst>
                    <a:ext uri="{A12FA001-AC4F-418D-AE19-62706E023703}">
                      <ahyp:hlinkClr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val="tx"/>
                    </a:ext>
                  </a:extLst>
                </a:hlinkClick>
              </a:rPr>
              <a:t>Data&amp;Code</a:t>
            </a:r>
            <a:endParaRPr sz="1600">
              <a:solidFill>
                <a:srgbClr val="1348F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8013449" y="5036429"/>
            <a:ext cx="3776646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 err="1" smtClean="0">
                <a:solidFill>
                  <a:srgbClr val="BF9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Trần</a:t>
            </a:r>
            <a:r>
              <a:rPr lang="en-US" sz="2400" b="1" dirty="0" smtClean="0">
                <a:solidFill>
                  <a:srgbClr val="BF9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Quang </a:t>
            </a:r>
            <a:r>
              <a:rPr lang="en-US" sz="2400" b="1" dirty="0" err="1" smtClean="0">
                <a:solidFill>
                  <a:srgbClr val="BF9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Nhân</a:t>
            </a:r>
            <a:endParaRPr sz="2400" b="1" dirty="0">
              <a:solidFill>
                <a:srgbClr val="BF9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6" name="Google Shape;96;p1" descr="A white circle with black background&#10;&#10;AI-generated content may be incorrect.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771" y="77700"/>
            <a:ext cx="2550639" cy="10096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133856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6000" b="1" i="0" dirty="0">
                <a:solidFill>
                  <a:srgbClr val="FFFFFF"/>
                </a:solidFill>
                <a:latin typeface="Times New Roman"/>
              </a:rPr>
              <a:t>Outline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" y="1481328"/>
            <a:ext cx="6126480" cy="960120"/>
          </a:xfrm>
          <a:prstGeom prst="roundRect">
            <a:avLst>
              <a:gd name="adj" fmla="val 12000"/>
            </a:avLst>
          </a:prstGeom>
          <a:solidFill>
            <a:srgbClr val="F4B183"/>
          </a:solidFill>
          <a:ln w="31750">
            <a:solidFill>
              <a:srgbClr val="C0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i="0" dirty="0" err="1">
                <a:solidFill>
                  <a:srgbClr val="C55A11"/>
                </a:solidFill>
                <a:latin typeface="Times New Roman"/>
              </a:rPr>
              <a:t>Bối</a:t>
            </a:r>
            <a:r>
              <a:rPr sz="3000" b="1" i="0" dirty="0">
                <a:solidFill>
                  <a:srgbClr val="C55A11"/>
                </a:solidFill>
                <a:latin typeface="Times New Roman"/>
              </a:rPr>
              <a:t> </a:t>
            </a:r>
            <a:r>
              <a:rPr sz="3000" b="1" i="0" dirty="0" err="1">
                <a:solidFill>
                  <a:srgbClr val="C55A11"/>
                </a:solidFill>
                <a:latin typeface="Times New Roman"/>
              </a:rPr>
              <a:t>cảnh</a:t>
            </a:r>
            <a:r>
              <a:rPr sz="3000" b="1" i="0" dirty="0">
                <a:solidFill>
                  <a:srgbClr val="C55A11"/>
                </a:solidFill>
                <a:latin typeface="Times New Roman"/>
              </a:rPr>
              <a:t> &amp; </a:t>
            </a:r>
            <a:r>
              <a:rPr sz="3000" b="1" i="0" dirty="0" err="1">
                <a:solidFill>
                  <a:srgbClr val="C55A11"/>
                </a:solidFill>
                <a:latin typeface="Times New Roman"/>
              </a:rPr>
              <a:t>Bài</a:t>
            </a:r>
            <a:r>
              <a:rPr sz="3000" b="1" i="0" dirty="0">
                <a:solidFill>
                  <a:srgbClr val="C55A11"/>
                </a:solidFill>
                <a:latin typeface="Times New Roman"/>
              </a:rPr>
              <a:t> </a:t>
            </a:r>
            <a:r>
              <a:rPr sz="3000" b="1" i="0" dirty="0" err="1" smtClean="0">
                <a:solidFill>
                  <a:srgbClr val="C55A11"/>
                </a:solidFill>
                <a:latin typeface="Times New Roman"/>
              </a:rPr>
              <a:t>toá</a:t>
            </a:r>
            <a:r>
              <a:rPr lang="en-US" sz="3000" b="1" i="0" dirty="0" err="1" smtClean="0">
                <a:solidFill>
                  <a:srgbClr val="C55A11"/>
                </a:solidFill>
                <a:latin typeface="Times New Roman"/>
              </a:rPr>
              <a:t>n</a:t>
            </a:r>
            <a:endParaRPr sz="3000" b="1" i="0" dirty="0">
              <a:solidFill>
                <a:srgbClr val="C55A11"/>
              </a:solidFill>
              <a:latin typeface="Times New Roman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76072" y="1325880"/>
            <a:ext cx="1463040" cy="310896"/>
          </a:xfrm>
          <a:prstGeom prst="roundRect">
            <a:avLst>
              <a:gd name="adj" fmla="val 12000"/>
            </a:avLst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Times New Roman"/>
              </a:rPr>
              <a:t>SECTION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807208"/>
            <a:ext cx="5577840" cy="960120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15875">
            <a:solidFill>
              <a:srgbClr val="C0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Kiến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</a:t>
            </a:r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thức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</a:t>
            </a:r>
            <a:r>
              <a:rPr sz="2600" b="0" i="0" dirty="0" err="1" smtClean="0">
                <a:solidFill>
                  <a:srgbClr val="C55A11"/>
                </a:solidFill>
                <a:latin typeface="Times New Roman"/>
              </a:rPr>
              <a:t>nề</a:t>
            </a:r>
            <a:r>
              <a:rPr lang="en-US" sz="2600" b="0" i="0" dirty="0" err="1" smtClean="0">
                <a:solidFill>
                  <a:srgbClr val="C55A11"/>
                </a:solidFill>
                <a:latin typeface="Times New Roman"/>
              </a:rPr>
              <a:t>n</a:t>
            </a:r>
            <a:endParaRPr sz="2600" b="0" i="0" dirty="0">
              <a:solidFill>
                <a:srgbClr val="C55A11"/>
              </a:solidFill>
              <a:latin typeface="Times New Roman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76072" y="2651760"/>
            <a:ext cx="1463040" cy="310896"/>
          </a:xfrm>
          <a:prstGeom prst="roundRect">
            <a:avLst>
              <a:gd name="adj" fmla="val 12000"/>
            </a:avLst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0" i="0">
                <a:solidFill>
                  <a:srgbClr val="FFFFFF"/>
                </a:solidFill>
                <a:latin typeface="Times New Roman"/>
              </a:rPr>
              <a:t>SECTION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4133087"/>
            <a:ext cx="5577840" cy="960120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15875">
            <a:solidFill>
              <a:srgbClr val="C0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Thiết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</a:t>
            </a:r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kế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&amp; </a:t>
            </a:r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Xây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</a:t>
            </a:r>
            <a:r>
              <a:rPr sz="2600" b="0" i="0" dirty="0" err="1" smtClean="0">
                <a:solidFill>
                  <a:srgbClr val="C55A11"/>
                </a:solidFill>
                <a:latin typeface="Times New Roman"/>
              </a:rPr>
              <a:t>dựng</a:t>
            </a:r>
            <a:endParaRPr sz="2600" b="0" i="0" dirty="0">
              <a:solidFill>
                <a:srgbClr val="C55A11"/>
              </a:solidFill>
              <a:latin typeface="Times New Roman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76072" y="3977639"/>
            <a:ext cx="1463040" cy="310896"/>
          </a:xfrm>
          <a:prstGeom prst="roundRect">
            <a:avLst>
              <a:gd name="adj" fmla="val 12000"/>
            </a:avLst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0" i="0">
                <a:solidFill>
                  <a:srgbClr val="FFFFFF"/>
                </a:solidFill>
                <a:latin typeface="Times New Roman"/>
              </a:rPr>
              <a:t>SECTION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458968"/>
            <a:ext cx="5577840" cy="960120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15875">
            <a:solidFill>
              <a:srgbClr val="C0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Kết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</a:t>
            </a:r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quả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&amp; </a:t>
            </a:r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Đánh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</a:t>
            </a:r>
            <a:r>
              <a:rPr sz="2600" b="0" i="0" dirty="0" err="1" smtClean="0">
                <a:solidFill>
                  <a:srgbClr val="C55A11"/>
                </a:solidFill>
                <a:latin typeface="Times New Roman"/>
              </a:rPr>
              <a:t>gi</a:t>
            </a:r>
            <a:r>
              <a:rPr lang="en-US" sz="2600" dirty="0" err="1">
                <a:solidFill>
                  <a:srgbClr val="C55A11"/>
                </a:solidFill>
                <a:latin typeface="Times New Roman"/>
              </a:rPr>
              <a:t>á</a:t>
            </a:r>
            <a:endParaRPr sz="2600" b="0" i="0" dirty="0">
              <a:solidFill>
                <a:srgbClr val="C55A11"/>
              </a:solidFill>
              <a:latin typeface="Times New Roman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76072" y="5303520"/>
            <a:ext cx="1463040" cy="310896"/>
          </a:xfrm>
          <a:prstGeom prst="roundRect">
            <a:avLst>
              <a:gd name="adj" fmla="val 12000"/>
            </a:avLst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0" i="0">
                <a:solidFill>
                  <a:srgbClr val="FFFFFF"/>
                </a:solidFill>
                <a:latin typeface="Times New Roman"/>
              </a:rPr>
              <a:t>SECTION 4</a:t>
            </a:r>
          </a:p>
        </p:txBody>
      </p:sp>
      <p:pic>
        <p:nvPicPr>
          <p:cNvPr id="11" name="Picture 10" descr="hinh_08_hop_dong_theo_tha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5296" y="2571344"/>
            <a:ext cx="4822436" cy="239196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51760" y="91440"/>
            <a:ext cx="6949440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C55A11"/>
                </a:solidFill>
                <a:latin typeface="Times New Roman"/>
              </a:rPr>
              <a:t>Section 1: Bối cảnh &amp; Bài toán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841248"/>
            <a:ext cx="1182624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 dirty="0">
                <a:solidFill>
                  <a:srgbClr val="0070C0"/>
                </a:solidFill>
                <a:latin typeface="Times New Roman"/>
              </a:rPr>
              <a:t>❖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Trong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bảo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hiểm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vật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chất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xe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,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giá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trị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xe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</a:t>
            </a:r>
            <a:r>
              <a:rPr lang="en-US" sz="2000" b="1" i="0" dirty="0" err="1" smtClean="0">
                <a:solidFill>
                  <a:srgbClr val="0070C0"/>
                </a:solidFill>
                <a:latin typeface="Times New Roman"/>
              </a:rPr>
              <a:t>yếu</a:t>
            </a:r>
            <a:r>
              <a:rPr lang="en-US" sz="2000" b="1" i="0" dirty="0" smtClean="0">
                <a:solidFill>
                  <a:srgbClr val="0070C0"/>
                </a:solidFill>
                <a:latin typeface="Times New Roman"/>
              </a:rPr>
              <a:t> </a:t>
            </a:r>
            <a:r>
              <a:rPr lang="en-US" sz="2000" b="1" i="0" dirty="0" err="1" smtClean="0">
                <a:solidFill>
                  <a:srgbClr val="0070C0"/>
                </a:solidFill>
                <a:latin typeface="Times New Roman"/>
              </a:rPr>
              <a:t>tố</a:t>
            </a:r>
            <a:r>
              <a:rPr lang="en-US" sz="2000" b="1" i="0" dirty="0" smtClean="0">
                <a:solidFill>
                  <a:srgbClr val="0070C0"/>
                </a:solidFill>
                <a:latin typeface="Times New Roman"/>
              </a:rPr>
              <a:t> </a:t>
            </a:r>
            <a:r>
              <a:rPr lang="en-US" sz="2000" b="1" i="0" dirty="0" err="1" smtClean="0">
                <a:solidFill>
                  <a:srgbClr val="0070C0"/>
                </a:solidFill>
                <a:latin typeface="Times New Roman"/>
              </a:rPr>
              <a:t>quyết</a:t>
            </a:r>
            <a:r>
              <a:rPr lang="en-US" sz="2000" b="1" i="0" dirty="0" smtClean="0">
                <a:solidFill>
                  <a:srgbClr val="0070C0"/>
                </a:solidFill>
                <a:latin typeface="Times New Roman"/>
              </a:rPr>
              <a:t> </a:t>
            </a:r>
            <a:r>
              <a:rPr lang="en-US" sz="2000" b="1" i="0" dirty="0" err="1" smtClean="0">
                <a:solidFill>
                  <a:srgbClr val="0070C0"/>
                </a:solidFill>
                <a:latin typeface="Times New Roman"/>
              </a:rPr>
              <a:t>định</a:t>
            </a:r>
            <a:r>
              <a:rPr lang="en-US" sz="2000" b="1" i="0" dirty="0" smtClean="0">
                <a:solidFill>
                  <a:srgbClr val="0070C0"/>
                </a:solidFill>
                <a:latin typeface="Times New Roman"/>
              </a:rPr>
              <a:t> </a:t>
            </a:r>
            <a:r>
              <a:rPr lang="en-US" sz="2000" b="1" i="0" dirty="0" err="1" smtClean="0">
                <a:solidFill>
                  <a:srgbClr val="0070C0"/>
                </a:solidFill>
                <a:latin typeface="Times New Roman"/>
              </a:rPr>
              <a:t>cả</a:t>
            </a:r>
            <a:r>
              <a:rPr sz="2000" b="1" i="0" dirty="0" smtClean="0">
                <a:solidFill>
                  <a:srgbClr val="0070C0"/>
                </a:solidFill>
                <a:latin typeface="Times New Roman"/>
              </a:rPr>
              <a:t> </a:t>
            </a:r>
            <a:r>
              <a:rPr sz="2000" b="1" i="0" dirty="0" err="1" smtClean="0">
                <a:solidFill>
                  <a:srgbClr val="0070C0"/>
                </a:solidFill>
                <a:latin typeface="Times New Roman"/>
              </a:rPr>
              <a:t>phí</a:t>
            </a:r>
            <a:r>
              <a:rPr lang="en-US" sz="2000" b="1" i="0" dirty="0" smtClean="0">
                <a:solidFill>
                  <a:srgbClr val="0070C0"/>
                </a:solidFill>
                <a:latin typeface="Times New Roman"/>
              </a:rPr>
              <a:t> </a:t>
            </a:r>
            <a:r>
              <a:rPr lang="en-US" sz="2000" b="1" i="0" dirty="0" err="1" smtClean="0">
                <a:solidFill>
                  <a:srgbClr val="0070C0"/>
                </a:solidFill>
                <a:latin typeface="Times New Roman"/>
              </a:rPr>
              <a:t>bảo</a:t>
            </a:r>
            <a:r>
              <a:rPr lang="en-US" sz="2000" b="1" i="0" dirty="0" smtClean="0">
                <a:solidFill>
                  <a:srgbClr val="0070C0"/>
                </a:solidFill>
                <a:latin typeface="Times New Roman"/>
              </a:rPr>
              <a:t> </a:t>
            </a:r>
            <a:r>
              <a:rPr lang="en-US" sz="2000" b="1" i="0" dirty="0" err="1" smtClean="0">
                <a:solidFill>
                  <a:srgbClr val="0070C0"/>
                </a:solidFill>
                <a:latin typeface="Times New Roman"/>
              </a:rPr>
              <a:t>hiểm</a:t>
            </a:r>
            <a:r>
              <a:rPr sz="2000" b="1" i="0" dirty="0" smtClean="0">
                <a:solidFill>
                  <a:srgbClr val="0070C0"/>
                </a:solidFill>
                <a:latin typeface="Times New Roman"/>
              </a:rPr>
              <a:t>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lẫn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bồi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thường</a:t>
            </a:r>
            <a:endParaRPr sz="2000" b="1" i="0" dirty="0">
              <a:solidFill>
                <a:srgbClr val="0070C0"/>
              </a:solidFill>
              <a:latin typeface="Times New Roman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20040" y="1298448"/>
            <a:ext cx="1155192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262626"/>
                </a:solidFill>
                <a:latin typeface="Times New Roman"/>
              </a:rPr>
              <a:t>Số tiền bảo hiểm (STBH) của đơn vật chất xe được ấn định theo </a:t>
            </a:r>
            <a:r>
              <a:rPr sz="1700" b="1" i="0">
                <a:solidFill>
                  <a:srgbClr val="262626"/>
                </a:solidFill>
                <a:latin typeface="Times New Roman"/>
              </a:rPr>
              <a:t>giá trị thực tế của xe lúc cấp đơn</a:t>
            </a:r>
            <a:r>
              <a:rPr sz="1700" b="0" i="0">
                <a:solidFill>
                  <a:srgbClr val="262626"/>
                </a:solidFill>
                <a:latin typeface="Times New Roman"/>
              </a:rPr>
              <a:t>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755648"/>
            <a:ext cx="1155192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 i="1">
                <a:solidFill>
                  <a:srgbClr val="262626"/>
                </a:solidFill>
                <a:latin typeface="Cambria Math"/>
              </a:rPr>
              <a:t>P = r ×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40440" y="1755648"/>
            <a:ext cx="73152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0" i="0">
                <a:solidFill>
                  <a:srgbClr val="262626"/>
                </a:solidFill>
                <a:latin typeface="Times New Roman"/>
              </a:rPr>
              <a:t>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7076" y="2212848"/>
            <a:ext cx="11016244" cy="25545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100"/>
              </a:spcAft>
            </a:pPr>
            <a:r>
              <a:rPr sz="1300" b="0" i="0" dirty="0">
                <a:solidFill>
                  <a:srgbClr val="595959"/>
                </a:solidFill>
                <a:latin typeface="Times New Roman"/>
              </a:rPr>
              <a:t>• P: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phí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bảo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hiểm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 ·  r: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tỷ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lệ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phí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theo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sản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phẩm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/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nhóm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xe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 ·  S: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số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tiền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bảo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hiểm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≈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giá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trị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xe</a:t>
            </a:r>
            <a:endParaRPr sz="1300" b="0" i="0" dirty="0">
              <a:solidFill>
                <a:srgbClr val="595959"/>
              </a:solidFill>
              <a:latin typeface="Times New Roman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790171"/>
              </p:ext>
            </p:extLst>
          </p:nvPr>
        </p:nvGraphicFramePr>
        <p:xfrm>
          <a:off x="320040" y="2871216"/>
          <a:ext cx="11417035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55578"/>
                <a:gridCol w="4043797"/>
                <a:gridCol w="481766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 dirty="0" err="1">
                          <a:solidFill>
                            <a:srgbClr val="FFFFFF"/>
                          </a:solidFill>
                          <a:latin typeface="Times New Roman"/>
                        </a:rPr>
                        <a:t>Định</a:t>
                      </a:r>
                      <a:r>
                        <a:rPr sz="1500" b="1" i="0" dirty="0">
                          <a:solidFill>
                            <a:srgbClr val="FFFFFF"/>
                          </a:solidFill>
                          <a:latin typeface="Times New Roman"/>
                        </a:rPr>
                        <a:t> </a:t>
                      </a:r>
                      <a:r>
                        <a:rPr sz="1500" b="1" i="0" dirty="0" err="1">
                          <a:solidFill>
                            <a:srgbClr val="FFFFFF"/>
                          </a:solidFill>
                          <a:latin typeface="Times New Roman"/>
                        </a:rPr>
                        <a:t>giá</a:t>
                      </a:r>
                      <a:endParaRPr sz="1500" b="1" i="0" dirty="0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</a:rPr>
                        <a:t>Hệ quả với khách hàng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</a:rPr>
                        <a:t>Hệ quả với công ty bảo hiểm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Cao </a:t>
                      </a:r>
                      <a:r>
                        <a:rPr sz="1500" b="1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hơn</a:t>
                      </a:r>
                      <a:r>
                        <a:rPr sz="1500" b="1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500" b="1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giá</a:t>
                      </a:r>
                      <a:r>
                        <a:rPr sz="1500" b="1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500" b="1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trị</a:t>
                      </a:r>
                      <a:r>
                        <a:rPr sz="1500" b="1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500" b="1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thật</a:t>
                      </a:r>
                      <a:endParaRPr sz="1500" b="1" i="0" dirty="0">
                        <a:solidFill>
                          <a:srgbClr val="262626"/>
                        </a:solidFill>
                        <a:latin typeface="Times New Roman"/>
                      </a:endParaRP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Đóng</a:t>
                      </a:r>
                      <a:r>
                        <a:rPr sz="15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5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phí</a:t>
                      </a:r>
                      <a:r>
                        <a:rPr sz="15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5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nhiều</a:t>
                      </a:r>
                      <a:r>
                        <a:rPr sz="15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5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hơn</a:t>
                      </a:r>
                      <a:r>
                        <a:rPr sz="15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5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cần</a:t>
                      </a:r>
                      <a:r>
                        <a:rPr sz="15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5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thiết</a:t>
                      </a:r>
                      <a:endParaRPr sz="1500" b="0" i="0" dirty="0">
                        <a:solidFill>
                          <a:srgbClr val="262626"/>
                        </a:solidFill>
                        <a:latin typeface="Times New Roman"/>
                      </a:endParaRP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Times New Roman"/>
                        </a:rPr>
                        <a:t>Rủi ro trục lợi; tranh chấp khi tổn thất toàn bộ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62626"/>
                          </a:solidFill>
                          <a:latin typeface="Times New Roman"/>
                        </a:rPr>
                        <a:t>Thấp hơn giá trị thật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Bồi</a:t>
                      </a:r>
                      <a:r>
                        <a:rPr sz="15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5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thường</a:t>
                      </a:r>
                      <a:r>
                        <a:rPr sz="15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5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theo</a:t>
                      </a:r>
                      <a:r>
                        <a:rPr sz="15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5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tỷ</a:t>
                      </a:r>
                      <a:r>
                        <a:rPr sz="15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5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lệ</a:t>
                      </a:r>
                      <a:r>
                        <a:rPr sz="15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lang="en-US" sz="1500" b="0" i="0" dirty="0" smtClean="0">
                          <a:solidFill>
                            <a:srgbClr val="262626"/>
                          </a:solidFill>
                          <a:latin typeface="Times New Roman"/>
                        </a:rPr>
                        <a:t>, </a:t>
                      </a:r>
                      <a:r>
                        <a:rPr sz="1500" b="1" i="0" dirty="0" err="1" smtClean="0">
                          <a:solidFill>
                            <a:srgbClr val="262626"/>
                          </a:solidFill>
                          <a:latin typeface="Times New Roman"/>
                        </a:rPr>
                        <a:t>không</a:t>
                      </a:r>
                      <a:r>
                        <a:rPr sz="1500" b="1" i="0" dirty="0" smtClean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500" b="1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được</a:t>
                      </a:r>
                      <a:r>
                        <a:rPr sz="1500" b="1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500" b="1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đền</a:t>
                      </a:r>
                      <a:r>
                        <a:rPr sz="1500" b="1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500" b="1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đủ</a:t>
                      </a:r>
                      <a:endParaRPr sz="1500" b="1" i="0" dirty="0">
                        <a:solidFill>
                          <a:srgbClr val="262626"/>
                        </a:solidFill>
                        <a:latin typeface="Times New Roman"/>
                      </a:endParaRP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Khiếu</a:t>
                      </a:r>
                      <a:r>
                        <a:rPr sz="15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5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nại</a:t>
                      </a:r>
                      <a:r>
                        <a:rPr sz="15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; </a:t>
                      </a:r>
                      <a:r>
                        <a:rPr lang="en-US" sz="1500" b="0" i="0" dirty="0" err="1" smtClean="0">
                          <a:solidFill>
                            <a:srgbClr val="262626"/>
                          </a:solidFill>
                          <a:latin typeface="Times New Roman"/>
                        </a:rPr>
                        <a:t>khả</a:t>
                      </a:r>
                      <a:r>
                        <a:rPr lang="en-US" sz="1500" b="0" i="0" baseline="0" dirty="0" smtClean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lang="en-US" sz="1500" b="0" i="0" baseline="0" dirty="0" err="1" smtClean="0">
                          <a:solidFill>
                            <a:srgbClr val="262626"/>
                          </a:solidFill>
                          <a:latin typeface="Times New Roman"/>
                        </a:rPr>
                        <a:t>năng</a:t>
                      </a:r>
                      <a:r>
                        <a:rPr lang="en-US" sz="1500" b="0" i="0" baseline="0" dirty="0" smtClean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500" b="0" i="0" dirty="0" err="1" smtClean="0">
                          <a:solidFill>
                            <a:srgbClr val="262626"/>
                          </a:solidFill>
                          <a:latin typeface="Times New Roman"/>
                        </a:rPr>
                        <a:t>phí</a:t>
                      </a:r>
                      <a:r>
                        <a:rPr sz="1500" b="0" i="0" dirty="0" smtClean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5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thu</a:t>
                      </a:r>
                      <a:r>
                        <a:rPr sz="15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lang="en-US" sz="1500" b="0" i="0" dirty="0" err="1" smtClean="0">
                          <a:solidFill>
                            <a:srgbClr val="262626"/>
                          </a:solidFill>
                          <a:latin typeface="Times New Roman"/>
                        </a:rPr>
                        <a:t>không</a:t>
                      </a:r>
                      <a:r>
                        <a:rPr lang="en-US" sz="1500" b="0" i="0" baseline="0" dirty="0" smtClean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lang="en-US" sz="1500" b="0" i="0" baseline="0" dirty="0" err="1" smtClean="0">
                          <a:solidFill>
                            <a:srgbClr val="262626"/>
                          </a:solidFill>
                          <a:latin typeface="Times New Roman"/>
                        </a:rPr>
                        <a:t>đủ</a:t>
                      </a:r>
                      <a:r>
                        <a:rPr lang="en-US" sz="1500" b="0" i="0" baseline="0" dirty="0" smtClean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lang="en-US" sz="1500" b="0" i="0" baseline="0" dirty="0" err="1" smtClean="0">
                          <a:solidFill>
                            <a:srgbClr val="262626"/>
                          </a:solidFill>
                          <a:latin typeface="Times New Roman"/>
                        </a:rPr>
                        <a:t>bù</a:t>
                      </a:r>
                      <a:r>
                        <a:rPr sz="1500" b="0" i="0" dirty="0" smtClean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5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rủi</a:t>
                      </a:r>
                      <a:r>
                        <a:rPr sz="15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5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ro</a:t>
                      </a:r>
                      <a:endParaRPr sz="1500" b="0" i="0" dirty="0">
                        <a:solidFill>
                          <a:srgbClr val="262626"/>
                        </a:solidFill>
                        <a:latin typeface="Times New Roman"/>
                      </a:endParaRP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4611874"/>
            <a:ext cx="11551920" cy="5786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 dirty="0" err="1" smtClean="0">
                <a:solidFill>
                  <a:srgbClr val="262626"/>
                </a:solidFill>
                <a:latin typeface="Times New Roman"/>
              </a:rPr>
              <a:t>Mỗi</a:t>
            </a:r>
            <a:r>
              <a:rPr sz="1700" b="0" i="0" dirty="0" smtClean="0">
                <a:solidFill>
                  <a:srgbClr val="262626"/>
                </a:solidFill>
                <a:latin typeface="Times New Roman"/>
              </a:rPr>
              <a:t> </a:t>
            </a:r>
            <a:r>
              <a:rPr sz="1700" b="0" i="0" dirty="0" err="1">
                <a:solidFill>
                  <a:srgbClr val="262626"/>
                </a:solidFill>
                <a:latin typeface="Times New Roman"/>
              </a:rPr>
              <a:t>hợp</a:t>
            </a:r>
            <a:r>
              <a:rPr sz="17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700" b="0" i="0" dirty="0" err="1">
                <a:solidFill>
                  <a:srgbClr val="262626"/>
                </a:solidFill>
                <a:latin typeface="Times New Roman"/>
              </a:rPr>
              <a:t>đồng</a:t>
            </a:r>
            <a:r>
              <a:rPr sz="17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700" b="0" i="0" dirty="0" err="1">
                <a:solidFill>
                  <a:srgbClr val="262626"/>
                </a:solidFill>
                <a:latin typeface="Times New Roman"/>
              </a:rPr>
              <a:t>vật</a:t>
            </a:r>
            <a:r>
              <a:rPr sz="17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700" b="0" i="0" dirty="0" err="1">
                <a:solidFill>
                  <a:srgbClr val="262626"/>
                </a:solidFill>
                <a:latin typeface="Times New Roman"/>
              </a:rPr>
              <a:t>chất</a:t>
            </a:r>
            <a:r>
              <a:rPr sz="17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700" b="0" i="0" dirty="0" err="1">
                <a:solidFill>
                  <a:srgbClr val="262626"/>
                </a:solidFill>
                <a:latin typeface="Times New Roman"/>
              </a:rPr>
              <a:t>xe</a:t>
            </a:r>
            <a:r>
              <a:rPr sz="17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700" b="1" i="0" dirty="0" err="1">
                <a:solidFill>
                  <a:srgbClr val="262626"/>
                </a:solidFill>
                <a:latin typeface="Times New Roman"/>
              </a:rPr>
              <a:t>đã</a:t>
            </a:r>
            <a:r>
              <a:rPr sz="17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700" b="1" i="0" dirty="0" err="1">
                <a:solidFill>
                  <a:srgbClr val="262626"/>
                </a:solidFill>
                <a:latin typeface="Times New Roman"/>
              </a:rPr>
              <a:t>chứa</a:t>
            </a:r>
            <a:r>
              <a:rPr sz="17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700" b="1" i="0" dirty="0" err="1">
                <a:solidFill>
                  <a:srgbClr val="262626"/>
                </a:solidFill>
                <a:latin typeface="Times New Roman"/>
              </a:rPr>
              <a:t>sẵn</a:t>
            </a:r>
            <a:r>
              <a:rPr sz="17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700" b="1" i="0" dirty="0" err="1" smtClean="0">
                <a:solidFill>
                  <a:srgbClr val="262626"/>
                </a:solidFill>
                <a:latin typeface="Times New Roman"/>
              </a:rPr>
              <a:t>giá</a:t>
            </a:r>
            <a:r>
              <a:rPr lang="en-US" sz="1700" b="1" i="0" dirty="0" smtClean="0">
                <a:solidFill>
                  <a:srgbClr val="262626"/>
                </a:solidFill>
                <a:latin typeface="Times New Roman"/>
              </a:rPr>
              <a:t> </a:t>
            </a:r>
            <a:r>
              <a:rPr lang="en-US" sz="1700" b="1" i="0" dirty="0" err="1" smtClean="0">
                <a:solidFill>
                  <a:srgbClr val="262626"/>
                </a:solidFill>
                <a:latin typeface="Times New Roman"/>
              </a:rPr>
              <a:t>trị</a:t>
            </a:r>
            <a:r>
              <a:rPr sz="1700" b="1" i="0" dirty="0" smtClean="0">
                <a:solidFill>
                  <a:srgbClr val="262626"/>
                </a:solidFill>
                <a:latin typeface="Times New Roman"/>
              </a:rPr>
              <a:t> </a:t>
            </a:r>
            <a:r>
              <a:rPr sz="1700" b="1" i="0" dirty="0" err="1">
                <a:solidFill>
                  <a:srgbClr val="262626"/>
                </a:solidFill>
                <a:latin typeface="Times New Roman"/>
              </a:rPr>
              <a:t>xe</a:t>
            </a:r>
            <a:r>
              <a:rPr sz="1700" b="0" i="0" dirty="0">
                <a:solidFill>
                  <a:srgbClr val="262626"/>
                </a:solidFill>
                <a:latin typeface="Times New Roman"/>
              </a:rPr>
              <a:t> — con </a:t>
            </a:r>
            <a:r>
              <a:rPr sz="1700" b="0" i="0" dirty="0" err="1">
                <a:solidFill>
                  <a:srgbClr val="262626"/>
                </a:solidFill>
                <a:latin typeface="Times New Roman"/>
              </a:rPr>
              <a:t>số</a:t>
            </a:r>
            <a:r>
              <a:rPr sz="1700" b="0" i="0" dirty="0">
                <a:solidFill>
                  <a:srgbClr val="262626"/>
                </a:solidFill>
                <a:latin typeface="Times New Roman"/>
              </a:rPr>
              <a:t> S do </a:t>
            </a:r>
            <a:r>
              <a:rPr sz="1700" b="0" i="0" dirty="0" err="1">
                <a:solidFill>
                  <a:srgbClr val="262626"/>
                </a:solidFill>
                <a:latin typeface="Times New Roman"/>
              </a:rPr>
              <a:t>thẩm</a:t>
            </a:r>
            <a:r>
              <a:rPr sz="17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700" b="0" i="0" dirty="0" err="1">
                <a:solidFill>
                  <a:srgbClr val="262626"/>
                </a:solidFill>
                <a:latin typeface="Times New Roman"/>
              </a:rPr>
              <a:t>định</a:t>
            </a:r>
            <a:r>
              <a:rPr sz="17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700" b="0" i="0" dirty="0" err="1">
                <a:solidFill>
                  <a:srgbClr val="262626"/>
                </a:solidFill>
                <a:latin typeface="Times New Roman"/>
              </a:rPr>
              <a:t>viên</a:t>
            </a:r>
            <a:r>
              <a:rPr sz="17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700" b="0" i="0" dirty="0" err="1" smtClean="0">
                <a:solidFill>
                  <a:srgbClr val="262626"/>
                </a:solidFill>
                <a:latin typeface="Times New Roman"/>
              </a:rPr>
              <a:t>chốt</a:t>
            </a:r>
            <a:r>
              <a:rPr lang="en-US" sz="1700" b="0" i="0" dirty="0" smtClean="0">
                <a:solidFill>
                  <a:srgbClr val="262626"/>
                </a:solidFill>
                <a:latin typeface="Times New Roman"/>
              </a:rPr>
              <a:t> </a:t>
            </a:r>
            <a:r>
              <a:rPr lang="en-US" sz="1700" b="0" i="0" dirty="0" err="1" smtClean="0">
                <a:solidFill>
                  <a:srgbClr val="262626"/>
                </a:solidFill>
                <a:latin typeface="Times New Roman"/>
              </a:rPr>
              <a:t>khi</a:t>
            </a:r>
            <a:r>
              <a:rPr lang="en-US" sz="1700" b="0" i="0" dirty="0" smtClean="0">
                <a:solidFill>
                  <a:srgbClr val="262626"/>
                </a:solidFill>
                <a:latin typeface="Times New Roman"/>
              </a:rPr>
              <a:t> </a:t>
            </a:r>
            <a:r>
              <a:rPr lang="en-US" sz="1700" b="0" i="0" dirty="0" err="1" smtClean="0">
                <a:solidFill>
                  <a:srgbClr val="262626"/>
                </a:solidFill>
                <a:latin typeface="Times New Roman"/>
              </a:rPr>
              <a:t>cấp</a:t>
            </a:r>
            <a:r>
              <a:rPr lang="en-US" sz="1700" b="0" i="0" dirty="0" smtClean="0">
                <a:solidFill>
                  <a:srgbClr val="262626"/>
                </a:solidFill>
                <a:latin typeface="Times New Roman"/>
              </a:rPr>
              <a:t> </a:t>
            </a:r>
            <a:r>
              <a:rPr lang="en-US" sz="1700" b="0" i="0" dirty="0" err="1" smtClean="0">
                <a:solidFill>
                  <a:srgbClr val="262626"/>
                </a:solidFill>
                <a:latin typeface="Times New Roman"/>
              </a:rPr>
              <a:t>đơn</a:t>
            </a:r>
            <a:r>
              <a:rPr sz="1700" b="0" i="0" dirty="0" smtClean="0">
                <a:solidFill>
                  <a:srgbClr val="262626"/>
                </a:solidFill>
                <a:latin typeface="Times New Roman"/>
              </a:rPr>
              <a:t>. </a:t>
            </a:r>
            <a:r>
              <a:rPr sz="1700" b="0" i="0" dirty="0" err="1">
                <a:solidFill>
                  <a:srgbClr val="262626"/>
                </a:solidFill>
                <a:latin typeface="Times New Roman"/>
              </a:rPr>
              <a:t>Đề</a:t>
            </a:r>
            <a:r>
              <a:rPr sz="17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700" b="0" i="0" dirty="0" err="1">
                <a:solidFill>
                  <a:srgbClr val="262626"/>
                </a:solidFill>
                <a:latin typeface="Times New Roman"/>
              </a:rPr>
              <a:t>tài</a:t>
            </a:r>
            <a:r>
              <a:rPr sz="17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700" b="0" i="0" dirty="0" err="1">
                <a:solidFill>
                  <a:srgbClr val="262626"/>
                </a:solidFill>
                <a:latin typeface="Times New Roman"/>
              </a:rPr>
              <a:t>dùng</a:t>
            </a:r>
            <a:r>
              <a:rPr sz="17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700" b="0" i="0" dirty="0" err="1">
                <a:solidFill>
                  <a:srgbClr val="262626"/>
                </a:solidFill>
                <a:latin typeface="Times New Roman"/>
              </a:rPr>
              <a:t>chính</a:t>
            </a:r>
            <a:r>
              <a:rPr sz="17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700" b="0" i="0" dirty="0" err="1">
                <a:solidFill>
                  <a:srgbClr val="262626"/>
                </a:solidFill>
                <a:latin typeface="Times New Roman"/>
              </a:rPr>
              <a:t>những</a:t>
            </a:r>
            <a:r>
              <a:rPr sz="1700" b="0" i="0" dirty="0">
                <a:solidFill>
                  <a:srgbClr val="262626"/>
                </a:solidFill>
                <a:latin typeface="Times New Roman"/>
              </a:rPr>
              <a:t> con </a:t>
            </a:r>
            <a:r>
              <a:rPr sz="1700" b="0" i="0" dirty="0" err="1">
                <a:solidFill>
                  <a:srgbClr val="262626"/>
                </a:solidFill>
                <a:latin typeface="Times New Roman"/>
              </a:rPr>
              <a:t>số</a:t>
            </a:r>
            <a:r>
              <a:rPr sz="17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700" b="0" i="0" dirty="0" err="1">
                <a:solidFill>
                  <a:srgbClr val="262626"/>
                </a:solidFill>
                <a:latin typeface="Times New Roman"/>
              </a:rPr>
              <a:t>đó</a:t>
            </a:r>
            <a:r>
              <a:rPr sz="17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700" b="0" i="0" dirty="0" err="1">
                <a:solidFill>
                  <a:srgbClr val="262626"/>
                </a:solidFill>
                <a:latin typeface="Times New Roman"/>
              </a:rPr>
              <a:t>làm</a:t>
            </a:r>
            <a:r>
              <a:rPr sz="17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700" b="0" i="0" dirty="0" err="1">
                <a:solidFill>
                  <a:srgbClr val="262626"/>
                </a:solidFill>
                <a:latin typeface="Times New Roman"/>
              </a:rPr>
              <a:t>dữ</a:t>
            </a:r>
            <a:r>
              <a:rPr sz="17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700" b="0" i="0" dirty="0" err="1">
                <a:solidFill>
                  <a:srgbClr val="262626"/>
                </a:solidFill>
                <a:latin typeface="Times New Roman"/>
              </a:rPr>
              <a:t>liệu</a:t>
            </a:r>
            <a:r>
              <a:rPr sz="1700" b="0" i="0" dirty="0">
                <a:solidFill>
                  <a:srgbClr val="262626"/>
                </a:solidFill>
                <a:latin typeface="Times New Roman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5806440"/>
            <a:ext cx="1155192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587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400" b="0" i="0">
                <a:solidFill>
                  <a:srgbClr val="7F6000"/>
                </a:solidFill>
                <a:latin typeface="Times New Roman"/>
              </a:rPr>
              <a:t>【Bạn điền: 2–3 câu từ thực tế công việc — sai lệch định giá thường gặp theo phía nào, ai chịu hậu quả trước】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51760" y="91440"/>
            <a:ext cx="6949440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C55A11"/>
                </a:solidFill>
                <a:latin typeface="Times New Roman"/>
              </a:rPr>
              <a:t>Section 1: Bối cảnh &amp; Bài toán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79" y="987552"/>
            <a:ext cx="1182624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 dirty="0" smtClean="0">
                <a:solidFill>
                  <a:srgbClr val="0070C0"/>
                </a:solidFill>
                <a:latin typeface="Times New Roman"/>
              </a:rPr>
              <a:t>❖</a:t>
            </a:r>
            <a:r>
              <a:rPr lang="en-US" sz="2000" b="1" i="0" dirty="0" smtClean="0">
                <a:solidFill>
                  <a:srgbClr val="0070C0"/>
                </a:solidFill>
                <a:latin typeface="Times New Roman"/>
              </a:rPr>
              <a:t> </a:t>
            </a:r>
            <a:r>
              <a:rPr lang="en-US" sz="2000" b="1" i="0" dirty="0" err="1" smtClean="0">
                <a:solidFill>
                  <a:srgbClr val="0070C0"/>
                </a:solidFill>
                <a:latin typeface="Times New Roman"/>
              </a:rPr>
              <a:t>Nhu</a:t>
            </a:r>
            <a:r>
              <a:rPr lang="en-US" sz="2000" b="1" i="0" dirty="0" smtClean="0">
                <a:solidFill>
                  <a:srgbClr val="0070C0"/>
                </a:solidFill>
                <a:latin typeface="Times New Roman"/>
              </a:rPr>
              <a:t> </a:t>
            </a:r>
            <a:r>
              <a:rPr lang="en-US" sz="2000" b="1" i="0" dirty="0" err="1" smtClean="0">
                <a:solidFill>
                  <a:srgbClr val="0070C0"/>
                </a:solidFill>
                <a:latin typeface="Times New Roman"/>
              </a:rPr>
              <a:t>cầu</a:t>
            </a:r>
            <a:r>
              <a:rPr lang="en-US" sz="2000" b="1" i="0" dirty="0" smtClean="0">
                <a:solidFill>
                  <a:srgbClr val="0070C0"/>
                </a:solidFill>
                <a:latin typeface="Times New Roman"/>
              </a:rPr>
              <a:t> </a:t>
            </a:r>
            <a:r>
              <a:rPr lang="en-US" sz="2000" b="1" i="0" dirty="0" err="1" smtClean="0">
                <a:solidFill>
                  <a:srgbClr val="0070C0"/>
                </a:solidFill>
                <a:latin typeface="Times New Roman"/>
              </a:rPr>
              <a:t>từ</a:t>
            </a:r>
            <a:r>
              <a:rPr lang="en-US" sz="2000" b="1" i="0" dirty="0" smtClean="0">
                <a:solidFill>
                  <a:srgbClr val="0070C0"/>
                </a:solidFill>
                <a:latin typeface="Times New Roman"/>
              </a:rPr>
              <a:t> </a:t>
            </a:r>
            <a:r>
              <a:rPr lang="en-US" sz="2000" b="1" i="0" dirty="0" err="1" smtClean="0">
                <a:solidFill>
                  <a:srgbClr val="0070C0"/>
                </a:solidFill>
                <a:latin typeface="Times New Roman"/>
              </a:rPr>
              <a:t>người</a:t>
            </a:r>
            <a:r>
              <a:rPr lang="en-US" sz="2000" b="1" i="0" dirty="0" smtClean="0">
                <a:solidFill>
                  <a:srgbClr val="0070C0"/>
                </a:solidFill>
                <a:latin typeface="Times New Roman"/>
              </a:rPr>
              <a:t> </a:t>
            </a:r>
            <a:r>
              <a:rPr lang="en-US" sz="2000" b="1" i="0" dirty="0" err="1" smtClean="0">
                <a:solidFill>
                  <a:srgbClr val="0070C0"/>
                </a:solidFill>
                <a:latin typeface="Times New Roman"/>
              </a:rPr>
              <a:t>dùng</a:t>
            </a:r>
            <a:endParaRPr sz="2000" b="1" i="0" dirty="0">
              <a:solidFill>
                <a:srgbClr val="0070C0"/>
              </a:solidFill>
              <a:latin typeface="Times New Roman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4244772"/>
              </p:ext>
            </p:extLst>
          </p:nvPr>
        </p:nvGraphicFramePr>
        <p:xfrm>
          <a:off x="320040" y="1591056"/>
          <a:ext cx="7704844" cy="28346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95082"/>
                <a:gridCol w="3875750"/>
                <a:gridCol w="1580274"/>
                <a:gridCol w="1753738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b="1" i="0" dirty="0">
                          <a:solidFill>
                            <a:srgbClr val="FFFFFF"/>
                          </a:solidFill>
                          <a:latin typeface="Times New Roman"/>
                        </a:rPr>
                        <a:t>#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i="0" dirty="0" err="1" smtClean="0">
                          <a:solidFill>
                            <a:srgbClr val="FFFFFF"/>
                          </a:solidFill>
                          <a:latin typeface="Times New Roman"/>
                        </a:rPr>
                        <a:t>Nhu</a:t>
                      </a:r>
                      <a:r>
                        <a:rPr lang="en-US" sz="1400" b="1" i="0" dirty="0" smtClean="0">
                          <a:solidFill>
                            <a:srgbClr val="FFFFFF"/>
                          </a:solidFill>
                          <a:latin typeface="Times New Roman"/>
                        </a:rPr>
                        <a:t> </a:t>
                      </a:r>
                      <a:r>
                        <a:rPr lang="en-US" sz="1400" b="1" i="0" dirty="0" err="1" smtClean="0">
                          <a:solidFill>
                            <a:srgbClr val="FFFFFF"/>
                          </a:solidFill>
                          <a:latin typeface="Times New Roman"/>
                        </a:rPr>
                        <a:t>cầu</a:t>
                      </a:r>
                      <a:endParaRPr sz="1400" b="1" i="0" dirty="0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FFFFFF"/>
                          </a:solidFill>
                          <a:latin typeface="Times New Roman"/>
                        </a:rPr>
                        <a:t>Người</a:t>
                      </a:r>
                      <a:r>
                        <a:rPr sz="1400" b="1" i="0" dirty="0">
                          <a:solidFill>
                            <a:srgbClr val="FFFFFF"/>
                          </a:solidFill>
                          <a:latin typeface="Times New Roman"/>
                        </a:rPr>
                        <a:t> </a:t>
                      </a:r>
                      <a:r>
                        <a:rPr sz="1400" b="1" i="0" dirty="0" err="1">
                          <a:solidFill>
                            <a:srgbClr val="FFFFFF"/>
                          </a:solidFill>
                          <a:latin typeface="Times New Roman"/>
                        </a:rPr>
                        <a:t>dùng</a:t>
                      </a:r>
                      <a:endParaRPr sz="1400" b="1" i="0" dirty="0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FFFFFF"/>
                          </a:solidFill>
                          <a:latin typeface="Times New Roman"/>
                        </a:rPr>
                        <a:t>Bảng</a:t>
                      </a:r>
                      <a:r>
                        <a:rPr sz="1400" b="1" i="0" dirty="0">
                          <a:solidFill>
                            <a:srgbClr val="FFFFFF"/>
                          </a:solidFill>
                          <a:latin typeface="Times New Roman"/>
                        </a:rPr>
                        <a:t> Gold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Q1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Times New Roman"/>
                        </a:rPr>
                        <a:t>Xe X đời Y, N chỗ được định giá bao nhiêu khi </a:t>
                      </a:r>
                      <a:r>
                        <a:rPr sz="1400" b="1" i="0">
                          <a:solidFill>
                            <a:srgbClr val="262626"/>
                          </a:solidFill>
                          <a:latin typeface="Times New Roman"/>
                        </a:rPr>
                        <a:t>mới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Times New Roman"/>
                        </a:rPr>
                        <a:t> và </a:t>
                      </a:r>
                      <a:r>
                        <a:rPr sz="1400" b="1" i="0">
                          <a:solidFill>
                            <a:srgbClr val="262626"/>
                          </a:solidFill>
                          <a:latin typeface="Times New Roman"/>
                        </a:rPr>
                        <a:t>đã qua sử dụng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Times New Roman"/>
                        </a:rPr>
                        <a:t>? Còn lại bao nhiêu % giá trị?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 err="1" smtClean="0">
                          <a:solidFill>
                            <a:srgbClr val="262626"/>
                          </a:solidFill>
                          <a:latin typeface="Times New Roman"/>
                        </a:rPr>
                        <a:t>Nghiệp</a:t>
                      </a:r>
                      <a:r>
                        <a:rPr lang="en-US" sz="1400" b="0" i="0" baseline="0" dirty="0" smtClean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lang="en-US" sz="1400" b="0" i="0" baseline="0" dirty="0" err="1" smtClean="0">
                          <a:solidFill>
                            <a:srgbClr val="262626"/>
                          </a:solidFill>
                          <a:latin typeface="Times New Roman"/>
                        </a:rPr>
                        <a:t>vụ</a:t>
                      </a:r>
                      <a:r>
                        <a:rPr lang="en-US" sz="1400" b="0" i="0" baseline="0" dirty="0" smtClean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lang="en-US" sz="1400" b="0" i="0" baseline="0" dirty="0" err="1" smtClean="0">
                          <a:solidFill>
                            <a:srgbClr val="262626"/>
                          </a:solidFill>
                          <a:latin typeface="Times New Roman"/>
                        </a:rPr>
                        <a:t>Xe</a:t>
                      </a:r>
                      <a:endParaRPr sz="1400" b="0" i="0" dirty="0">
                        <a:solidFill>
                          <a:srgbClr val="262626"/>
                        </a:solidFill>
                        <a:latin typeface="Times New Roman"/>
                      </a:endParaRP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Times New Roman"/>
                        </a:rPr>
                        <a:t>mart_vehicle_price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Q2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Times New Roman"/>
                        </a:rPr>
                        <a:t>Số hợp đồng và giá </a:t>
                      </a:r>
                      <a:r>
                        <a:rPr sz="1400" b="1" i="0">
                          <a:solidFill>
                            <a:srgbClr val="262626"/>
                          </a:solidFill>
                          <a:latin typeface="Times New Roman"/>
                        </a:rPr>
                        <a:t>biến động theo tháng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Times New Roman"/>
                        </a:rPr>
                        <a:t> thế nào, theo hãng và mục đích sử dụng?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 err="1" smtClean="0">
                          <a:solidFill>
                            <a:srgbClr val="262626"/>
                          </a:solidFill>
                          <a:latin typeface="Times New Roman"/>
                        </a:rPr>
                        <a:t>Nghiệp</a:t>
                      </a:r>
                      <a:r>
                        <a:rPr lang="en-US" sz="1400" b="0" i="0" baseline="0" dirty="0" smtClean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lang="en-US" sz="1400" b="0" i="0" baseline="0" dirty="0" err="1" smtClean="0">
                          <a:solidFill>
                            <a:srgbClr val="262626"/>
                          </a:solidFill>
                          <a:latin typeface="Times New Roman"/>
                        </a:rPr>
                        <a:t>vụ</a:t>
                      </a:r>
                      <a:r>
                        <a:rPr lang="en-US" sz="1400" b="0" i="0" baseline="0" dirty="0" smtClean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lang="en-US" sz="1400" b="0" i="0" baseline="0" dirty="0" err="1" smtClean="0">
                          <a:solidFill>
                            <a:srgbClr val="262626"/>
                          </a:solidFill>
                          <a:latin typeface="Times New Roman"/>
                        </a:rPr>
                        <a:t>Xe</a:t>
                      </a:r>
                      <a:endParaRPr lang="en-US" sz="1400" b="0" i="0" dirty="0">
                        <a:solidFill>
                          <a:srgbClr val="262626"/>
                        </a:solidFill>
                        <a:latin typeface="Times New Roman"/>
                      </a:endParaRP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Times New Roman"/>
                        </a:rPr>
                        <a:t>mart_monthly_trend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Q3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Times New Roman"/>
                        </a:rPr>
                        <a:t>Mỗi lô tháng có </a:t>
                      </a:r>
                      <a:r>
                        <a:rPr sz="1400" b="1" i="0">
                          <a:solidFill>
                            <a:srgbClr val="262626"/>
                          </a:solidFill>
                          <a:latin typeface="Times New Roman"/>
                        </a:rPr>
                        <a:t>bao nhiêu dòng bị loại, vì sao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Times New Roman"/>
                        </a:rPr>
                        <a:t>? Kết quả Q1–Q2 có đáng tin không?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 err="1" smtClean="0">
                          <a:solidFill>
                            <a:srgbClr val="262626"/>
                          </a:solidFill>
                          <a:latin typeface="Times New Roman"/>
                        </a:rPr>
                        <a:t>Nghiệp</a:t>
                      </a:r>
                      <a:r>
                        <a:rPr lang="en-US" sz="1400" b="0" i="0" baseline="0" dirty="0" smtClean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lang="en-US" sz="1400" b="0" i="0" baseline="0" dirty="0" err="1" smtClean="0">
                          <a:solidFill>
                            <a:srgbClr val="262626"/>
                          </a:solidFill>
                          <a:latin typeface="Times New Roman"/>
                        </a:rPr>
                        <a:t>vụ</a:t>
                      </a:r>
                      <a:r>
                        <a:rPr lang="en-US" sz="1400" b="0" i="0" baseline="0" dirty="0" smtClean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lang="en-US" sz="1400" b="0" i="0" baseline="0" dirty="0" err="1" smtClean="0">
                          <a:solidFill>
                            <a:srgbClr val="262626"/>
                          </a:solidFill>
                          <a:latin typeface="Times New Roman"/>
                        </a:rPr>
                        <a:t>Xe</a:t>
                      </a:r>
                      <a:endParaRPr lang="en-US" sz="1400" b="0" i="0" dirty="0">
                        <a:solidFill>
                          <a:srgbClr val="262626"/>
                        </a:solidFill>
                        <a:latin typeface="Times New Roman"/>
                      </a:endParaRP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Times New Roman"/>
                        </a:rPr>
                        <a:t>mart_data_quality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Q4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Có</a:t>
                      </a:r>
                      <a:r>
                        <a:rPr sz="14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bảng</a:t>
                      </a:r>
                      <a:r>
                        <a:rPr sz="14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sạch</a:t>
                      </a:r>
                      <a:r>
                        <a:rPr sz="14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, </a:t>
                      </a:r>
                      <a:r>
                        <a:rPr sz="14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đúng</a:t>
                      </a:r>
                      <a:r>
                        <a:rPr sz="14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grain, chia </a:t>
                      </a:r>
                      <a:r>
                        <a:rPr sz="14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sẵn</a:t>
                      </a:r>
                      <a:r>
                        <a:rPr sz="14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train/test </a:t>
                      </a:r>
                      <a:r>
                        <a:rPr sz="14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để</a:t>
                      </a:r>
                      <a:r>
                        <a:rPr sz="14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400" b="1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huấn</a:t>
                      </a:r>
                      <a:r>
                        <a:rPr sz="1400" b="1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400" b="1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luyện</a:t>
                      </a:r>
                      <a:r>
                        <a:rPr sz="1400" b="1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model </a:t>
                      </a:r>
                      <a:r>
                        <a:rPr sz="1400" b="1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dự</a:t>
                      </a:r>
                      <a:r>
                        <a:rPr sz="1400" b="1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400" b="1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đoán</a:t>
                      </a:r>
                      <a:r>
                        <a:rPr sz="1400" b="1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400" b="1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giá</a:t>
                      </a:r>
                      <a:r>
                        <a:rPr sz="14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không</a:t>
                      </a:r>
                      <a:r>
                        <a:rPr sz="14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?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 err="1" smtClean="0">
                          <a:solidFill>
                            <a:srgbClr val="262626"/>
                          </a:solidFill>
                          <a:latin typeface="Times New Roman"/>
                        </a:rPr>
                        <a:t>Định</a:t>
                      </a:r>
                      <a:r>
                        <a:rPr lang="en-US" sz="1400" b="0" i="0" baseline="0" dirty="0" smtClean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lang="en-US" sz="1400" b="0" i="0" baseline="0" dirty="0" err="1" smtClean="0">
                          <a:solidFill>
                            <a:srgbClr val="262626"/>
                          </a:solidFill>
                          <a:latin typeface="Times New Roman"/>
                        </a:rPr>
                        <a:t>phí</a:t>
                      </a:r>
                      <a:endParaRPr sz="1400" b="0" i="0" dirty="0">
                        <a:solidFill>
                          <a:srgbClr val="262626"/>
                        </a:solidFill>
                        <a:latin typeface="Times New Roman"/>
                      </a:endParaRP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mart_ml_training</a:t>
                      </a:r>
                      <a:endParaRPr sz="1400" b="0" i="0" dirty="0">
                        <a:solidFill>
                          <a:srgbClr val="262626"/>
                        </a:solidFill>
                        <a:latin typeface="Times New Roman"/>
                      </a:endParaRP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20040" y="5358384"/>
            <a:ext cx="11440235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587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lang="en-US" sz="1600" dirty="0" err="1" smtClean="0">
                <a:solidFill>
                  <a:srgbClr val="7F6000"/>
                </a:solidFill>
                <a:latin typeface="Times New Roman"/>
              </a:rPr>
              <a:t>Bộ</a:t>
            </a:r>
            <a:r>
              <a:rPr lang="en-US" sz="16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1600" dirty="0" err="1" smtClean="0">
                <a:solidFill>
                  <a:srgbClr val="7F6000"/>
                </a:solidFill>
                <a:latin typeface="Times New Roman"/>
              </a:rPr>
              <a:t>phận</a:t>
            </a:r>
            <a:r>
              <a:rPr lang="en-US" sz="16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1600" dirty="0" err="1" smtClean="0">
                <a:solidFill>
                  <a:srgbClr val="7F6000"/>
                </a:solidFill>
                <a:latin typeface="Times New Roman"/>
              </a:rPr>
              <a:t>định</a:t>
            </a:r>
            <a:r>
              <a:rPr lang="en-US" sz="16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1600" dirty="0" err="1" smtClean="0">
                <a:solidFill>
                  <a:srgbClr val="7F6000"/>
                </a:solidFill>
                <a:latin typeface="Times New Roman"/>
              </a:rPr>
              <a:t>phí</a:t>
            </a:r>
            <a:r>
              <a:rPr lang="en-US" sz="16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1600" dirty="0" err="1" smtClean="0">
                <a:solidFill>
                  <a:srgbClr val="7F6000"/>
                </a:solidFill>
                <a:latin typeface="Times New Roman"/>
              </a:rPr>
              <a:t>cần</a:t>
            </a:r>
            <a:r>
              <a:rPr lang="en-US" sz="16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1600" dirty="0" err="1" smtClean="0">
                <a:solidFill>
                  <a:srgbClr val="7F6000"/>
                </a:solidFill>
                <a:latin typeface="Times New Roman"/>
              </a:rPr>
              <a:t>dữ</a:t>
            </a:r>
            <a:r>
              <a:rPr lang="en-US" sz="16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1600" dirty="0" err="1" smtClean="0">
                <a:solidFill>
                  <a:srgbClr val="7F6000"/>
                </a:solidFill>
                <a:latin typeface="Times New Roman"/>
              </a:rPr>
              <a:t>liệu</a:t>
            </a:r>
            <a:r>
              <a:rPr lang="en-US" sz="16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1600" dirty="0" err="1" smtClean="0">
                <a:solidFill>
                  <a:srgbClr val="7F6000"/>
                </a:solidFill>
                <a:latin typeface="Times New Roman"/>
              </a:rPr>
              <a:t>sạch</a:t>
            </a:r>
            <a:r>
              <a:rPr lang="en-US" sz="16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1600" dirty="0" err="1" smtClean="0">
                <a:solidFill>
                  <a:srgbClr val="7F6000"/>
                </a:solidFill>
                <a:latin typeface="Times New Roman"/>
              </a:rPr>
              <a:t>để</a:t>
            </a:r>
            <a:r>
              <a:rPr lang="en-US" sz="16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1600" dirty="0" err="1" smtClean="0">
                <a:solidFill>
                  <a:srgbClr val="7F6000"/>
                </a:solidFill>
                <a:latin typeface="Times New Roman"/>
              </a:rPr>
              <a:t>đưa</a:t>
            </a:r>
            <a:r>
              <a:rPr lang="en-US" sz="16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1600" dirty="0" err="1" smtClean="0">
                <a:solidFill>
                  <a:srgbClr val="7F6000"/>
                </a:solidFill>
                <a:latin typeface="Times New Roman"/>
              </a:rPr>
              <a:t>vào</a:t>
            </a:r>
            <a:r>
              <a:rPr lang="en-US" sz="1600" dirty="0" smtClean="0">
                <a:solidFill>
                  <a:srgbClr val="7F6000"/>
                </a:solidFill>
                <a:latin typeface="Times New Roman"/>
              </a:rPr>
              <a:t> model </a:t>
            </a:r>
            <a:r>
              <a:rPr lang="en-US" sz="1600" dirty="0" err="1" smtClean="0">
                <a:solidFill>
                  <a:srgbClr val="7F6000"/>
                </a:solidFill>
                <a:latin typeface="Times New Roman"/>
              </a:rPr>
              <a:t>dự</a:t>
            </a:r>
            <a:r>
              <a:rPr lang="en-US" sz="16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1600" dirty="0" err="1" smtClean="0">
                <a:solidFill>
                  <a:srgbClr val="7F6000"/>
                </a:solidFill>
                <a:latin typeface="Times New Roman"/>
              </a:rPr>
              <a:t>đoán</a:t>
            </a:r>
            <a:r>
              <a:rPr lang="en-US" sz="16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1600" dirty="0" err="1" smtClean="0">
                <a:solidFill>
                  <a:srgbClr val="7F6000"/>
                </a:solidFill>
                <a:latin typeface="Times New Roman"/>
              </a:rPr>
              <a:t>giá</a:t>
            </a:r>
            <a:r>
              <a:rPr lang="en-US" sz="16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1600" dirty="0" err="1" smtClean="0">
                <a:solidFill>
                  <a:srgbClr val="7F6000"/>
                </a:solidFill>
                <a:latin typeface="Times New Roman"/>
              </a:rPr>
              <a:t>trị</a:t>
            </a:r>
            <a:r>
              <a:rPr lang="en-US" sz="16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1600" dirty="0" err="1" smtClean="0">
                <a:solidFill>
                  <a:srgbClr val="7F6000"/>
                </a:solidFill>
                <a:latin typeface="Times New Roman"/>
              </a:rPr>
              <a:t>xe</a:t>
            </a:r>
            <a:r>
              <a:rPr lang="en-US" sz="1600" dirty="0" smtClean="0">
                <a:solidFill>
                  <a:srgbClr val="7F6000"/>
                </a:solidFill>
                <a:latin typeface="Times New Roman"/>
              </a:rPr>
              <a:t>. </a:t>
            </a:r>
            <a:r>
              <a:rPr lang="en-US" sz="1600" dirty="0" err="1" smtClean="0">
                <a:solidFill>
                  <a:srgbClr val="7F6000"/>
                </a:solidFill>
                <a:latin typeface="Times New Roman"/>
              </a:rPr>
              <a:t>Độ</a:t>
            </a:r>
            <a:r>
              <a:rPr lang="en-US" sz="16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1600" dirty="0" err="1" smtClean="0">
                <a:solidFill>
                  <a:srgbClr val="7F6000"/>
                </a:solidFill>
                <a:latin typeface="Times New Roman"/>
              </a:rPr>
              <a:t>trễ</a:t>
            </a:r>
            <a:r>
              <a:rPr lang="en-US" sz="16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1600" dirty="0" err="1" smtClean="0">
                <a:solidFill>
                  <a:srgbClr val="7F6000"/>
                </a:solidFill>
                <a:latin typeface="Times New Roman"/>
              </a:rPr>
              <a:t>cho</a:t>
            </a:r>
            <a:r>
              <a:rPr lang="en-US" sz="16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1600" dirty="0" err="1" smtClean="0">
                <a:solidFill>
                  <a:srgbClr val="7F6000"/>
                </a:solidFill>
                <a:latin typeface="Times New Roman"/>
              </a:rPr>
              <a:t>phép</a:t>
            </a:r>
            <a:r>
              <a:rPr lang="en-US" sz="1600" dirty="0" smtClean="0">
                <a:solidFill>
                  <a:srgbClr val="7F6000"/>
                </a:solidFill>
                <a:latin typeface="Times New Roman"/>
              </a:rPr>
              <a:t> 1 </a:t>
            </a:r>
            <a:r>
              <a:rPr lang="en-US" sz="1600" dirty="0" err="1" smtClean="0">
                <a:solidFill>
                  <a:srgbClr val="7F6000"/>
                </a:solidFill>
                <a:latin typeface="Times New Roman"/>
              </a:rPr>
              <a:t>tháng</a:t>
            </a:r>
            <a:r>
              <a:rPr lang="en-US" sz="1600" dirty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1600" dirty="0" err="1" smtClean="0">
                <a:solidFill>
                  <a:srgbClr val="7F6000"/>
                </a:solidFill>
                <a:latin typeface="Times New Roman"/>
              </a:rPr>
              <a:t>và</a:t>
            </a:r>
            <a:r>
              <a:rPr lang="en-US" sz="1600" dirty="0" smtClean="0">
                <a:solidFill>
                  <a:srgbClr val="7F6000"/>
                </a:solidFill>
                <a:latin typeface="Times New Roman"/>
              </a:rPr>
              <a:t> +/- so </a:t>
            </a:r>
            <a:r>
              <a:rPr lang="en-US" sz="1600" dirty="0" err="1" smtClean="0">
                <a:solidFill>
                  <a:srgbClr val="7F6000"/>
                </a:solidFill>
                <a:latin typeface="Times New Roman"/>
              </a:rPr>
              <a:t>với</a:t>
            </a:r>
            <a:r>
              <a:rPr lang="en-US" sz="16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1600" dirty="0" err="1" smtClean="0">
                <a:solidFill>
                  <a:srgbClr val="7F6000"/>
                </a:solidFill>
                <a:latin typeface="Times New Roman"/>
              </a:rPr>
              <a:t>thị</a:t>
            </a:r>
            <a:r>
              <a:rPr lang="en-US" sz="16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1600" dirty="0" err="1" smtClean="0">
                <a:solidFill>
                  <a:srgbClr val="7F6000"/>
                </a:solidFill>
                <a:latin typeface="Times New Roman"/>
              </a:rPr>
              <a:t>trường</a:t>
            </a:r>
            <a:r>
              <a:rPr lang="en-US" sz="16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1600" dirty="0" err="1" smtClean="0">
                <a:solidFill>
                  <a:srgbClr val="7F6000"/>
                </a:solidFill>
                <a:latin typeface="Times New Roman"/>
              </a:rPr>
              <a:t>khoảng</a:t>
            </a:r>
            <a:r>
              <a:rPr lang="en-US" sz="1600" dirty="0" smtClean="0">
                <a:solidFill>
                  <a:srgbClr val="7F6000"/>
                </a:solidFill>
                <a:latin typeface="Times New Roman"/>
              </a:rPr>
              <a:t> 10%</a:t>
            </a:r>
            <a:endParaRPr sz="1600" b="0" i="0" dirty="0">
              <a:solidFill>
                <a:srgbClr val="7F6000"/>
              </a:solidFill>
              <a:latin typeface="Times New Roman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8559875" y="1468397"/>
            <a:ext cx="3200400" cy="3291840"/>
            <a:chOff x="8321039" y="1801368"/>
            <a:chExt cx="3200400" cy="3291840"/>
          </a:xfrm>
        </p:grpSpPr>
        <p:cxnSp>
          <p:nvCxnSpPr>
            <p:cNvPr id="15" name="Connector 9"/>
            <p:cNvCxnSpPr/>
            <p:nvPr/>
          </p:nvCxnSpPr>
          <p:spPr>
            <a:xfrm>
              <a:off x="9921239" y="3858768"/>
              <a:ext cx="0" cy="411480"/>
            </a:xfrm>
            <a:prstGeom prst="line">
              <a:avLst/>
            </a:prstGeom>
            <a:ln w="22225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" name="Group 15"/>
            <p:cNvGrpSpPr/>
            <p:nvPr/>
          </p:nvGrpSpPr>
          <p:grpSpPr>
            <a:xfrm>
              <a:off x="8321039" y="1801368"/>
              <a:ext cx="3200400" cy="3291840"/>
              <a:chOff x="8321039" y="1801368"/>
              <a:chExt cx="3200400" cy="3291840"/>
            </a:xfrm>
          </p:grpSpPr>
          <p:sp>
            <p:nvSpPr>
              <p:cNvPr id="17" name="Rounded Rectangle 16"/>
              <p:cNvSpPr/>
              <p:nvPr/>
            </p:nvSpPr>
            <p:spPr>
              <a:xfrm>
                <a:off x="8321039" y="1801368"/>
                <a:ext cx="3200400" cy="822960"/>
              </a:xfrm>
              <a:prstGeom prst="roundRect">
                <a:avLst>
                  <a:gd name="adj" fmla="val 12000"/>
                </a:avLst>
              </a:prstGeom>
              <a:solidFill>
                <a:srgbClr val="D9D9D9"/>
              </a:solidFill>
              <a:ln w="15875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54864" tIns="27432" rIns="54864" bIns="27432" rtlCol="0" anchor="ctr"/>
              <a:lstStyle/>
              <a:p>
                <a:pPr algn="ctr"/>
                <a:r>
                  <a:rPr sz="1500" b="1" i="0">
                    <a:solidFill>
                      <a:srgbClr val="262626"/>
                    </a:solidFill>
                    <a:latin typeface="Times New Roman"/>
                  </a:rPr>
                  <a:t>CSDL nghiệp vụ</a:t>
                </a:r>
              </a:p>
              <a:p>
                <a:pPr algn="ctr"/>
                <a:r>
                  <a:rPr sz="1300" b="0" i="0">
                    <a:solidFill>
                      <a:srgbClr val="262626"/>
                    </a:solidFill>
                    <a:latin typeface="Times New Roman"/>
                  </a:rPr>
                  <a:t>52 cột thô, có dữ liệu cá nhân</a:t>
                </a:r>
              </a:p>
            </p:txBody>
          </p:sp>
          <p:cxnSp>
            <p:nvCxnSpPr>
              <p:cNvPr id="18" name="Connector 7"/>
              <p:cNvCxnSpPr/>
              <p:nvPr/>
            </p:nvCxnSpPr>
            <p:spPr>
              <a:xfrm>
                <a:off x="9921239" y="2624328"/>
                <a:ext cx="0" cy="411480"/>
              </a:xfrm>
              <a:prstGeom prst="line">
                <a:avLst/>
              </a:prstGeom>
              <a:ln w="22225">
                <a:solidFill>
                  <a:srgbClr val="595959"/>
                </a:solidFill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ounded Rectangle 18"/>
              <p:cNvSpPr/>
              <p:nvPr/>
            </p:nvSpPr>
            <p:spPr>
              <a:xfrm>
                <a:off x="8321039" y="3035808"/>
                <a:ext cx="3200400" cy="822960"/>
              </a:xfrm>
              <a:prstGeom prst="roundRect">
                <a:avLst>
                  <a:gd name="adj" fmla="val 12000"/>
                </a:avLst>
              </a:prstGeom>
              <a:solidFill>
                <a:srgbClr val="FBE5D6"/>
              </a:solidFill>
              <a:ln w="15875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54864" tIns="27432" rIns="54864" bIns="27432" rtlCol="0" anchor="ctr"/>
              <a:lstStyle/>
              <a:p>
                <a:pPr algn="ctr"/>
                <a:r>
                  <a:rPr sz="1500" b="1" i="0">
                    <a:solidFill>
                      <a:srgbClr val="262626"/>
                    </a:solidFill>
                    <a:latin typeface="Times New Roman"/>
                  </a:rPr>
                  <a:t>File bàn giao</a:t>
                </a:r>
              </a:p>
              <a:p>
                <a:pPr algn="ctr"/>
                <a:r>
                  <a:rPr sz="1300" b="0" i="0">
                    <a:solidFill>
                      <a:srgbClr val="262626"/>
                    </a:solidFill>
                    <a:latin typeface="Times New Roman"/>
                  </a:rPr>
                  <a:t>16 cột · CSV tháng + manifest</a:t>
                </a:r>
              </a:p>
            </p:txBody>
          </p:sp>
          <p:sp>
            <p:nvSpPr>
              <p:cNvPr id="20" name="Rounded Rectangle 19"/>
              <p:cNvSpPr/>
              <p:nvPr/>
            </p:nvSpPr>
            <p:spPr>
              <a:xfrm>
                <a:off x="8321039" y="4270248"/>
                <a:ext cx="3200400" cy="822960"/>
              </a:xfrm>
              <a:prstGeom prst="roundRect">
                <a:avLst>
                  <a:gd name="adj" fmla="val 12000"/>
                </a:avLst>
              </a:prstGeom>
              <a:solidFill>
                <a:srgbClr val="DDEBF7"/>
              </a:solidFill>
              <a:ln w="15875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54864" tIns="27432" rIns="54864" bIns="27432" rtlCol="0" anchor="ctr"/>
              <a:lstStyle/>
              <a:p>
                <a:pPr algn="ctr"/>
                <a:r>
                  <a:rPr sz="1500" b="1" i="0" dirty="0">
                    <a:solidFill>
                      <a:srgbClr val="262626"/>
                    </a:solidFill>
                    <a:latin typeface="Times New Roman"/>
                  </a:rPr>
                  <a:t>Pipeline </a:t>
                </a:r>
                <a:endParaRPr lang="en-US" sz="1500" b="1" i="0" dirty="0" smtClean="0">
                  <a:solidFill>
                    <a:srgbClr val="262626"/>
                  </a:solidFill>
                  <a:latin typeface="Times New Roman"/>
                </a:endParaRPr>
              </a:p>
              <a:p>
                <a:pPr algn="ctr"/>
                <a:r>
                  <a:rPr sz="1300" b="0" i="0" dirty="0" smtClean="0">
                    <a:solidFill>
                      <a:srgbClr val="262626"/>
                    </a:solidFill>
                    <a:latin typeface="Times New Roman"/>
                  </a:rPr>
                  <a:t>Landing </a:t>
                </a:r>
                <a:r>
                  <a:rPr sz="1300" b="0" i="0" dirty="0">
                    <a:solidFill>
                      <a:srgbClr val="262626"/>
                    </a:solidFill>
                    <a:latin typeface="Times New Roman"/>
                  </a:rPr>
                  <a:t>→ Bronze → Silver → Gold</a:t>
                </a:r>
              </a:p>
            </p:txBody>
          </p:sp>
        </p:grp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51760" y="91440"/>
            <a:ext cx="6949440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C55A11"/>
                </a:solidFill>
                <a:latin typeface="Times New Roman"/>
              </a:rPr>
              <a:t>Section 1: Bối cảnh &amp; Bài toán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841248"/>
            <a:ext cx="1182624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 dirty="0">
                <a:solidFill>
                  <a:srgbClr val="0070C0"/>
                </a:solidFill>
                <a:latin typeface="Times New Roman"/>
              </a:rPr>
              <a:t>❖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Phạm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vi &amp;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giả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</a:t>
            </a:r>
            <a:r>
              <a:rPr sz="2000" b="1" i="0" dirty="0" err="1" smtClean="0">
                <a:solidFill>
                  <a:srgbClr val="0070C0"/>
                </a:solidFill>
                <a:latin typeface="Times New Roman"/>
              </a:rPr>
              <a:t>địn</a:t>
            </a:r>
            <a:r>
              <a:rPr lang="en-US" sz="2000" b="1" i="0" dirty="0" err="1" smtClean="0">
                <a:solidFill>
                  <a:srgbClr val="0070C0"/>
                </a:solidFill>
                <a:latin typeface="Times New Roman"/>
              </a:rPr>
              <a:t>h</a:t>
            </a:r>
            <a:endParaRPr sz="2000" b="1" i="0" dirty="0">
              <a:solidFill>
                <a:srgbClr val="0070C0"/>
              </a:solidFill>
              <a:latin typeface="Times New Roman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320040" y="1298448"/>
            <a:ext cx="2560320" cy="841248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262626"/>
                </a:solidFill>
                <a:latin typeface="Times New Roman"/>
              </a:rPr>
              <a:t>Trong phạm 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1445151"/>
            <a:ext cx="8808720" cy="547842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Từ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landing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trở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đi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lang="en-US" sz="1600" b="0" i="0" dirty="0" smtClean="0">
                <a:solidFill>
                  <a:srgbClr val="262626"/>
                </a:solidFill>
                <a:latin typeface="Times New Roman"/>
              </a:rPr>
              <a:t>(</a:t>
            </a:r>
            <a:r>
              <a:rPr sz="1600" b="0" i="0" dirty="0" smtClean="0">
                <a:solidFill>
                  <a:srgbClr val="262626"/>
                </a:solidFill>
                <a:latin typeface="Times New Roman"/>
              </a:rPr>
              <a:t>data contract</a:t>
            </a:r>
            <a:r>
              <a:rPr lang="en-US" sz="1600" b="0" i="0" dirty="0" smtClean="0">
                <a:solidFill>
                  <a:srgbClr val="262626"/>
                </a:solidFill>
                <a:latin typeface="Times New Roman"/>
              </a:rPr>
              <a:t>)</a:t>
            </a:r>
            <a:r>
              <a:rPr sz="1600" b="0" i="0" dirty="0" smtClean="0">
                <a:solidFill>
                  <a:srgbClr val="262626"/>
                </a:solidFill>
                <a:latin typeface="Times New Roman"/>
              </a:rPr>
              <a:t>,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cổng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kiểm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tra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lô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,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nạp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incremental + idempotent,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làm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sạch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+ quarantine, star schema, mart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phân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tích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,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bảng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đặc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trưng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ML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kèm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contract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đầu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ra.</a:t>
            </a:r>
            <a:endParaRPr sz="1600" b="0" i="0" dirty="0">
              <a:solidFill>
                <a:srgbClr val="262626"/>
              </a:solidFill>
              <a:latin typeface="Times New Roman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20040" y="2286000"/>
            <a:ext cx="2560320" cy="841248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262626"/>
                </a:solidFill>
                <a:latin typeface="Times New Roman"/>
              </a:rPr>
              <a:t>Ngoài phạm vi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2555813"/>
            <a:ext cx="8808720" cy="301621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Cách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trích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dữ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liệu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từ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CSDL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nghiệp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vụ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lang="en-US" sz="1600" b="0" i="0" dirty="0" smtClean="0">
                <a:solidFill>
                  <a:srgbClr val="262626"/>
                </a:solidFill>
                <a:latin typeface="Times New Roman"/>
              </a:rPr>
              <a:t>,</a:t>
            </a:r>
            <a:r>
              <a:rPr sz="1600" b="0" i="0" dirty="0" smtClean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huấn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luyện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smtClean="0">
                <a:solidFill>
                  <a:srgbClr val="262626"/>
                </a:solidFill>
                <a:latin typeface="Times New Roman"/>
              </a:rPr>
              <a:t>model</a:t>
            </a:r>
            <a:r>
              <a:rPr lang="en-US" sz="1600" b="0" i="0" dirty="0" smtClean="0">
                <a:solidFill>
                  <a:srgbClr val="262626"/>
                </a:solidFill>
                <a:latin typeface="Times New Roman"/>
              </a:rPr>
              <a:t>, </a:t>
            </a:r>
            <a:r>
              <a:rPr sz="1600" b="0" i="0" dirty="0" smtClean="0">
                <a:solidFill>
                  <a:srgbClr val="262626"/>
                </a:solidFill>
                <a:latin typeface="Times New Roman"/>
              </a:rPr>
              <a:t>dashboard </a:t>
            </a:r>
            <a:r>
              <a:rPr lang="en-US" sz="1600" b="0" i="0" dirty="0" smtClean="0">
                <a:solidFill>
                  <a:srgbClr val="262626"/>
                </a:solidFill>
                <a:latin typeface="Times New Roman"/>
              </a:rPr>
              <a:t>,</a:t>
            </a:r>
            <a:r>
              <a:rPr sz="1600" b="0" i="0" dirty="0" smtClean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tích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hợp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vào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hệ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thống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cấp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đơn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3273552"/>
            <a:ext cx="2560320" cy="841248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262626"/>
                </a:solidFill>
                <a:latin typeface="Times New Roman"/>
              </a:rPr>
              <a:t>Giả định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3543365"/>
            <a:ext cx="8808720" cy="301621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 dirty="0">
                <a:solidFill>
                  <a:srgbClr val="262626"/>
                </a:solidFill>
                <a:latin typeface="Times New Roman"/>
              </a:rPr>
              <a:t>Ban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Nghiệp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vụ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Xe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bàn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giao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1" i="0" dirty="0">
                <a:solidFill>
                  <a:srgbClr val="262626"/>
                </a:solidFill>
                <a:latin typeface="Times New Roman"/>
              </a:rPr>
              <a:t>1 </a:t>
            </a:r>
            <a:r>
              <a:rPr sz="1600" b="1" i="0" dirty="0" err="1">
                <a:solidFill>
                  <a:srgbClr val="262626"/>
                </a:solidFill>
                <a:latin typeface="Times New Roman"/>
              </a:rPr>
              <a:t>lô</a:t>
            </a:r>
            <a:r>
              <a:rPr sz="1600" b="1" i="0" dirty="0">
                <a:solidFill>
                  <a:srgbClr val="262626"/>
                </a:solidFill>
                <a:latin typeface="Times New Roman"/>
              </a:rPr>
              <a:t>/</a:t>
            </a:r>
            <a:r>
              <a:rPr sz="1600" b="1" i="0" dirty="0" err="1">
                <a:solidFill>
                  <a:srgbClr val="262626"/>
                </a:solidFill>
                <a:latin typeface="Times New Roman"/>
              </a:rPr>
              <a:t>tháng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kèm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manifest,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trước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ngày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05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tháng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kế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tiếp</a:t>
            </a:r>
            <a:r>
              <a:rPr sz="1600" b="0" i="0" dirty="0" smtClean="0">
                <a:solidFill>
                  <a:srgbClr val="262626"/>
                </a:solidFill>
                <a:latin typeface="Times New Roman"/>
              </a:rPr>
              <a:t>.</a:t>
            </a:r>
            <a:endParaRPr sz="1600" b="0" i="0" dirty="0">
              <a:solidFill>
                <a:srgbClr val="262626"/>
              </a:solidFill>
              <a:latin typeface="Times New Roman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20040" y="4261104"/>
            <a:ext cx="2560320" cy="84124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262626"/>
                </a:solidFill>
                <a:latin typeface="Times New Roman"/>
              </a:rPr>
              <a:t>Không thay thế con người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4261104"/>
            <a:ext cx="8808720" cy="8412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Số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liệu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là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đầu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vào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tham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khảo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;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quyết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định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định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giá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vẫn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thuộc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thẩm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định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viên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5486400"/>
            <a:ext cx="11551920" cy="914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587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lang="en-US" sz="2000" b="0" i="0" dirty="0" err="1" smtClean="0">
                <a:solidFill>
                  <a:srgbClr val="7F6000"/>
                </a:solidFill>
                <a:latin typeface="Times New Roman"/>
              </a:rPr>
              <a:t>Mục</a:t>
            </a:r>
            <a:r>
              <a:rPr lang="en-US" sz="2000" b="0" i="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2000" b="0" i="0" dirty="0" err="1" smtClean="0">
                <a:solidFill>
                  <a:srgbClr val="7F6000"/>
                </a:solidFill>
                <a:latin typeface="Times New Roman"/>
              </a:rPr>
              <a:t>tiêu</a:t>
            </a:r>
            <a:r>
              <a:rPr lang="en-US" sz="2000" b="0" i="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2000" b="0" i="0" dirty="0" err="1" smtClean="0">
                <a:solidFill>
                  <a:srgbClr val="7F6000"/>
                </a:solidFill>
                <a:latin typeface="Times New Roman"/>
              </a:rPr>
              <a:t>xây</a:t>
            </a:r>
            <a:r>
              <a:rPr lang="en-US" sz="2000" b="0" i="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2000" b="0" i="0" dirty="0" err="1" smtClean="0">
                <a:solidFill>
                  <a:srgbClr val="7F6000"/>
                </a:solidFill>
                <a:latin typeface="Times New Roman"/>
              </a:rPr>
              <a:t>dựng</a:t>
            </a:r>
            <a:r>
              <a:rPr lang="en-US" sz="2000" b="0" i="0" dirty="0" smtClean="0">
                <a:solidFill>
                  <a:srgbClr val="7F6000"/>
                </a:solidFill>
                <a:latin typeface="Times New Roman"/>
              </a:rPr>
              <a:t> data pipeline </a:t>
            </a:r>
            <a:r>
              <a:rPr lang="en-US" sz="2000" b="0" i="0" dirty="0" err="1" smtClean="0">
                <a:solidFill>
                  <a:srgbClr val="7F6000"/>
                </a:solidFill>
                <a:latin typeface="Times New Roman"/>
              </a:rPr>
              <a:t>kết</a:t>
            </a:r>
            <a:r>
              <a:rPr lang="en-US" sz="2000" b="0" i="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2000" b="0" i="0" dirty="0" err="1" smtClean="0">
                <a:solidFill>
                  <a:srgbClr val="7F6000"/>
                </a:solidFill>
                <a:latin typeface="Times New Roman"/>
              </a:rPr>
              <a:t>hợp</a:t>
            </a:r>
            <a:r>
              <a:rPr lang="en-US" sz="2000" b="0" i="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2000" b="0" i="0" dirty="0" err="1" smtClean="0">
                <a:solidFill>
                  <a:srgbClr val="7F6000"/>
                </a:solidFill>
                <a:latin typeface="Times New Roman"/>
              </a:rPr>
              <a:t>mô</a:t>
            </a:r>
            <a:r>
              <a:rPr lang="en-US" sz="2000" b="0" i="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2000" b="0" i="0" dirty="0" err="1" smtClean="0">
                <a:solidFill>
                  <a:srgbClr val="7F6000"/>
                </a:solidFill>
                <a:latin typeface="Times New Roman"/>
              </a:rPr>
              <a:t>hình</a:t>
            </a:r>
            <a:r>
              <a:rPr lang="en-US" sz="2000" b="0" i="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2000" b="0" i="0" dirty="0" err="1" smtClean="0">
                <a:solidFill>
                  <a:srgbClr val="7F6000"/>
                </a:solidFill>
                <a:latin typeface="Times New Roman"/>
              </a:rPr>
              <a:t>dự</a:t>
            </a:r>
            <a:r>
              <a:rPr lang="en-US" sz="2000" b="0" i="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2000" b="0" i="0" dirty="0" err="1" smtClean="0">
                <a:solidFill>
                  <a:srgbClr val="7F6000"/>
                </a:solidFill>
                <a:latin typeface="Times New Roman"/>
              </a:rPr>
              <a:t>đoán</a:t>
            </a:r>
            <a:r>
              <a:rPr lang="en-US" sz="2000" b="0" i="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2000" b="0" i="0" dirty="0" err="1" smtClean="0">
                <a:solidFill>
                  <a:srgbClr val="7F6000"/>
                </a:solidFill>
                <a:latin typeface="Times New Roman"/>
              </a:rPr>
              <a:t>nhầm</a:t>
            </a:r>
            <a:r>
              <a:rPr lang="en-US" sz="2000" b="0" i="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2000" b="0" i="0" dirty="0" err="1" smtClean="0">
                <a:solidFill>
                  <a:srgbClr val="7F6000"/>
                </a:solidFill>
                <a:latin typeface="Times New Roman"/>
              </a:rPr>
              <a:t>đáp</a:t>
            </a:r>
            <a:r>
              <a:rPr lang="en-US" sz="2000" b="0" i="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2000" b="0" i="0" dirty="0" err="1" smtClean="0">
                <a:solidFill>
                  <a:srgbClr val="7F6000"/>
                </a:solidFill>
                <a:latin typeface="Times New Roman"/>
              </a:rPr>
              <a:t>ứng</a:t>
            </a:r>
            <a:r>
              <a:rPr lang="en-US" sz="2000" b="0" i="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2000" b="0" i="0" dirty="0" err="1" smtClean="0">
                <a:solidFill>
                  <a:srgbClr val="7F6000"/>
                </a:solidFill>
                <a:latin typeface="Times New Roman"/>
              </a:rPr>
              <a:t>nhu</a:t>
            </a:r>
            <a:r>
              <a:rPr lang="en-US" sz="2000" b="0" i="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2000" b="0" i="0" dirty="0" err="1" smtClean="0">
                <a:solidFill>
                  <a:srgbClr val="7F6000"/>
                </a:solidFill>
                <a:latin typeface="Times New Roman"/>
              </a:rPr>
              <a:t>cầu</a:t>
            </a:r>
            <a:r>
              <a:rPr lang="en-US" sz="2000" b="0" i="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2000" b="0" i="0" dirty="0" err="1" smtClean="0">
                <a:solidFill>
                  <a:srgbClr val="7F6000"/>
                </a:solidFill>
                <a:latin typeface="Times New Roman"/>
              </a:rPr>
              <a:t>kinh</a:t>
            </a:r>
            <a:r>
              <a:rPr lang="en-US" sz="2000" b="0" i="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2000" b="0" i="0" dirty="0" err="1" smtClean="0">
                <a:solidFill>
                  <a:srgbClr val="7F6000"/>
                </a:solidFill>
                <a:latin typeface="Times New Roman"/>
              </a:rPr>
              <a:t>doanh</a:t>
            </a:r>
            <a:r>
              <a:rPr lang="en-US" sz="2000" b="0" i="0" dirty="0" smtClean="0">
                <a:solidFill>
                  <a:srgbClr val="7F6000"/>
                </a:solidFill>
                <a:latin typeface="Times New Roman"/>
              </a:rPr>
              <a:t> (</a:t>
            </a:r>
            <a:r>
              <a:rPr lang="en-US" sz="2000" dirty="0" err="1" smtClean="0">
                <a:solidFill>
                  <a:srgbClr val="7F6000"/>
                </a:solidFill>
                <a:latin typeface="Times New Roman"/>
              </a:rPr>
              <a:t>Bảo</a:t>
            </a:r>
            <a:r>
              <a:rPr lang="en-US" sz="20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2000" dirty="0" err="1" smtClean="0">
                <a:solidFill>
                  <a:srgbClr val="7F6000"/>
                </a:solidFill>
                <a:latin typeface="Times New Roman"/>
              </a:rPr>
              <a:t>hiểm</a:t>
            </a:r>
            <a:r>
              <a:rPr lang="en-US" sz="20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2000" dirty="0" err="1" smtClean="0">
                <a:solidFill>
                  <a:srgbClr val="7F6000"/>
                </a:solidFill>
                <a:latin typeface="Times New Roman"/>
              </a:rPr>
              <a:t>số</a:t>
            </a:r>
            <a:r>
              <a:rPr lang="en-US" sz="2000" dirty="0" smtClean="0">
                <a:solidFill>
                  <a:srgbClr val="7F6000"/>
                </a:solidFill>
                <a:latin typeface="Times New Roman"/>
              </a:rPr>
              <a:t> - </a:t>
            </a:r>
            <a:r>
              <a:rPr lang="en-US" sz="2000" dirty="0" err="1" smtClean="0">
                <a:solidFill>
                  <a:srgbClr val="7F6000"/>
                </a:solidFill>
                <a:latin typeface="Times New Roman"/>
              </a:rPr>
              <a:t>Insurtech</a:t>
            </a:r>
            <a:r>
              <a:rPr lang="en-US" sz="2000" dirty="0" smtClean="0">
                <a:solidFill>
                  <a:srgbClr val="7F6000"/>
                </a:solidFill>
                <a:latin typeface="Times New Roman"/>
              </a:rPr>
              <a:t>) </a:t>
            </a:r>
            <a:r>
              <a:rPr lang="en-US" sz="2000" dirty="0" err="1" smtClean="0">
                <a:solidFill>
                  <a:srgbClr val="7F6000"/>
                </a:solidFill>
                <a:latin typeface="Times New Roman"/>
              </a:rPr>
              <a:t>mà</a:t>
            </a:r>
            <a:r>
              <a:rPr lang="en-US" sz="20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2000" dirty="0" err="1" smtClean="0">
                <a:solidFill>
                  <a:srgbClr val="7F6000"/>
                </a:solidFill>
                <a:latin typeface="Times New Roman"/>
              </a:rPr>
              <a:t>không</a:t>
            </a:r>
            <a:r>
              <a:rPr lang="en-US" sz="20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2000" dirty="0" err="1" smtClean="0">
                <a:solidFill>
                  <a:srgbClr val="7F6000"/>
                </a:solidFill>
                <a:latin typeface="Times New Roman"/>
              </a:rPr>
              <a:t>còn</a:t>
            </a:r>
            <a:r>
              <a:rPr lang="en-US" sz="20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2000" dirty="0" err="1" smtClean="0">
                <a:solidFill>
                  <a:srgbClr val="7F6000"/>
                </a:solidFill>
                <a:latin typeface="Times New Roman"/>
              </a:rPr>
              <a:t>sự</a:t>
            </a:r>
            <a:r>
              <a:rPr lang="en-US" sz="20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2000" dirty="0" err="1" smtClean="0">
                <a:solidFill>
                  <a:srgbClr val="7F6000"/>
                </a:solidFill>
                <a:latin typeface="Times New Roman"/>
              </a:rPr>
              <a:t>tham</a:t>
            </a:r>
            <a:r>
              <a:rPr lang="en-US" sz="20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2000" dirty="0" err="1" smtClean="0">
                <a:solidFill>
                  <a:srgbClr val="7F6000"/>
                </a:solidFill>
                <a:latin typeface="Times New Roman"/>
              </a:rPr>
              <a:t>gia</a:t>
            </a:r>
            <a:r>
              <a:rPr lang="en-US" sz="20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2000" dirty="0" err="1" smtClean="0">
                <a:solidFill>
                  <a:srgbClr val="7F6000"/>
                </a:solidFill>
                <a:latin typeface="Times New Roman"/>
              </a:rPr>
              <a:t>của</a:t>
            </a:r>
            <a:r>
              <a:rPr lang="en-US" sz="20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2000" dirty="0" err="1" smtClean="0">
                <a:solidFill>
                  <a:srgbClr val="7F6000"/>
                </a:solidFill>
                <a:latin typeface="Times New Roman"/>
              </a:rPr>
              <a:t>thẩm</a:t>
            </a:r>
            <a:r>
              <a:rPr lang="en-US" sz="20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2000" dirty="0" err="1" smtClean="0">
                <a:solidFill>
                  <a:srgbClr val="7F6000"/>
                </a:solidFill>
                <a:latin typeface="Times New Roman"/>
              </a:rPr>
              <a:t>định</a:t>
            </a:r>
            <a:r>
              <a:rPr lang="en-US" sz="20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2000" dirty="0" err="1" smtClean="0">
                <a:solidFill>
                  <a:srgbClr val="7F6000"/>
                </a:solidFill>
                <a:latin typeface="Times New Roman"/>
              </a:rPr>
              <a:t>viên</a:t>
            </a:r>
            <a:r>
              <a:rPr lang="en-US" sz="20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2000" dirty="0" err="1" smtClean="0">
                <a:solidFill>
                  <a:srgbClr val="7F6000"/>
                </a:solidFill>
                <a:latin typeface="Times New Roman"/>
              </a:rPr>
              <a:t>vào</a:t>
            </a:r>
            <a:r>
              <a:rPr lang="en-US" sz="20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2000" dirty="0" err="1" smtClean="0">
                <a:solidFill>
                  <a:srgbClr val="7F6000"/>
                </a:solidFill>
                <a:latin typeface="Times New Roman"/>
              </a:rPr>
              <a:t>khâu</a:t>
            </a:r>
            <a:r>
              <a:rPr lang="en-US" sz="20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2000" dirty="0" err="1" smtClean="0">
                <a:solidFill>
                  <a:srgbClr val="7F6000"/>
                </a:solidFill>
                <a:latin typeface="Times New Roman"/>
              </a:rPr>
              <a:t>cấp</a:t>
            </a:r>
            <a:r>
              <a:rPr lang="en-US" sz="2000" dirty="0" smtClean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2000" dirty="0" err="1" smtClean="0">
                <a:solidFill>
                  <a:srgbClr val="7F6000"/>
                </a:solidFill>
                <a:latin typeface="Times New Roman"/>
              </a:rPr>
              <a:t>đơn</a:t>
            </a:r>
            <a:r>
              <a:rPr lang="en-US" sz="2000" dirty="0">
                <a:solidFill>
                  <a:srgbClr val="7F6000"/>
                </a:solidFill>
                <a:latin typeface="Times New Roman"/>
              </a:rPr>
              <a:t> </a:t>
            </a:r>
            <a:r>
              <a:rPr lang="en-US" sz="2000" dirty="0" smtClean="0">
                <a:solidFill>
                  <a:srgbClr val="7F6000"/>
                </a:solidFill>
                <a:latin typeface="Times New Roman"/>
              </a:rPr>
              <a:t>Online.</a:t>
            </a:r>
            <a:endParaRPr sz="2000" b="0" i="0" dirty="0">
              <a:solidFill>
                <a:srgbClr val="7F6000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133856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6000" b="1" i="0">
                <a:solidFill>
                  <a:srgbClr val="FFFFFF"/>
                </a:solidFill>
                <a:latin typeface="Times New Roman"/>
              </a:rPr>
              <a:t>Outline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" y="1481328"/>
            <a:ext cx="5577840" cy="960120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15875">
            <a:solidFill>
              <a:srgbClr val="C0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Bối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</a:t>
            </a:r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cảnh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&amp; </a:t>
            </a:r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Bài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</a:t>
            </a:r>
            <a:r>
              <a:rPr sz="2600" b="0" i="0" dirty="0" err="1" smtClean="0">
                <a:solidFill>
                  <a:srgbClr val="C55A11"/>
                </a:solidFill>
                <a:latin typeface="Times New Roman"/>
              </a:rPr>
              <a:t>toán</a:t>
            </a:r>
            <a:endParaRPr sz="2600" b="0" i="0" dirty="0">
              <a:solidFill>
                <a:srgbClr val="C55A11"/>
              </a:solidFill>
              <a:latin typeface="Times New Roman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76072" y="1325880"/>
            <a:ext cx="1463040" cy="310896"/>
          </a:xfrm>
          <a:prstGeom prst="roundRect">
            <a:avLst>
              <a:gd name="adj" fmla="val 12000"/>
            </a:avLst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0" i="0">
                <a:solidFill>
                  <a:srgbClr val="FFFFFF"/>
                </a:solidFill>
                <a:latin typeface="Times New Roman"/>
              </a:rPr>
              <a:t>SECTION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807208"/>
            <a:ext cx="6126480" cy="960120"/>
          </a:xfrm>
          <a:prstGeom prst="roundRect">
            <a:avLst>
              <a:gd name="adj" fmla="val 12000"/>
            </a:avLst>
          </a:prstGeom>
          <a:solidFill>
            <a:srgbClr val="F4B183"/>
          </a:solidFill>
          <a:ln w="31750">
            <a:solidFill>
              <a:srgbClr val="C0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i="0" dirty="0" err="1">
                <a:solidFill>
                  <a:srgbClr val="C55A11"/>
                </a:solidFill>
                <a:latin typeface="Times New Roman"/>
              </a:rPr>
              <a:t>Kiến</a:t>
            </a:r>
            <a:r>
              <a:rPr sz="3000" b="1" i="0" dirty="0">
                <a:solidFill>
                  <a:srgbClr val="C55A11"/>
                </a:solidFill>
                <a:latin typeface="Times New Roman"/>
              </a:rPr>
              <a:t> </a:t>
            </a:r>
            <a:r>
              <a:rPr sz="3000" b="1" i="0" dirty="0" err="1">
                <a:solidFill>
                  <a:srgbClr val="C55A11"/>
                </a:solidFill>
                <a:latin typeface="Times New Roman"/>
              </a:rPr>
              <a:t>thức</a:t>
            </a:r>
            <a:r>
              <a:rPr sz="3000" b="1" i="0" dirty="0">
                <a:solidFill>
                  <a:srgbClr val="C55A11"/>
                </a:solidFill>
                <a:latin typeface="Times New Roman"/>
              </a:rPr>
              <a:t> </a:t>
            </a:r>
            <a:r>
              <a:rPr sz="3000" b="1" i="0" dirty="0" err="1" smtClean="0">
                <a:solidFill>
                  <a:srgbClr val="C55A11"/>
                </a:solidFill>
                <a:latin typeface="Times New Roman"/>
              </a:rPr>
              <a:t>nền</a:t>
            </a:r>
            <a:endParaRPr sz="3000" b="1" i="0" dirty="0">
              <a:solidFill>
                <a:srgbClr val="C55A11"/>
              </a:solidFill>
              <a:latin typeface="Times New Roman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76072" y="2651760"/>
            <a:ext cx="1463040" cy="310896"/>
          </a:xfrm>
          <a:prstGeom prst="roundRect">
            <a:avLst>
              <a:gd name="adj" fmla="val 12000"/>
            </a:avLst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Times New Roman"/>
              </a:rPr>
              <a:t>SECTION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4133087"/>
            <a:ext cx="5577840" cy="960120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15875">
            <a:solidFill>
              <a:srgbClr val="C0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Thiết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</a:t>
            </a:r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kế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&amp; </a:t>
            </a:r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Xây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</a:t>
            </a:r>
            <a:r>
              <a:rPr sz="2600" b="0" i="0" dirty="0" err="1" smtClean="0">
                <a:solidFill>
                  <a:srgbClr val="C55A11"/>
                </a:solidFill>
                <a:latin typeface="Times New Roman"/>
              </a:rPr>
              <a:t>dựng</a:t>
            </a:r>
            <a:endParaRPr sz="2600" b="0" i="0" dirty="0">
              <a:solidFill>
                <a:srgbClr val="C55A11"/>
              </a:solidFill>
              <a:latin typeface="Times New Roman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76072" y="3977639"/>
            <a:ext cx="1463040" cy="310896"/>
          </a:xfrm>
          <a:prstGeom prst="roundRect">
            <a:avLst>
              <a:gd name="adj" fmla="val 12000"/>
            </a:avLst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0" i="0">
                <a:solidFill>
                  <a:srgbClr val="FFFFFF"/>
                </a:solidFill>
                <a:latin typeface="Times New Roman"/>
              </a:rPr>
              <a:t>SECTION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458968"/>
            <a:ext cx="5577840" cy="960120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15875">
            <a:solidFill>
              <a:srgbClr val="C0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Kết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</a:t>
            </a:r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quả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&amp; </a:t>
            </a:r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Đánh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</a:t>
            </a:r>
            <a:r>
              <a:rPr sz="2600" b="0" i="0" dirty="0" err="1" smtClean="0">
                <a:solidFill>
                  <a:srgbClr val="C55A11"/>
                </a:solidFill>
                <a:latin typeface="Times New Roman"/>
              </a:rPr>
              <a:t>giá</a:t>
            </a:r>
            <a:endParaRPr sz="2600" b="0" i="0" dirty="0">
              <a:solidFill>
                <a:srgbClr val="C55A11"/>
              </a:solidFill>
              <a:latin typeface="Times New Roman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76072" y="5303520"/>
            <a:ext cx="1463040" cy="310896"/>
          </a:xfrm>
          <a:prstGeom prst="roundRect">
            <a:avLst>
              <a:gd name="adj" fmla="val 12000"/>
            </a:avLst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0" i="0">
                <a:solidFill>
                  <a:srgbClr val="FFFFFF"/>
                </a:solidFill>
                <a:latin typeface="Times New Roman"/>
              </a:rPr>
              <a:t>SECTION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9480" y="3017520"/>
            <a:ext cx="960120" cy="822960"/>
          </a:xfrm>
          <a:prstGeom prst="roundRect">
            <a:avLst>
              <a:gd name="adj" fmla="val 12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i="0">
                <a:solidFill>
                  <a:srgbClr val="262626"/>
                </a:solidFill>
                <a:latin typeface="Times New Roman"/>
              </a:rPr>
              <a:t>Landing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0" y="3429000"/>
            <a:ext cx="274320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503920" y="3017520"/>
            <a:ext cx="960120" cy="822960"/>
          </a:xfrm>
          <a:prstGeom prst="roundRect">
            <a:avLst>
              <a:gd name="adj" fmla="val 12000"/>
            </a:avLst>
          </a:prstGeom>
          <a:solidFill>
            <a:srgbClr val="C98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Times New Roman"/>
              </a:rPr>
              <a:t>Bronze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64040" y="3429000"/>
            <a:ext cx="274320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38360" y="3017520"/>
            <a:ext cx="960120" cy="822960"/>
          </a:xfrm>
          <a:prstGeom prst="roundRect">
            <a:avLst>
              <a:gd name="adj" fmla="val 12000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i="0">
                <a:solidFill>
                  <a:srgbClr val="262626"/>
                </a:solidFill>
                <a:latin typeface="Times New Roman"/>
              </a:rPr>
              <a:t>Silver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698480" y="3429000"/>
            <a:ext cx="274320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972800" y="3017520"/>
            <a:ext cx="960120" cy="822960"/>
          </a:xfrm>
          <a:prstGeom prst="roundRect">
            <a:avLst>
              <a:gd name="adj" fmla="val 12000"/>
            </a:avLst>
          </a:prstGeom>
          <a:solidFill>
            <a:srgbClr val="E6B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i="0">
                <a:solidFill>
                  <a:srgbClr val="262626"/>
                </a:solidFill>
                <a:latin typeface="Times New Roman"/>
              </a:rPr>
              <a:t>Gold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931920"/>
            <a:ext cx="466344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 i="1">
                <a:solidFill>
                  <a:srgbClr val="595959"/>
                </a:solidFill>
                <a:latin typeface="Times New Roman"/>
              </a:rPr>
              <a:t>Batch · incremental · idempotent · contract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51760" y="91440"/>
            <a:ext cx="6949440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C55A11"/>
                </a:solidFill>
                <a:latin typeface="Times New Roman"/>
              </a:rPr>
              <a:t>Section 2: Kiến thức nền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841248"/>
            <a:ext cx="1182624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 dirty="0">
                <a:solidFill>
                  <a:srgbClr val="0070C0"/>
                </a:solidFill>
                <a:latin typeface="Times New Roman"/>
              </a:rPr>
              <a:t>❖Data Ingestion: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nguồn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theo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tháng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→ batch, incremental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và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</a:t>
            </a:r>
            <a:r>
              <a:rPr sz="2000" b="1" i="0" dirty="0" smtClean="0">
                <a:solidFill>
                  <a:srgbClr val="0070C0"/>
                </a:solidFill>
                <a:latin typeface="Times New Roman"/>
              </a:rPr>
              <a:t>idempotent</a:t>
            </a:r>
            <a:endParaRPr sz="2000" b="1" i="0" dirty="0">
              <a:solidFill>
                <a:srgbClr val="0070C0"/>
              </a:solidFill>
              <a:latin typeface="Times New Roman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320040" y="1389888"/>
            <a:ext cx="3698240" cy="548640"/>
          </a:xfrm>
          <a:prstGeom prst="roundRect">
            <a:avLst>
              <a:gd name="adj" fmla="val 12000"/>
            </a:avLst>
          </a:prstGeom>
          <a:solidFill>
            <a:srgbClr val="1F5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Times New Roman"/>
              </a:rPr>
              <a:t>Batch vs Streaming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2123992"/>
            <a:ext cx="3698240" cy="2512016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15875">
            <a:solidFill>
              <a:srgbClr val="1F5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>
                <a:solidFill>
                  <a:srgbClr val="262626"/>
                </a:solidFill>
                <a:latin typeface="Times New Roman"/>
              </a:rPr>
              <a:t>Batch: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gom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dữ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liệu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thành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lô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,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xử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lý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theo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lịch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. Streaming: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xử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lý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từng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sự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kiện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ngay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khi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đến</a:t>
            </a:r>
            <a:r>
              <a:rPr sz="1600" b="0" i="0" dirty="0" smtClean="0">
                <a:solidFill>
                  <a:srgbClr val="262626"/>
                </a:solidFill>
                <a:latin typeface="Times New Roman"/>
              </a:rPr>
              <a:t>.</a:t>
            </a:r>
            <a:endParaRPr lang="en-US" sz="1600" b="0" i="0" dirty="0" smtClean="0">
              <a:solidFill>
                <a:srgbClr val="262626"/>
              </a:solidFill>
              <a:latin typeface="Times New Roman"/>
            </a:endParaRPr>
          </a:p>
          <a:p>
            <a:pPr algn="l"/>
            <a:endParaRPr sz="1600" b="0" i="0" dirty="0">
              <a:solidFill>
                <a:srgbClr val="262626"/>
              </a:solidFill>
              <a:latin typeface="Times New Roman"/>
            </a:endParaRPr>
          </a:p>
          <a:p>
            <a:pPr algn="l"/>
            <a:r>
              <a:rPr sz="1600" b="0" i="0" dirty="0">
                <a:solidFill>
                  <a:srgbClr val="262626"/>
                </a:solidFill>
                <a:latin typeface="Times New Roman"/>
              </a:rPr>
              <a:t>→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Nguồn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đến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1" i="0" dirty="0">
                <a:solidFill>
                  <a:srgbClr val="262626"/>
                </a:solidFill>
                <a:latin typeface="Times New Roman"/>
              </a:rPr>
              <a:t>1 </a:t>
            </a:r>
            <a:r>
              <a:rPr sz="1600" b="1" i="0" dirty="0" err="1">
                <a:solidFill>
                  <a:srgbClr val="262626"/>
                </a:solidFill>
                <a:latin typeface="Times New Roman"/>
              </a:rPr>
              <a:t>lô</a:t>
            </a:r>
            <a:r>
              <a:rPr sz="1600" b="1" i="0" dirty="0">
                <a:solidFill>
                  <a:srgbClr val="262626"/>
                </a:solidFill>
                <a:latin typeface="Times New Roman"/>
              </a:rPr>
              <a:t>/</a:t>
            </a:r>
            <a:r>
              <a:rPr sz="1600" b="1" i="0" dirty="0" err="1">
                <a:solidFill>
                  <a:srgbClr val="262626"/>
                </a:solidFill>
                <a:latin typeface="Times New Roman"/>
              </a:rPr>
              <a:t>tháng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nên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batch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là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đủ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;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không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có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lý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do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dùng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streaming.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46880" y="1389888"/>
            <a:ext cx="3698240" cy="548640"/>
          </a:xfrm>
          <a:prstGeom prst="roundRect">
            <a:avLst>
              <a:gd name="adj" fmla="val 12000"/>
            </a:avLst>
          </a:prstGeom>
          <a:solidFill>
            <a:srgbClr val="1F5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Times New Roman"/>
              </a:rPr>
              <a:t>Full load vs Incremental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46880" y="2123992"/>
            <a:ext cx="3698240" cy="2512016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15875">
            <a:solidFill>
              <a:srgbClr val="1F5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>
                <a:solidFill>
                  <a:srgbClr val="262626"/>
                </a:solidFill>
                <a:latin typeface="Times New Roman"/>
              </a:rPr>
              <a:t>Full load: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nạp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lại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toàn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bộ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mỗi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lần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. Incremental: </a:t>
            </a:r>
            <a:r>
              <a:rPr sz="1600" b="1" i="0" dirty="0" err="1">
                <a:solidFill>
                  <a:srgbClr val="262626"/>
                </a:solidFill>
                <a:latin typeface="Times New Roman"/>
              </a:rPr>
              <a:t>chỉ</a:t>
            </a:r>
            <a:r>
              <a:rPr sz="16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1" i="0" dirty="0" err="1">
                <a:solidFill>
                  <a:srgbClr val="262626"/>
                </a:solidFill>
                <a:latin typeface="Times New Roman"/>
              </a:rPr>
              <a:t>nạp</a:t>
            </a:r>
            <a:r>
              <a:rPr sz="16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1" i="0" dirty="0" err="1">
                <a:solidFill>
                  <a:srgbClr val="262626"/>
                </a:solidFill>
                <a:latin typeface="Times New Roman"/>
              </a:rPr>
              <a:t>lô</a:t>
            </a:r>
            <a:r>
              <a:rPr sz="16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1" i="0" dirty="0" err="1">
                <a:solidFill>
                  <a:srgbClr val="262626"/>
                </a:solidFill>
                <a:latin typeface="Times New Roman"/>
              </a:rPr>
              <a:t>mới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chưa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có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trong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sổ</a:t>
            </a:r>
            <a:r>
              <a:rPr sz="1600" b="0" i="0" dirty="0" smtClean="0">
                <a:solidFill>
                  <a:srgbClr val="262626"/>
                </a:solidFill>
                <a:latin typeface="Times New Roman"/>
              </a:rPr>
              <a:t>.</a:t>
            </a:r>
            <a:endParaRPr lang="en-US" sz="1600" b="0" i="0" dirty="0" smtClean="0">
              <a:solidFill>
                <a:srgbClr val="262626"/>
              </a:solidFill>
              <a:latin typeface="Times New Roman"/>
            </a:endParaRPr>
          </a:p>
          <a:p>
            <a:pPr algn="l"/>
            <a:endParaRPr sz="1600" b="0" i="0" dirty="0">
              <a:solidFill>
                <a:srgbClr val="262626"/>
              </a:solidFill>
              <a:latin typeface="Times New Roman"/>
            </a:endParaRPr>
          </a:p>
          <a:p>
            <a:pPr algn="l"/>
            <a:r>
              <a:rPr sz="1600" b="0" i="0" dirty="0">
                <a:solidFill>
                  <a:srgbClr val="262626"/>
                </a:solidFill>
                <a:latin typeface="Times New Roman"/>
              </a:rPr>
              <a:t>→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Sổ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1" i="0" dirty="0">
                <a:solidFill>
                  <a:srgbClr val="262626"/>
                </a:solidFill>
                <a:latin typeface="Times New Roman"/>
              </a:rPr>
              <a:t>loaded_batches.csv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ghi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lô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đã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nạp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;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lần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chạy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sau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bỏ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qua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lô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đó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73720" y="1389888"/>
            <a:ext cx="3698240" cy="548640"/>
          </a:xfrm>
          <a:prstGeom prst="roundRect">
            <a:avLst>
              <a:gd name="adj" fmla="val 12000"/>
            </a:avLst>
          </a:prstGeom>
          <a:solidFill>
            <a:srgbClr val="1F5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Times New Roman"/>
              </a:rPr>
              <a:t>Idempotent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73720" y="2123992"/>
            <a:ext cx="3698240" cy="2512016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15875">
            <a:solidFill>
              <a:srgbClr val="1F5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Chạy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1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lần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hay 10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lần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, </a:t>
            </a:r>
            <a:r>
              <a:rPr sz="1600" b="1" i="0" dirty="0" err="1">
                <a:solidFill>
                  <a:srgbClr val="262626"/>
                </a:solidFill>
                <a:latin typeface="Times New Roman"/>
              </a:rPr>
              <a:t>kết</a:t>
            </a:r>
            <a:r>
              <a:rPr sz="16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1" i="0" dirty="0" err="1">
                <a:solidFill>
                  <a:srgbClr val="262626"/>
                </a:solidFill>
                <a:latin typeface="Times New Roman"/>
              </a:rPr>
              <a:t>quả</a:t>
            </a:r>
            <a:r>
              <a:rPr sz="16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1" i="0" dirty="0" err="1">
                <a:solidFill>
                  <a:srgbClr val="262626"/>
                </a:solidFill>
                <a:latin typeface="Times New Roman"/>
              </a:rPr>
              <a:t>như</a:t>
            </a:r>
            <a:r>
              <a:rPr sz="16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1" i="0" dirty="0" err="1">
                <a:solidFill>
                  <a:srgbClr val="262626"/>
                </a:solidFill>
                <a:latin typeface="Times New Roman"/>
              </a:rPr>
              <a:t>nhau</a:t>
            </a:r>
            <a:r>
              <a:rPr sz="1600" b="0" i="0" dirty="0" smtClean="0">
                <a:solidFill>
                  <a:srgbClr val="262626"/>
                </a:solidFill>
                <a:latin typeface="Times New Roman"/>
              </a:rPr>
              <a:t>.</a:t>
            </a:r>
            <a:endParaRPr lang="en-US" sz="1600" b="0" i="0" dirty="0" smtClean="0">
              <a:solidFill>
                <a:srgbClr val="262626"/>
              </a:solidFill>
              <a:latin typeface="Times New Roman"/>
            </a:endParaRPr>
          </a:p>
          <a:p>
            <a:pPr algn="l"/>
            <a:endParaRPr lang="en-US" sz="1600" dirty="0">
              <a:solidFill>
                <a:srgbClr val="262626"/>
              </a:solidFill>
              <a:latin typeface="Times New Roman"/>
            </a:endParaRPr>
          </a:p>
          <a:p>
            <a:pPr algn="l"/>
            <a:endParaRPr sz="1600" b="0" i="0" dirty="0">
              <a:solidFill>
                <a:srgbClr val="262626"/>
              </a:solidFill>
              <a:latin typeface="Times New Roman"/>
            </a:endParaRPr>
          </a:p>
          <a:p>
            <a:pPr algn="l"/>
            <a:r>
              <a:rPr sz="1600" b="0" i="0" dirty="0">
                <a:solidFill>
                  <a:srgbClr val="262626"/>
                </a:solidFill>
                <a:latin typeface="Times New Roman"/>
              </a:rPr>
              <a:t>→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Điều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kiện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để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dám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chạy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lại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khi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có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sự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cố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mà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không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sinh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bản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trùng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hay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mất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dữ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liệu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4892040"/>
            <a:ext cx="11551920" cy="123444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l"/>
            <a:r>
              <a:rPr sz="1400" b="0" i="0" dirty="0" smtClean="0">
                <a:solidFill>
                  <a:srgbClr val="262626"/>
                </a:solidFill>
                <a:latin typeface="Times New Roman"/>
              </a:rPr>
              <a:t>Ingestion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là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đưa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dữ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liệu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từ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nguồn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vào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hệ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lưu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trữ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phân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tích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một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cách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1" i="0" dirty="0" err="1">
                <a:solidFill>
                  <a:srgbClr val="262626"/>
                </a:solidFill>
                <a:latin typeface="Times New Roman"/>
              </a:rPr>
              <a:t>có</a:t>
            </a:r>
            <a:r>
              <a:rPr sz="14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1" i="0" dirty="0" err="1">
                <a:solidFill>
                  <a:srgbClr val="262626"/>
                </a:solidFill>
                <a:latin typeface="Times New Roman"/>
              </a:rPr>
              <a:t>kiểm</a:t>
            </a:r>
            <a:r>
              <a:rPr sz="14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1" i="0" dirty="0" err="1" smtClean="0">
                <a:solidFill>
                  <a:srgbClr val="262626"/>
                </a:solidFill>
                <a:latin typeface="Times New Roman"/>
              </a:rPr>
              <a:t>soát</a:t>
            </a:r>
            <a:r>
              <a:rPr lang="en-US" dirty="0" smtClean="0">
                <a:solidFill>
                  <a:srgbClr val="262626"/>
                </a:solidFill>
                <a:latin typeface="Times New Roman"/>
              </a:rPr>
              <a:t>, </a:t>
            </a:r>
            <a:r>
              <a:rPr sz="1400" b="0" i="0" dirty="0" err="1" smtClean="0">
                <a:solidFill>
                  <a:srgbClr val="262626"/>
                </a:solidFill>
                <a:latin typeface="Times New Roman"/>
              </a:rPr>
              <a:t>biết</a:t>
            </a:r>
            <a:r>
              <a:rPr sz="1400" b="0" i="0" dirty="0" smtClean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lô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nào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đã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vào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,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vào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lúc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nào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,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và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chạy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lại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không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làm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sai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kết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quả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. </a:t>
            </a:r>
            <a:endParaRPr lang="en-US" sz="1400" b="0" i="0" dirty="0" smtClean="0">
              <a:solidFill>
                <a:srgbClr val="262626"/>
              </a:solidFill>
              <a:latin typeface="Times New Roman"/>
            </a:endParaRPr>
          </a:p>
          <a:p>
            <a:pPr algn="l"/>
            <a:r>
              <a:rPr sz="1400" b="0" i="0" dirty="0" err="1" smtClean="0">
                <a:solidFill>
                  <a:srgbClr val="262626"/>
                </a:solidFill>
                <a:latin typeface="Times New Roman"/>
              </a:rPr>
              <a:t>Với</a:t>
            </a:r>
            <a:r>
              <a:rPr sz="1400" b="0" i="0" dirty="0" smtClean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đề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tài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này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, idempotent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đạt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được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bằng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hai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cơ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chế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: Bronze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tra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sổ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trước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khi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nạp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, Silver/Gold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ghi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đè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(full refresh)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từ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Bronze</a:t>
            </a:r>
            <a:r>
              <a:rPr sz="1400" b="0" i="0" dirty="0" smtClean="0">
                <a:solidFill>
                  <a:srgbClr val="262626"/>
                </a:solidFill>
                <a:latin typeface="Times New Roman"/>
              </a:rPr>
              <a:t>.</a:t>
            </a:r>
            <a:endParaRPr sz="1400" b="0" i="0" dirty="0">
              <a:solidFill>
                <a:srgbClr val="262626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51760" y="91440"/>
            <a:ext cx="6949440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C55A11"/>
                </a:solidFill>
                <a:latin typeface="Times New Roman"/>
              </a:rPr>
              <a:t>Section 2: Kiến thức nền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932688"/>
            <a:ext cx="1182624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 dirty="0">
                <a:solidFill>
                  <a:srgbClr val="0070C0"/>
                </a:solidFill>
                <a:latin typeface="Times New Roman"/>
              </a:rPr>
              <a:t>❖Data </a:t>
            </a:r>
            <a:r>
              <a:rPr sz="2000" b="1" i="0" dirty="0" smtClean="0">
                <a:solidFill>
                  <a:srgbClr val="0070C0"/>
                </a:solidFill>
                <a:latin typeface="Times New Roman"/>
              </a:rPr>
              <a:t>contrac</a:t>
            </a:r>
            <a:r>
              <a:rPr lang="en-US" sz="2000" b="1" i="0" dirty="0" smtClean="0">
                <a:solidFill>
                  <a:srgbClr val="0070C0"/>
                </a:solidFill>
                <a:latin typeface="Times New Roman"/>
              </a:rPr>
              <a:t>t</a:t>
            </a:r>
            <a:endParaRPr sz="2000" b="1" i="0" dirty="0">
              <a:solidFill>
                <a:srgbClr val="0070C0"/>
              </a:solidFill>
              <a:latin typeface="Times New Roman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35279" y="1591056"/>
            <a:ext cx="11060601" cy="54784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 dirty="0">
                <a:solidFill>
                  <a:srgbClr val="262626"/>
                </a:solidFill>
                <a:latin typeface="Times New Roman"/>
              </a:rPr>
              <a:t>• </a:t>
            </a:r>
            <a:r>
              <a:rPr lang="en-US" sz="1600" b="0" i="0" dirty="0" smtClean="0">
                <a:solidFill>
                  <a:srgbClr val="262626"/>
                </a:solidFill>
                <a:latin typeface="Times New Roman"/>
              </a:rPr>
              <a:t>Data </a:t>
            </a:r>
            <a:r>
              <a:rPr sz="1600" b="0" i="0" dirty="0" smtClean="0">
                <a:solidFill>
                  <a:srgbClr val="262626"/>
                </a:solidFill>
                <a:latin typeface="Times New Roman"/>
              </a:rPr>
              <a:t>Contract </a:t>
            </a:r>
            <a:r>
              <a:rPr lang="en-US" sz="1600" dirty="0" err="1" smtClean="0">
                <a:solidFill>
                  <a:srgbClr val="262626"/>
                </a:solidFill>
                <a:latin typeface="Times New Roman"/>
              </a:rPr>
              <a:t>là</a:t>
            </a:r>
            <a:r>
              <a:rPr lang="en-US" sz="1600" dirty="0" smtClean="0">
                <a:solidFill>
                  <a:srgbClr val="262626"/>
                </a:solidFill>
                <a:latin typeface="Times New Roman"/>
              </a:rPr>
              <a:t> </a:t>
            </a:r>
            <a:r>
              <a:rPr lang="en-US" sz="1600" dirty="0" err="1">
                <a:solidFill>
                  <a:srgbClr val="262626"/>
                </a:solidFill>
                <a:latin typeface="Times New Roman"/>
              </a:rPr>
              <a:t>đặc</a:t>
            </a:r>
            <a:r>
              <a:rPr lang="en-US" sz="160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lang="en-US" sz="1600" dirty="0" err="1">
                <a:solidFill>
                  <a:srgbClr val="262626"/>
                </a:solidFill>
                <a:latin typeface="Times New Roman"/>
              </a:rPr>
              <a:t>tả</a:t>
            </a:r>
            <a:r>
              <a:rPr lang="en-US" sz="160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lang="en-US" sz="1600" dirty="0" err="1">
                <a:solidFill>
                  <a:srgbClr val="262626"/>
                </a:solidFill>
                <a:latin typeface="Times New Roman"/>
              </a:rPr>
              <a:t>hình</a:t>
            </a:r>
            <a:r>
              <a:rPr lang="en-US" sz="160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lang="en-US" sz="1600" dirty="0" err="1">
                <a:solidFill>
                  <a:srgbClr val="262626"/>
                </a:solidFill>
                <a:latin typeface="Times New Roman"/>
              </a:rPr>
              <a:t>thức</a:t>
            </a:r>
            <a:r>
              <a:rPr lang="en-US" sz="160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lang="en-US" sz="1600" dirty="0" err="1">
                <a:solidFill>
                  <a:srgbClr val="262626"/>
                </a:solidFill>
                <a:latin typeface="Times New Roman"/>
              </a:rPr>
              <a:t>giữa</a:t>
            </a:r>
            <a:r>
              <a:rPr lang="en-US" sz="160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lang="en-US" sz="1600" dirty="0" err="1">
                <a:solidFill>
                  <a:srgbClr val="262626"/>
                </a:solidFill>
                <a:latin typeface="Times New Roman"/>
              </a:rPr>
              <a:t>bên</a:t>
            </a:r>
            <a:r>
              <a:rPr lang="en-US" sz="160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lang="en-US" sz="1600" dirty="0" err="1">
                <a:solidFill>
                  <a:srgbClr val="262626"/>
                </a:solidFill>
                <a:latin typeface="Times New Roman"/>
              </a:rPr>
              <a:t>cung</a:t>
            </a:r>
            <a:r>
              <a:rPr lang="en-US" sz="160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lang="en-US" sz="1600" dirty="0" err="1">
                <a:solidFill>
                  <a:srgbClr val="262626"/>
                </a:solidFill>
                <a:latin typeface="Times New Roman"/>
              </a:rPr>
              <a:t>cấp</a:t>
            </a:r>
            <a:r>
              <a:rPr lang="en-US" sz="1600" dirty="0">
                <a:solidFill>
                  <a:srgbClr val="262626"/>
                </a:solidFill>
                <a:latin typeface="Times New Roman"/>
              </a:rPr>
              <a:t> (producer) </a:t>
            </a:r>
            <a:r>
              <a:rPr lang="en-US" sz="1600" dirty="0" err="1">
                <a:solidFill>
                  <a:srgbClr val="262626"/>
                </a:solidFill>
                <a:latin typeface="Times New Roman"/>
              </a:rPr>
              <a:t>và</a:t>
            </a:r>
            <a:r>
              <a:rPr lang="en-US" sz="160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lang="en-US" sz="1600" dirty="0" err="1">
                <a:solidFill>
                  <a:srgbClr val="262626"/>
                </a:solidFill>
                <a:latin typeface="Times New Roman"/>
              </a:rPr>
              <a:t>bên</a:t>
            </a:r>
            <a:r>
              <a:rPr lang="en-US" sz="160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lang="en-US" sz="1600" dirty="0" err="1">
                <a:solidFill>
                  <a:srgbClr val="262626"/>
                </a:solidFill>
                <a:latin typeface="Times New Roman"/>
              </a:rPr>
              <a:t>sử</a:t>
            </a:r>
            <a:r>
              <a:rPr lang="en-US" sz="160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lang="en-US" sz="1600" dirty="0" err="1">
                <a:solidFill>
                  <a:srgbClr val="262626"/>
                </a:solidFill>
                <a:latin typeface="Times New Roman"/>
              </a:rPr>
              <a:t>dụng</a:t>
            </a:r>
            <a:r>
              <a:rPr lang="en-US" sz="1600" dirty="0">
                <a:solidFill>
                  <a:srgbClr val="262626"/>
                </a:solidFill>
                <a:latin typeface="Times New Roman"/>
              </a:rPr>
              <a:t> (</a:t>
            </a:r>
            <a:r>
              <a:rPr lang="en-US" sz="1600" dirty="0" smtClean="0">
                <a:solidFill>
                  <a:srgbClr val="262626"/>
                </a:solidFill>
                <a:latin typeface="Times New Roman"/>
              </a:rPr>
              <a:t>consumer), </a:t>
            </a:r>
            <a:r>
              <a:rPr sz="1600" b="0" i="0" dirty="0" err="1" smtClean="0">
                <a:solidFill>
                  <a:srgbClr val="262626"/>
                </a:solidFill>
                <a:latin typeface="Times New Roman"/>
              </a:rPr>
              <a:t>thoả</a:t>
            </a:r>
            <a:r>
              <a:rPr sz="1600" b="0" i="0" dirty="0" smtClean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thuận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1" i="0" dirty="0" err="1">
                <a:solidFill>
                  <a:srgbClr val="262626"/>
                </a:solidFill>
                <a:latin typeface="Times New Roman"/>
              </a:rPr>
              <a:t>kiểm</a:t>
            </a:r>
            <a:r>
              <a:rPr sz="16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1" i="0" dirty="0" err="1">
                <a:solidFill>
                  <a:srgbClr val="262626"/>
                </a:solidFill>
                <a:latin typeface="Times New Roman"/>
              </a:rPr>
              <a:t>được</a:t>
            </a:r>
            <a:r>
              <a:rPr sz="16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1" i="0" dirty="0" err="1">
                <a:solidFill>
                  <a:srgbClr val="262626"/>
                </a:solidFill>
                <a:latin typeface="Times New Roman"/>
              </a:rPr>
              <a:t>bằng</a:t>
            </a:r>
            <a:r>
              <a:rPr sz="16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1" i="0" dirty="0" err="1">
                <a:solidFill>
                  <a:srgbClr val="262626"/>
                </a:solidFill>
                <a:latin typeface="Times New Roman"/>
              </a:rPr>
              <a:t>máy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: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định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dạng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,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cột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,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kiểu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,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khoá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,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nhịp</a:t>
            </a:r>
            <a:r>
              <a:rPr sz="1600" b="0" i="0" dirty="0" smtClean="0">
                <a:solidFill>
                  <a:srgbClr val="262626"/>
                </a:solidFill>
                <a:latin typeface="Times New Roman"/>
              </a:rPr>
              <a:t>,</a:t>
            </a:r>
            <a:r>
              <a:rPr lang="en-US" sz="1600" b="0" i="0" dirty="0" smtClean="0">
                <a:solidFill>
                  <a:srgbClr val="262626"/>
                </a:solidFill>
                <a:latin typeface="Times New Roman"/>
              </a:rPr>
              <a:t> </a:t>
            </a:r>
            <a:r>
              <a:rPr lang="en-US" sz="1600" b="0" i="0" dirty="0" err="1" smtClean="0">
                <a:solidFill>
                  <a:srgbClr val="262626"/>
                </a:solidFill>
                <a:latin typeface="Times New Roman"/>
              </a:rPr>
              <a:t>cập</a:t>
            </a:r>
            <a:r>
              <a:rPr lang="en-US" sz="1600" b="0" i="0" dirty="0" smtClean="0">
                <a:solidFill>
                  <a:srgbClr val="262626"/>
                </a:solidFill>
                <a:latin typeface="Times New Roman"/>
              </a:rPr>
              <a:t> </a:t>
            </a:r>
            <a:r>
              <a:rPr lang="en-US" sz="1600" b="0" i="0" dirty="0" err="1" smtClean="0">
                <a:solidFill>
                  <a:srgbClr val="262626"/>
                </a:solidFill>
                <a:latin typeface="Times New Roman"/>
              </a:rPr>
              <a:t>nhật</a:t>
            </a:r>
            <a:r>
              <a:rPr lang="en-US" sz="1600" b="0" i="0" dirty="0" smtClean="0">
                <a:solidFill>
                  <a:srgbClr val="262626"/>
                </a:solidFill>
                <a:latin typeface="Times New Roman"/>
              </a:rPr>
              <a:t> </a:t>
            </a:r>
            <a:r>
              <a:rPr lang="en-US" sz="1600" b="0" i="0" dirty="0" err="1" smtClean="0">
                <a:solidFill>
                  <a:srgbClr val="262626"/>
                </a:solidFill>
                <a:latin typeface="Times New Roman"/>
              </a:rPr>
              <a:t>dữ</a:t>
            </a:r>
            <a:r>
              <a:rPr lang="en-US" sz="1600" b="0" i="0" dirty="0" smtClean="0">
                <a:solidFill>
                  <a:srgbClr val="262626"/>
                </a:solidFill>
                <a:latin typeface="Times New Roman"/>
              </a:rPr>
              <a:t> </a:t>
            </a:r>
            <a:r>
              <a:rPr lang="en-US" sz="1600" b="0" i="0" dirty="0" err="1" smtClean="0">
                <a:solidFill>
                  <a:srgbClr val="262626"/>
                </a:solidFill>
                <a:latin typeface="Times New Roman"/>
              </a:rPr>
              <a:t>liệu</a:t>
            </a:r>
            <a:endParaRPr sz="1600" b="0" i="0" dirty="0">
              <a:solidFill>
                <a:srgbClr val="262626"/>
              </a:solidFill>
              <a:latin typeface="Times New Roman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5267267"/>
              </p:ext>
            </p:extLst>
          </p:nvPr>
        </p:nvGraphicFramePr>
        <p:xfrm>
          <a:off x="2399276" y="2434090"/>
          <a:ext cx="557784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49400"/>
                <a:gridCol w="402844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 i="0" dirty="0" err="1">
                          <a:solidFill>
                            <a:srgbClr val="FFFFFF"/>
                          </a:solidFill>
                          <a:latin typeface="Times New Roman"/>
                        </a:rPr>
                        <a:t>Câu</a:t>
                      </a:r>
                      <a:r>
                        <a:rPr sz="1300" b="1" i="0" dirty="0">
                          <a:solidFill>
                            <a:srgbClr val="FFFFFF"/>
                          </a:solidFill>
                          <a:latin typeface="Times New Roman"/>
                        </a:rPr>
                        <a:t> </a:t>
                      </a:r>
                      <a:r>
                        <a:rPr sz="1300" b="1" i="0" dirty="0" err="1">
                          <a:solidFill>
                            <a:srgbClr val="FFFFFF"/>
                          </a:solidFill>
                          <a:latin typeface="Times New Roman"/>
                        </a:rPr>
                        <a:t>hỏi</a:t>
                      </a:r>
                      <a:endParaRPr sz="1300" b="1" i="0" dirty="0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</a:rPr>
                        <a:t>Trả lời trong DATA_CONTRACT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Định dạng?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CSV UTF-8 có BOM, partition as_of_month=YYYY-MM + _manifest.json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Schema?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16 cột, đúng thứ tự; Bronze thêm 3 cột kỹ thuật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Khoá?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ma_dinh_gia — duy nhất, không rỗng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Nhịp / SLA?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1 lô/tháng, trước ngày 05 tháng kế tiếp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Luật nghiệm thu?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5 luật REJECT cả lô · 8 luật QUARANTINE từng dòng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lang="en-US" sz="1300" b="1" i="0" dirty="0" err="1" smtClean="0">
                          <a:solidFill>
                            <a:srgbClr val="262626"/>
                          </a:solidFill>
                          <a:latin typeface="Times New Roman"/>
                        </a:rPr>
                        <a:t>Cập</a:t>
                      </a:r>
                      <a:r>
                        <a:rPr lang="en-US" sz="1300" b="1" i="0" dirty="0" smtClean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lang="en-US" sz="1300" b="1" i="0" dirty="0" err="1" smtClean="0">
                          <a:solidFill>
                            <a:srgbClr val="262626"/>
                          </a:solidFill>
                          <a:latin typeface="Times New Roman"/>
                        </a:rPr>
                        <a:t>nhật</a:t>
                      </a:r>
                      <a:r>
                        <a:rPr lang="en-US" sz="1300" b="1" i="0" baseline="0" dirty="0" smtClean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lang="en-US" sz="1300" b="1" i="0" baseline="0" dirty="0" err="1" smtClean="0">
                          <a:solidFill>
                            <a:srgbClr val="262626"/>
                          </a:solidFill>
                          <a:latin typeface="Times New Roman"/>
                        </a:rPr>
                        <a:t>dữ</a:t>
                      </a:r>
                      <a:r>
                        <a:rPr lang="en-US" sz="1300" b="1" i="0" baseline="0" dirty="0" smtClean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lang="en-US" sz="1300" b="1" i="0" baseline="0" dirty="0" err="1" smtClean="0">
                          <a:solidFill>
                            <a:srgbClr val="262626"/>
                          </a:solidFill>
                          <a:latin typeface="Times New Roman"/>
                        </a:rPr>
                        <a:t>liệu</a:t>
                      </a:r>
                      <a:r>
                        <a:rPr sz="1300" b="1" i="0" dirty="0" smtClean="0">
                          <a:solidFill>
                            <a:srgbClr val="262626"/>
                          </a:solidFill>
                          <a:latin typeface="Times New Roman"/>
                        </a:rPr>
                        <a:t>?</a:t>
                      </a:r>
                      <a:endParaRPr sz="1300" b="1" i="0" dirty="0">
                        <a:solidFill>
                          <a:srgbClr val="262626"/>
                        </a:solidFill>
                        <a:latin typeface="Times New Roman"/>
                      </a:endParaRP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Bên</a:t>
                      </a:r>
                      <a:r>
                        <a:rPr sz="13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3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cung</a:t>
                      </a:r>
                      <a:r>
                        <a:rPr sz="13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3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cấp</a:t>
                      </a:r>
                      <a:r>
                        <a:rPr sz="13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3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gửi</a:t>
                      </a:r>
                      <a:r>
                        <a:rPr sz="13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3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lại</a:t>
                      </a:r>
                      <a:r>
                        <a:rPr sz="13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300" b="1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lô</a:t>
                      </a:r>
                      <a:r>
                        <a:rPr sz="1300" b="1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300" b="1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mới</a:t>
                      </a:r>
                      <a:r>
                        <a:rPr sz="13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; pipeline </a:t>
                      </a:r>
                      <a:r>
                        <a:rPr sz="13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không</a:t>
                      </a:r>
                      <a:r>
                        <a:rPr sz="13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3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sửa</a:t>
                      </a:r>
                      <a:r>
                        <a:rPr sz="13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file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51760" y="91440"/>
            <a:ext cx="6949440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C55A11"/>
                </a:solidFill>
                <a:latin typeface="Times New Roman"/>
              </a:rPr>
              <a:t>Section 2: Kiến thức nền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3360" y="969265"/>
            <a:ext cx="1182624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 dirty="0">
                <a:solidFill>
                  <a:srgbClr val="0070C0"/>
                </a:solidFill>
                <a:latin typeface="Times New Roman"/>
              </a:rPr>
              <a:t>❖</a:t>
            </a:r>
            <a:r>
              <a:rPr sz="2000" b="1" i="0" dirty="0" smtClean="0">
                <a:solidFill>
                  <a:srgbClr val="0070C0"/>
                </a:solidFill>
                <a:latin typeface="Times New Roman"/>
              </a:rPr>
              <a:t>Medallion</a:t>
            </a:r>
            <a:endParaRPr sz="2000" b="1" i="0" dirty="0">
              <a:solidFill>
                <a:srgbClr val="0070C0"/>
              </a:solidFill>
              <a:latin typeface="Times New Roman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91056"/>
          <a:ext cx="6766558" cy="2377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84226"/>
                <a:gridCol w="2091482"/>
                <a:gridCol w="984226"/>
                <a:gridCol w="2706624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</a:rPr>
                        <a:t>Tầng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</a:rPr>
                        <a:t>Một câu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</a:rPr>
                        <a:t>Kiểu ghi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</a:rPr>
                        <a:t>Nguyên tắc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Landing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“Nguồn gửi gì, giữ nguyên vậy”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Bất biến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Bronze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“Đã nhận, chưa đụng vào”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append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Mọi cột </a:t>
                      </a:r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string</a:t>
                      </a:r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 + cột kỹ thuật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Silver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“Đúng và nhất quán”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overwrite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Ép kiểu, một đơn vị, </a:t>
                      </a:r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star schema</a:t>
                      </a:r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, quarantine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Gold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“Sẵn sàng để dùng”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overwrite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Chỉ JOIN + GROUP BY, không làm sạch thêm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105656"/>
            <a:ext cx="6766560" cy="48628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 dirty="0">
                <a:solidFill>
                  <a:srgbClr val="262626"/>
                </a:solidFill>
                <a:latin typeface="Times New Roman"/>
              </a:rPr>
              <a:t>• </a:t>
            </a:r>
            <a:r>
              <a:rPr sz="1400" b="1" i="0" dirty="0" err="1">
                <a:solidFill>
                  <a:srgbClr val="262626"/>
                </a:solidFill>
                <a:latin typeface="Times New Roman"/>
              </a:rPr>
              <a:t>Vì</a:t>
            </a:r>
            <a:r>
              <a:rPr sz="14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1" i="0" dirty="0" err="1">
                <a:solidFill>
                  <a:srgbClr val="262626"/>
                </a:solidFill>
                <a:latin typeface="Times New Roman"/>
              </a:rPr>
              <a:t>sao</a:t>
            </a:r>
            <a:r>
              <a:rPr sz="1400" b="1" i="0" dirty="0">
                <a:solidFill>
                  <a:srgbClr val="262626"/>
                </a:solidFill>
                <a:latin typeface="Times New Roman"/>
              </a:rPr>
              <a:t> Bronze </a:t>
            </a:r>
            <a:r>
              <a:rPr sz="1400" b="1" i="0" dirty="0" err="1">
                <a:solidFill>
                  <a:srgbClr val="262626"/>
                </a:solidFill>
                <a:latin typeface="Times New Roman"/>
              </a:rPr>
              <a:t>đọc</a:t>
            </a:r>
            <a:r>
              <a:rPr sz="14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1" i="0" dirty="0" err="1">
                <a:solidFill>
                  <a:srgbClr val="262626"/>
                </a:solidFill>
                <a:latin typeface="Times New Roman"/>
              </a:rPr>
              <a:t>mọi</a:t>
            </a:r>
            <a:r>
              <a:rPr sz="14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1" i="0" dirty="0" err="1">
                <a:solidFill>
                  <a:srgbClr val="262626"/>
                </a:solidFill>
                <a:latin typeface="Times New Roman"/>
              </a:rPr>
              <a:t>cột</a:t>
            </a:r>
            <a:r>
              <a:rPr sz="14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1" i="0" dirty="0" err="1">
                <a:solidFill>
                  <a:srgbClr val="262626"/>
                </a:solidFill>
                <a:latin typeface="Times New Roman"/>
              </a:rPr>
              <a:t>dạng</a:t>
            </a:r>
            <a:r>
              <a:rPr sz="1400" b="1" i="0" dirty="0">
                <a:solidFill>
                  <a:srgbClr val="262626"/>
                </a:solidFill>
                <a:latin typeface="Times New Roman"/>
              </a:rPr>
              <a:t> string?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Ép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kiểu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sớm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thì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“1.669.000.000”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thành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null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và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1" i="0" dirty="0" err="1">
                <a:solidFill>
                  <a:srgbClr val="262626"/>
                </a:solidFill>
                <a:latin typeface="Times New Roman"/>
              </a:rPr>
              <a:t>giá</a:t>
            </a:r>
            <a:r>
              <a:rPr sz="14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1" i="0" dirty="0" err="1">
                <a:solidFill>
                  <a:srgbClr val="262626"/>
                </a:solidFill>
                <a:latin typeface="Times New Roman"/>
              </a:rPr>
              <a:t>trị</a:t>
            </a:r>
            <a:r>
              <a:rPr sz="14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1" i="0" dirty="0" err="1">
                <a:solidFill>
                  <a:srgbClr val="262626"/>
                </a:solidFill>
                <a:latin typeface="Times New Roman"/>
              </a:rPr>
              <a:t>gốc</a:t>
            </a:r>
            <a:r>
              <a:rPr sz="14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1" i="0" dirty="0" err="1">
                <a:solidFill>
                  <a:srgbClr val="262626"/>
                </a:solidFill>
                <a:latin typeface="Times New Roman"/>
              </a:rPr>
              <a:t>mất</a:t>
            </a:r>
            <a:r>
              <a:rPr sz="14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1" i="0" dirty="0" err="1">
                <a:solidFill>
                  <a:srgbClr val="262626"/>
                </a:solidFill>
                <a:latin typeface="Times New Roman"/>
              </a:rPr>
              <a:t>luôn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. Parse ở Silver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thì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dòng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lỗi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vào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quarantine </a:t>
            </a:r>
            <a:r>
              <a:rPr sz="1400" b="1" i="0" dirty="0" err="1">
                <a:solidFill>
                  <a:srgbClr val="262626"/>
                </a:solidFill>
                <a:latin typeface="Times New Roman"/>
              </a:rPr>
              <a:t>kèm</a:t>
            </a:r>
            <a:r>
              <a:rPr sz="14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1" i="0" dirty="0" err="1">
                <a:solidFill>
                  <a:srgbClr val="262626"/>
                </a:solidFill>
                <a:latin typeface="Times New Roman"/>
              </a:rPr>
              <a:t>nguyên</a:t>
            </a:r>
            <a:r>
              <a:rPr sz="14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1" i="0" dirty="0" err="1">
                <a:solidFill>
                  <a:srgbClr val="262626"/>
                </a:solidFill>
                <a:latin typeface="Times New Roman"/>
              </a:rPr>
              <a:t>giá</a:t>
            </a:r>
            <a:r>
              <a:rPr sz="14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1" i="0" dirty="0" err="1">
                <a:solidFill>
                  <a:srgbClr val="262626"/>
                </a:solidFill>
                <a:latin typeface="Times New Roman"/>
              </a:rPr>
              <a:t>trị</a:t>
            </a:r>
            <a:r>
              <a:rPr sz="14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1" i="0" dirty="0" err="1" smtClean="0">
                <a:solidFill>
                  <a:srgbClr val="262626"/>
                </a:solidFill>
                <a:latin typeface="Times New Roman"/>
              </a:rPr>
              <a:t>thô</a:t>
            </a:r>
            <a:r>
              <a:rPr sz="1400" b="0" i="0" dirty="0" smtClean="0">
                <a:solidFill>
                  <a:srgbClr val="262626"/>
                </a:solidFill>
                <a:latin typeface="Times New Roman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481328"/>
            <a:ext cx="2377440" cy="713232"/>
          </a:xfrm>
          <a:prstGeom prst="roundRect">
            <a:avLst>
              <a:gd name="adj" fmla="val 12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i="0" dirty="0">
                <a:solidFill>
                  <a:srgbClr val="262626"/>
                </a:solidFill>
                <a:latin typeface="Times New Roman"/>
              </a:rPr>
              <a:t>Landing</a:t>
            </a:r>
          </a:p>
          <a:p>
            <a:pPr algn="ctr"/>
            <a:r>
              <a:rPr sz="1300" b="0" i="0" dirty="0">
                <a:solidFill>
                  <a:srgbClr val="262626"/>
                </a:solidFill>
                <a:latin typeface="Times New Roman"/>
              </a:rPr>
              <a:t>CSV + manifest </a:t>
            </a:r>
            <a:r>
              <a:rPr lang="en-US" sz="1300" b="0" i="0" dirty="0" smtClean="0">
                <a:solidFill>
                  <a:srgbClr val="262626"/>
                </a:solidFill>
                <a:latin typeface="Times New Roman"/>
              </a:rPr>
              <a:t>,</a:t>
            </a:r>
            <a:r>
              <a:rPr sz="1300" b="0" i="0" dirty="0" smtClean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bất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biến</a:t>
            </a:r>
            <a:endParaRPr sz="1300" b="0" i="0" dirty="0">
              <a:solidFill>
                <a:srgbClr val="262626"/>
              </a:solidFill>
              <a:latin typeface="Times New Roman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8595360" y="2194560"/>
            <a:ext cx="0" cy="402336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406640" y="2596896"/>
            <a:ext cx="2377440" cy="713232"/>
          </a:xfrm>
          <a:prstGeom prst="roundRect">
            <a:avLst>
              <a:gd name="adj" fmla="val 12000"/>
            </a:avLst>
          </a:prstGeom>
          <a:solidFill>
            <a:srgbClr val="C98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i="0" dirty="0">
                <a:solidFill>
                  <a:srgbClr val="FFFFFF"/>
                </a:solidFill>
                <a:latin typeface="Times New Roman"/>
              </a:rPr>
              <a:t>Bronze</a:t>
            </a:r>
          </a:p>
          <a:p>
            <a:pPr algn="ctr"/>
            <a:r>
              <a:rPr sz="1300" b="0" i="0" dirty="0" smtClean="0">
                <a:solidFill>
                  <a:srgbClr val="FFFFFF"/>
                </a:solidFill>
                <a:latin typeface="Times New Roman"/>
              </a:rPr>
              <a:t>append </a:t>
            </a:r>
            <a:r>
              <a:rPr sz="1300" b="0" i="0" dirty="0" err="1">
                <a:solidFill>
                  <a:srgbClr val="FFFFFF"/>
                </a:solidFill>
                <a:latin typeface="Times New Roman"/>
              </a:rPr>
              <a:t>mọi</a:t>
            </a:r>
            <a:r>
              <a:rPr sz="1300" b="0" i="0" dirty="0">
                <a:solidFill>
                  <a:srgbClr val="FFFFFF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FFFFFF"/>
                </a:solidFill>
                <a:latin typeface="Times New Roman"/>
              </a:rPr>
              <a:t>cột</a:t>
            </a:r>
            <a:r>
              <a:rPr sz="1300" b="0" i="0" dirty="0">
                <a:solidFill>
                  <a:srgbClr val="FFFFFF"/>
                </a:solidFill>
                <a:latin typeface="Times New Roman"/>
              </a:rPr>
              <a:t> string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595360" y="3310128"/>
            <a:ext cx="0" cy="402336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406640" y="3712464"/>
            <a:ext cx="2377440" cy="713232"/>
          </a:xfrm>
          <a:prstGeom prst="roundRect">
            <a:avLst>
              <a:gd name="adj" fmla="val 12000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i="0" dirty="0">
                <a:solidFill>
                  <a:srgbClr val="262626"/>
                </a:solidFill>
                <a:latin typeface="Times New Roman"/>
              </a:rPr>
              <a:t>Silver</a:t>
            </a:r>
          </a:p>
          <a:p>
            <a:pPr algn="ctr"/>
            <a:r>
              <a:rPr sz="1300" b="0" i="0" dirty="0">
                <a:solidFill>
                  <a:srgbClr val="262626"/>
                </a:solidFill>
                <a:latin typeface="Times New Roman"/>
              </a:rPr>
              <a:t>star schema </a:t>
            </a:r>
            <a:r>
              <a:rPr lang="en-US" sz="1300" b="0" i="0" dirty="0" smtClean="0">
                <a:solidFill>
                  <a:srgbClr val="262626"/>
                </a:solidFill>
                <a:latin typeface="Times New Roman"/>
              </a:rPr>
              <a:t>,</a:t>
            </a:r>
            <a:r>
              <a:rPr sz="1300" b="0" i="0" dirty="0" smtClean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overwrite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595360" y="4425696"/>
            <a:ext cx="0" cy="402336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06640" y="4828032"/>
            <a:ext cx="2377440" cy="713232"/>
          </a:xfrm>
          <a:prstGeom prst="roundRect">
            <a:avLst>
              <a:gd name="adj" fmla="val 12000"/>
            </a:avLst>
          </a:prstGeom>
          <a:solidFill>
            <a:srgbClr val="E6B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i="0">
                <a:solidFill>
                  <a:srgbClr val="262626"/>
                </a:solidFill>
                <a:latin typeface="Times New Roman"/>
              </a:rPr>
              <a:t>Gold</a:t>
            </a:r>
          </a:p>
          <a:p>
            <a:pPr algn="ctr"/>
            <a:r>
              <a:rPr sz="1300" b="0" i="0">
                <a:solidFill>
                  <a:srgbClr val="262626"/>
                </a:solidFill>
                <a:latin typeface="Times New Roman"/>
              </a:rPr>
              <a:t>3 mart BI + 1 bảng ML</a:t>
            </a:r>
          </a:p>
        </p:txBody>
      </p:sp>
      <p:sp>
        <p:nvSpPr>
          <p:cNvPr id="14" name="Hexagon 13"/>
          <p:cNvSpPr/>
          <p:nvPr/>
        </p:nvSpPr>
        <p:spPr>
          <a:xfrm>
            <a:off x="10058400" y="2079100"/>
            <a:ext cx="1783080" cy="566928"/>
          </a:xfrm>
          <a:prstGeom prst="hexagon">
            <a:avLst/>
          </a:prstGeom>
          <a:solidFill>
            <a:srgbClr val="F8CBAD"/>
          </a:solidFill>
          <a:ln w="15875">
            <a:solidFill>
              <a:srgbClr val="EC68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 dirty="0" err="1">
                <a:solidFill>
                  <a:srgbClr val="262626"/>
                </a:solidFill>
                <a:latin typeface="Times New Roman"/>
              </a:rPr>
              <a:t>Cổng</a:t>
            </a:r>
            <a:r>
              <a:rPr sz="12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200" b="1" i="0" dirty="0" err="1">
                <a:solidFill>
                  <a:srgbClr val="262626"/>
                </a:solidFill>
                <a:latin typeface="Times New Roman"/>
              </a:rPr>
              <a:t>kiểm</a:t>
            </a:r>
            <a:r>
              <a:rPr sz="12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200" b="1" i="0" dirty="0" err="1">
                <a:solidFill>
                  <a:srgbClr val="262626"/>
                </a:solidFill>
                <a:latin typeface="Times New Roman"/>
              </a:rPr>
              <a:t>tra</a:t>
            </a:r>
            <a:endParaRPr sz="1200" b="1" i="0" dirty="0">
              <a:solidFill>
                <a:srgbClr val="262626"/>
              </a:solidFill>
              <a:latin typeface="Times New Roman"/>
            </a:endParaRPr>
          </a:p>
          <a:p>
            <a:pPr algn="ctr"/>
            <a:r>
              <a:rPr sz="1000" b="0" i="0" dirty="0">
                <a:solidFill>
                  <a:srgbClr val="262626"/>
                </a:solidFill>
                <a:latin typeface="Times New Roman"/>
              </a:rPr>
              <a:t>5 </a:t>
            </a:r>
            <a:r>
              <a:rPr sz="1000" b="0" i="0" dirty="0" err="1">
                <a:solidFill>
                  <a:srgbClr val="262626"/>
                </a:solidFill>
                <a:latin typeface="Times New Roman"/>
              </a:rPr>
              <a:t>luật</a:t>
            </a:r>
            <a:r>
              <a:rPr sz="1000" b="0" i="0" dirty="0">
                <a:solidFill>
                  <a:srgbClr val="262626"/>
                </a:solidFill>
                <a:latin typeface="Times New Roman"/>
              </a:rPr>
              <a:t> · REJECT </a:t>
            </a:r>
            <a:r>
              <a:rPr sz="1000" b="0" i="0" dirty="0" err="1">
                <a:solidFill>
                  <a:srgbClr val="262626"/>
                </a:solidFill>
                <a:latin typeface="Times New Roman"/>
              </a:rPr>
              <a:t>lô</a:t>
            </a:r>
            <a:endParaRPr sz="1000" b="0" i="0" dirty="0">
              <a:solidFill>
                <a:srgbClr val="262626"/>
              </a:solidFill>
              <a:latin typeface="Times New Roman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10058400" y="3630168"/>
            <a:ext cx="1783080" cy="566928"/>
          </a:xfrm>
          <a:prstGeom prst="roundRect">
            <a:avLst>
              <a:gd name="adj" fmla="val 12000"/>
            </a:avLst>
          </a:prstGeom>
          <a:solidFill>
            <a:srgbClr val="FFE699"/>
          </a:solidFill>
          <a:ln w="1587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262626"/>
                </a:solidFill>
                <a:latin typeface="Times New Roman"/>
              </a:rPr>
              <a:t>quarantine</a:t>
            </a:r>
          </a:p>
          <a:p>
            <a:pPr algn="ctr"/>
            <a:r>
              <a:rPr sz="1000" b="0" i="0">
                <a:solidFill>
                  <a:srgbClr val="262626"/>
                </a:solidFill>
                <a:latin typeface="Times New Roman"/>
              </a:rPr>
              <a:t>8 luật · từng dòng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784080" y="3913632"/>
            <a:ext cx="274320" cy="0"/>
          </a:xfrm>
          <a:prstGeom prst="line">
            <a:avLst/>
          </a:prstGeom>
          <a:ln w="22225">
            <a:solidFill>
              <a:srgbClr val="595959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5"/>
          <p:cNvCxnSpPr>
            <a:endCxn id="14" idx="3"/>
          </p:cNvCxnSpPr>
          <p:nvPr/>
        </p:nvCxnSpPr>
        <p:spPr>
          <a:xfrm flipV="1">
            <a:off x="8595360" y="2362564"/>
            <a:ext cx="1463040" cy="14876"/>
          </a:xfrm>
          <a:prstGeom prst="line">
            <a:avLst/>
          </a:prstGeom>
          <a:ln w="22225">
            <a:solidFill>
              <a:srgbClr val="595959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51760" y="91440"/>
            <a:ext cx="6949440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C55A11"/>
                </a:solidFill>
                <a:latin typeface="Times New Roman"/>
              </a:rPr>
              <a:t>Section 2: Kiến thức nền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3360" y="1060704"/>
            <a:ext cx="11826240" cy="43891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 dirty="0">
                <a:solidFill>
                  <a:srgbClr val="0070C0"/>
                </a:solidFill>
                <a:latin typeface="Times New Roman"/>
              </a:rPr>
              <a:t>❖Star schema: fact ở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một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grain, dimension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để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lọc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và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nhóm</a:t>
            </a:r>
            <a:endParaRPr sz="2000" b="1" i="0" dirty="0">
              <a:solidFill>
                <a:srgbClr val="0070C0"/>
              </a:solidFill>
              <a:latin typeface="Times New Roman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91056"/>
          <a:ext cx="6949440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94560"/>
                <a:gridCol w="475488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Khái niệm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Ví dụ trong đề tài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262626"/>
                          </a:solidFill>
                          <a:latin typeface="Times New Roman"/>
                        </a:rPr>
                        <a:t>Grain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Times New Roman"/>
                        </a:rPr>
                        <a:t>1 dòng fact_valuation = 1 hợp đồng định giá (ma_dinh_gia)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262626"/>
                          </a:solidFill>
                          <a:latin typeface="Times New Roman"/>
                        </a:rPr>
                        <a:t>Measure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Times New Roman"/>
                        </a:rPr>
                        <a:t>gia_tri_trieu_vnd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262626"/>
                          </a:solidFill>
                          <a:latin typeface="Times New Roman"/>
                        </a:rPr>
                        <a:t>Surrogate key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Times New Roman"/>
                        </a:rPr>
                        <a:t>model_key = xxhash64(ma_dong_xe)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262626"/>
                          </a:solidFill>
                          <a:latin typeface="Times New Roman"/>
                        </a:rPr>
                        <a:t>Degenerate dimension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Times New Roman"/>
                        </a:rPr>
                        <a:t>ma_dinh_gia nằm thẳng trong fact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262626"/>
                          </a:solidFill>
                          <a:latin typeface="Times New Roman"/>
                        </a:rPr>
                        <a:t>Role-playing dimension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Times New Roman"/>
                        </a:rPr>
                        <a:t>dim_date dùng cho cả ngày duyệt lẫn ngày hiệu lực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791456"/>
            <a:ext cx="6949440" cy="54784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Quy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 smtClean="0">
                <a:solidFill>
                  <a:srgbClr val="262626"/>
                </a:solidFill>
                <a:latin typeface="Times New Roman"/>
              </a:rPr>
              <a:t>tắc</a:t>
            </a:r>
            <a:r>
              <a:rPr sz="1600" b="0" i="0" dirty="0" smtClean="0">
                <a:solidFill>
                  <a:srgbClr val="262626"/>
                </a:solidFill>
                <a:latin typeface="Times New Roman"/>
              </a:rPr>
              <a:t>: </a:t>
            </a:r>
            <a:r>
              <a:rPr sz="1600" b="1" i="0" dirty="0" err="1">
                <a:solidFill>
                  <a:srgbClr val="262626"/>
                </a:solidFill>
                <a:latin typeface="Times New Roman"/>
              </a:rPr>
              <a:t>chốt</a:t>
            </a:r>
            <a:r>
              <a:rPr sz="1600" b="1" i="0" dirty="0">
                <a:solidFill>
                  <a:srgbClr val="262626"/>
                </a:solidFill>
                <a:latin typeface="Times New Roman"/>
              </a:rPr>
              <a:t> grain </a:t>
            </a:r>
            <a:r>
              <a:rPr sz="1600" b="1" i="0" dirty="0" err="1">
                <a:solidFill>
                  <a:srgbClr val="262626"/>
                </a:solidFill>
                <a:latin typeface="Times New Roman"/>
              </a:rPr>
              <a:t>trước</a:t>
            </a:r>
            <a:r>
              <a:rPr sz="16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1" i="0" dirty="0" err="1">
                <a:solidFill>
                  <a:srgbClr val="262626"/>
                </a:solidFill>
                <a:latin typeface="Times New Roman"/>
              </a:rPr>
              <a:t>khi</a:t>
            </a:r>
            <a:r>
              <a:rPr sz="16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1" i="0" dirty="0" err="1">
                <a:solidFill>
                  <a:srgbClr val="262626"/>
                </a:solidFill>
                <a:latin typeface="Times New Roman"/>
              </a:rPr>
              <a:t>chọn</a:t>
            </a:r>
            <a:r>
              <a:rPr sz="16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1" i="0" dirty="0" err="1">
                <a:solidFill>
                  <a:srgbClr val="262626"/>
                </a:solidFill>
                <a:latin typeface="Times New Roman"/>
              </a:rPr>
              <a:t>cột</a:t>
            </a:r>
            <a:r>
              <a:rPr sz="1600" b="1" i="0" dirty="0">
                <a:solidFill>
                  <a:srgbClr val="262626"/>
                </a:solidFill>
                <a:latin typeface="Times New Roman"/>
              </a:rPr>
              <a:t>.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Mọi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câu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hỏi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Q1–Q4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đều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suy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ra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được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từ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grain “1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hợp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đồng</a:t>
            </a:r>
            <a:r>
              <a:rPr sz="1600" b="0" i="0" dirty="0" smtClean="0">
                <a:solidFill>
                  <a:srgbClr val="262626"/>
                </a:solidFill>
                <a:latin typeface="Times New Roman"/>
              </a:rPr>
              <a:t>”</a:t>
            </a:r>
            <a:endParaRPr sz="1600" b="0" i="0" dirty="0">
              <a:solidFill>
                <a:srgbClr val="262626"/>
              </a:solidFill>
              <a:latin typeface="Times New Roman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589520" y="1591056"/>
            <a:ext cx="4297680" cy="356616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l"/>
            <a:r>
              <a:rPr sz="1400" b="1" i="0" dirty="0" err="1">
                <a:solidFill>
                  <a:srgbClr val="548235"/>
                </a:solidFill>
                <a:latin typeface="Times New Roman"/>
              </a:rPr>
              <a:t>Định</a:t>
            </a:r>
            <a:r>
              <a:rPr sz="1400" b="1" i="0" dirty="0">
                <a:solidFill>
                  <a:srgbClr val="548235"/>
                </a:solidFill>
                <a:latin typeface="Times New Roman"/>
              </a:rPr>
              <a:t> </a:t>
            </a:r>
            <a:r>
              <a:rPr sz="1400" b="1" i="0" dirty="0" err="1">
                <a:solidFill>
                  <a:srgbClr val="548235"/>
                </a:solidFill>
                <a:latin typeface="Times New Roman"/>
              </a:rPr>
              <a:t>nghĩa</a:t>
            </a:r>
            <a:r>
              <a:rPr sz="1400" b="1" i="0" dirty="0">
                <a:solidFill>
                  <a:srgbClr val="548235"/>
                </a:solidFill>
                <a:latin typeface="Times New Roman"/>
              </a:rPr>
              <a:t>: </a:t>
            </a:r>
            <a:endParaRPr lang="en-US" sz="1400" b="1" i="0" dirty="0" smtClean="0">
              <a:solidFill>
                <a:srgbClr val="548235"/>
              </a:solidFill>
              <a:latin typeface="Times New Roman"/>
            </a:endParaRPr>
          </a:p>
          <a:p>
            <a:pPr algn="l"/>
            <a:endParaRPr lang="en-US" sz="1400" b="1" i="0" dirty="0" smtClean="0">
              <a:solidFill>
                <a:srgbClr val="548235"/>
              </a:solidFill>
              <a:latin typeface="Times New Roman"/>
            </a:endParaRPr>
          </a:p>
          <a:p>
            <a:pPr algn="l"/>
            <a:r>
              <a:rPr sz="1400" b="1" i="0" dirty="0" smtClean="0">
                <a:solidFill>
                  <a:srgbClr val="262626"/>
                </a:solidFill>
                <a:latin typeface="Times New Roman"/>
              </a:rPr>
              <a:t>Fact</a:t>
            </a:r>
            <a:r>
              <a:rPr sz="1400" b="0" i="0" dirty="0" smtClean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ghi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lại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một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sự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kiện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nghiệp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vụ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đo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 smtClean="0">
                <a:solidFill>
                  <a:srgbClr val="262626"/>
                </a:solidFill>
                <a:latin typeface="Times New Roman"/>
              </a:rPr>
              <a:t>được</a:t>
            </a:r>
            <a:r>
              <a:rPr lang="en-US" dirty="0">
                <a:solidFill>
                  <a:srgbClr val="262626"/>
                </a:solidFill>
                <a:latin typeface="Times New Roman"/>
              </a:rPr>
              <a:t>,</a:t>
            </a:r>
            <a:r>
              <a:rPr sz="1400" b="0" i="0" dirty="0" smtClean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ở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đây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là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một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lần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định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giá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xe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khi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cấp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hợp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 smtClean="0">
                <a:solidFill>
                  <a:srgbClr val="262626"/>
                </a:solidFill>
                <a:latin typeface="Times New Roman"/>
              </a:rPr>
              <a:t>đồng</a:t>
            </a:r>
            <a:r>
              <a:rPr lang="en-US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 smtClean="0">
                <a:solidFill>
                  <a:srgbClr val="262626"/>
                </a:solidFill>
                <a:latin typeface="Times New Roman"/>
              </a:rPr>
              <a:t>và</a:t>
            </a:r>
            <a:r>
              <a:rPr sz="1400" b="0" i="0" dirty="0" smtClean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chứa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các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con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số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để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cộng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/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gộp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(measure</a:t>
            </a:r>
            <a:r>
              <a:rPr sz="1400" b="0" i="0" dirty="0" smtClean="0">
                <a:solidFill>
                  <a:srgbClr val="262626"/>
                </a:solidFill>
                <a:latin typeface="Times New Roman"/>
              </a:rPr>
              <a:t>).</a:t>
            </a:r>
            <a:endParaRPr lang="en-US" sz="1400" b="0" i="0" dirty="0" smtClean="0">
              <a:solidFill>
                <a:srgbClr val="262626"/>
              </a:solidFill>
              <a:latin typeface="Times New Roman"/>
            </a:endParaRPr>
          </a:p>
          <a:p>
            <a:pPr algn="l"/>
            <a:endParaRPr sz="1400" b="0" i="0" dirty="0">
              <a:solidFill>
                <a:srgbClr val="262626"/>
              </a:solidFill>
              <a:latin typeface="Times New Roman"/>
            </a:endParaRPr>
          </a:p>
          <a:p>
            <a:pPr algn="l"/>
            <a:r>
              <a:rPr sz="1400" b="1" i="0" dirty="0">
                <a:solidFill>
                  <a:srgbClr val="262626"/>
                </a:solidFill>
                <a:latin typeface="Times New Roman"/>
              </a:rPr>
              <a:t>Dimension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là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bối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cảnh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của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sự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kiện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: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xe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gì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,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loại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xe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nào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,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ngày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nào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 smtClean="0">
                <a:solidFill>
                  <a:srgbClr val="262626"/>
                </a:solidFill>
                <a:latin typeface="Times New Roman"/>
              </a:rPr>
              <a:t>dùng</a:t>
            </a:r>
            <a:r>
              <a:rPr sz="1400" b="0" i="0" dirty="0" smtClean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để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lọc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và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nhóm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khi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phân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tích</a:t>
            </a:r>
            <a:r>
              <a:rPr sz="1400" b="0" i="0" dirty="0" smtClean="0">
                <a:solidFill>
                  <a:srgbClr val="262626"/>
                </a:solidFill>
                <a:latin typeface="Times New Roman"/>
              </a:rPr>
              <a:t>.</a:t>
            </a:r>
            <a:endParaRPr sz="1400" b="0" i="0" dirty="0">
              <a:solidFill>
                <a:srgbClr val="262626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Connector 16"/>
          <p:cNvCxnSpPr/>
          <p:nvPr/>
        </p:nvCxnSpPr>
        <p:spPr>
          <a:xfrm>
            <a:off x="9601200" y="3566160"/>
            <a:ext cx="1463040" cy="105156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8138160" y="3566160"/>
            <a:ext cx="1463040" cy="105156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601200" y="2240280"/>
            <a:ext cx="0" cy="132588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/>
          <p:cNvSpPr/>
          <p:nvPr/>
        </p:nvSpPr>
        <p:spPr>
          <a:xfrm>
            <a:off x="0" y="0"/>
            <a:ext cx="12192000" cy="1133856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6000" b="1" i="0">
                <a:solidFill>
                  <a:srgbClr val="FFFFFF"/>
                </a:solidFill>
                <a:latin typeface="Times New Roman"/>
              </a:rPr>
              <a:t>Outline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" y="1481328"/>
            <a:ext cx="5577840" cy="960120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15875">
            <a:solidFill>
              <a:srgbClr val="C0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Bối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</a:t>
            </a:r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cảnh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&amp; </a:t>
            </a:r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Bài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</a:t>
            </a:r>
            <a:r>
              <a:rPr sz="2600" b="0" i="0" dirty="0" err="1" smtClean="0">
                <a:solidFill>
                  <a:srgbClr val="C55A11"/>
                </a:solidFill>
                <a:latin typeface="Times New Roman"/>
              </a:rPr>
              <a:t>toá</a:t>
            </a:r>
            <a:r>
              <a:rPr lang="en-US" sz="2600" b="0" i="0" dirty="0" err="1" smtClean="0">
                <a:solidFill>
                  <a:srgbClr val="C55A11"/>
                </a:solidFill>
                <a:latin typeface="Times New Roman"/>
              </a:rPr>
              <a:t>n</a:t>
            </a:r>
            <a:endParaRPr sz="2600" b="0" i="0" dirty="0">
              <a:solidFill>
                <a:srgbClr val="C55A11"/>
              </a:solidFill>
              <a:latin typeface="Times New Roman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76072" y="1325880"/>
            <a:ext cx="1463040" cy="310896"/>
          </a:xfrm>
          <a:prstGeom prst="roundRect">
            <a:avLst>
              <a:gd name="adj" fmla="val 12000"/>
            </a:avLst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0" i="0">
                <a:solidFill>
                  <a:srgbClr val="FFFFFF"/>
                </a:solidFill>
                <a:latin typeface="Times New Roman"/>
              </a:rPr>
              <a:t>SECTION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807208"/>
            <a:ext cx="5577840" cy="960120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15875">
            <a:solidFill>
              <a:srgbClr val="C0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Kiến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</a:t>
            </a:r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thức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</a:t>
            </a:r>
            <a:r>
              <a:rPr sz="2600" b="0" i="0" dirty="0" err="1" smtClean="0">
                <a:solidFill>
                  <a:srgbClr val="C55A11"/>
                </a:solidFill>
                <a:latin typeface="Times New Roman"/>
              </a:rPr>
              <a:t>nền</a:t>
            </a:r>
            <a:endParaRPr sz="2600" b="0" i="0" dirty="0">
              <a:solidFill>
                <a:srgbClr val="C55A11"/>
              </a:solidFill>
              <a:latin typeface="Times New Roman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76072" y="2651760"/>
            <a:ext cx="1463040" cy="310896"/>
          </a:xfrm>
          <a:prstGeom prst="roundRect">
            <a:avLst>
              <a:gd name="adj" fmla="val 12000"/>
            </a:avLst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0" i="0">
                <a:solidFill>
                  <a:srgbClr val="FFFFFF"/>
                </a:solidFill>
                <a:latin typeface="Times New Roman"/>
              </a:rPr>
              <a:t>SECTION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4133087"/>
            <a:ext cx="6126480" cy="960120"/>
          </a:xfrm>
          <a:prstGeom prst="roundRect">
            <a:avLst>
              <a:gd name="adj" fmla="val 12000"/>
            </a:avLst>
          </a:prstGeom>
          <a:solidFill>
            <a:srgbClr val="F4B183"/>
          </a:solidFill>
          <a:ln w="31750">
            <a:solidFill>
              <a:srgbClr val="C0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i="0" dirty="0" err="1">
                <a:solidFill>
                  <a:srgbClr val="C55A11"/>
                </a:solidFill>
                <a:latin typeface="Times New Roman"/>
              </a:rPr>
              <a:t>Thiết</a:t>
            </a:r>
            <a:r>
              <a:rPr sz="3000" b="1" i="0" dirty="0">
                <a:solidFill>
                  <a:srgbClr val="C55A11"/>
                </a:solidFill>
                <a:latin typeface="Times New Roman"/>
              </a:rPr>
              <a:t> </a:t>
            </a:r>
            <a:r>
              <a:rPr sz="3000" b="1" i="0" dirty="0" err="1">
                <a:solidFill>
                  <a:srgbClr val="C55A11"/>
                </a:solidFill>
                <a:latin typeface="Times New Roman"/>
              </a:rPr>
              <a:t>kế</a:t>
            </a:r>
            <a:r>
              <a:rPr sz="3000" b="1" i="0" dirty="0">
                <a:solidFill>
                  <a:srgbClr val="C55A11"/>
                </a:solidFill>
                <a:latin typeface="Times New Roman"/>
              </a:rPr>
              <a:t> &amp; </a:t>
            </a:r>
            <a:r>
              <a:rPr sz="3000" b="1" i="0" dirty="0" err="1">
                <a:solidFill>
                  <a:srgbClr val="C55A11"/>
                </a:solidFill>
                <a:latin typeface="Times New Roman"/>
              </a:rPr>
              <a:t>Xây</a:t>
            </a:r>
            <a:r>
              <a:rPr sz="3000" b="1" i="0" dirty="0">
                <a:solidFill>
                  <a:srgbClr val="C55A11"/>
                </a:solidFill>
                <a:latin typeface="Times New Roman"/>
              </a:rPr>
              <a:t> </a:t>
            </a:r>
            <a:r>
              <a:rPr sz="3000" b="1" i="0" dirty="0" err="1" smtClean="0">
                <a:solidFill>
                  <a:srgbClr val="C55A11"/>
                </a:solidFill>
                <a:latin typeface="Times New Roman"/>
              </a:rPr>
              <a:t>dựng</a:t>
            </a:r>
            <a:endParaRPr sz="3000" b="1" i="0" dirty="0">
              <a:solidFill>
                <a:srgbClr val="C55A11"/>
              </a:solidFill>
              <a:latin typeface="Times New Roman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76072" y="3977639"/>
            <a:ext cx="1463040" cy="310896"/>
          </a:xfrm>
          <a:prstGeom prst="roundRect">
            <a:avLst>
              <a:gd name="adj" fmla="val 12000"/>
            </a:avLst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Times New Roman"/>
              </a:rPr>
              <a:t>SECTION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458968"/>
            <a:ext cx="5577840" cy="960120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15875">
            <a:solidFill>
              <a:srgbClr val="C0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Kết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</a:t>
            </a:r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quả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&amp; </a:t>
            </a:r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Đánh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</a:t>
            </a:r>
            <a:r>
              <a:rPr sz="2600" b="0" i="0" dirty="0" err="1" smtClean="0">
                <a:solidFill>
                  <a:srgbClr val="C55A11"/>
                </a:solidFill>
                <a:latin typeface="Times New Roman"/>
              </a:rPr>
              <a:t>giá</a:t>
            </a:r>
            <a:endParaRPr sz="2600" b="0" i="0" dirty="0">
              <a:solidFill>
                <a:srgbClr val="C55A11"/>
              </a:solidFill>
              <a:latin typeface="Times New Roman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76072" y="5303520"/>
            <a:ext cx="1463040" cy="310896"/>
          </a:xfrm>
          <a:prstGeom prst="roundRect">
            <a:avLst>
              <a:gd name="adj" fmla="val 12000"/>
            </a:avLst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0" i="0">
                <a:solidFill>
                  <a:srgbClr val="FFFFFF"/>
                </a:solidFill>
                <a:latin typeface="Times New Roman"/>
              </a:rPr>
              <a:t>SECTION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32520" y="3200400"/>
            <a:ext cx="1737360" cy="731520"/>
          </a:xfrm>
          <a:prstGeom prst="roundRect">
            <a:avLst>
              <a:gd name="adj" fmla="val 12000"/>
            </a:avLst>
          </a:prstGeom>
          <a:solidFill>
            <a:srgbClr val="F4B18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 i="0">
                <a:solidFill>
                  <a:srgbClr val="262626"/>
                </a:solidFill>
                <a:latin typeface="Times New Roman"/>
              </a:rPr>
              <a:t>fact_valuation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965960"/>
            <a:ext cx="1554480" cy="548640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 w="15875">
            <a:solidFill>
              <a:srgbClr val="1F5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262626"/>
                </a:solidFill>
                <a:latin typeface="Times New Roman"/>
              </a:rPr>
              <a:t>dim_model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4343400"/>
            <a:ext cx="1554480" cy="548640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 w="15875">
            <a:solidFill>
              <a:srgbClr val="1F5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262626"/>
                </a:solidFill>
                <a:latin typeface="Times New Roman"/>
              </a:rPr>
              <a:t>dim_vehicle_type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87000" y="4343400"/>
            <a:ext cx="1554480" cy="548640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 w="15875">
            <a:solidFill>
              <a:srgbClr val="1F5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262626"/>
                </a:solidFill>
                <a:latin typeface="Times New Roman"/>
              </a:rPr>
              <a:t>dim_date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51760" y="91440"/>
            <a:ext cx="6949440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C55A11"/>
                </a:solidFill>
                <a:latin typeface="Times New Roman"/>
              </a:rPr>
              <a:t>Section 3: Thiết kế &amp; Xây dựng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841248"/>
            <a:ext cx="11826240" cy="43891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070C0"/>
                </a:solidFill>
                <a:latin typeface="Times New Roman"/>
              </a:rPr>
              <a:t>❖Kiến trúc tổng thể: một nguồn, bốn tầng, hai loại đầu 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435608"/>
            <a:ext cx="1965960" cy="1234440"/>
          </a:xfrm>
          <a:prstGeom prst="roundRect">
            <a:avLst>
              <a:gd name="adj" fmla="val 12000"/>
            </a:avLst>
          </a:prstGeom>
          <a:solidFill>
            <a:srgbClr val="D9D9D9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i="0">
                <a:solidFill>
                  <a:srgbClr val="262626"/>
                </a:solidFill>
                <a:latin typeface="Times New Roman"/>
              </a:rPr>
              <a:t>Landing</a:t>
            </a:r>
          </a:p>
          <a:p>
            <a:pPr algn="ctr"/>
            <a:r>
              <a:rPr sz="1300" b="0" i="0">
                <a:solidFill>
                  <a:srgbClr val="262626"/>
                </a:solidFill>
                <a:latin typeface="Times New Roman"/>
              </a:rPr>
              <a:t>CSV tháng</a:t>
            </a:r>
          </a:p>
          <a:p>
            <a:pPr algn="ctr"/>
            <a:r>
              <a:rPr sz="1300" b="0" i="0">
                <a:solidFill>
                  <a:srgbClr val="262626"/>
                </a:solidFill>
                <a:latin typeface="Times New Roman"/>
              </a:rPr>
              <a:t>+ manifest</a:t>
            </a:r>
          </a:p>
          <a:p>
            <a:pPr algn="ctr"/>
            <a:r>
              <a:rPr sz="1300" b="0" i="0">
                <a:solidFill>
                  <a:srgbClr val="262626"/>
                </a:solidFill>
                <a:latin typeface="Times New Roman"/>
              </a:rPr>
              <a:t>+ ref có phiên bản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286000" y="2048256"/>
            <a:ext cx="384048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670048" y="1435608"/>
            <a:ext cx="1965960" cy="1234440"/>
          </a:xfrm>
          <a:prstGeom prst="roundRect">
            <a:avLst>
              <a:gd name="adj" fmla="val 12000"/>
            </a:avLst>
          </a:prstGeom>
          <a:solidFill>
            <a:srgbClr val="F8CBAD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i="0">
                <a:solidFill>
                  <a:srgbClr val="262626"/>
                </a:solidFill>
                <a:latin typeface="Times New Roman"/>
              </a:rPr>
              <a:t>Cổng kiểm tra</a:t>
            </a:r>
          </a:p>
          <a:p>
            <a:pPr algn="ctr"/>
            <a:r>
              <a:rPr sz="1300" b="0" i="0">
                <a:solidFill>
                  <a:srgbClr val="262626"/>
                </a:solidFill>
                <a:latin typeface="Times New Roman"/>
              </a:rPr>
              <a:t>5 luật</a:t>
            </a:r>
          </a:p>
          <a:p>
            <a:pPr algn="ctr"/>
            <a:r>
              <a:rPr sz="1300" b="0" i="0">
                <a:solidFill>
                  <a:srgbClr val="262626"/>
                </a:solidFill>
                <a:latin typeface="Times New Roman"/>
              </a:rPr>
              <a:t>REJECT cả lô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636008" y="2048256"/>
            <a:ext cx="384048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20056" y="1435608"/>
            <a:ext cx="1965960" cy="1234440"/>
          </a:xfrm>
          <a:prstGeom prst="roundRect">
            <a:avLst>
              <a:gd name="adj" fmla="val 12000"/>
            </a:avLst>
          </a:prstGeom>
          <a:solidFill>
            <a:srgbClr val="C98B5A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Times New Roman"/>
              </a:rPr>
              <a:t>Bronze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Times New Roman"/>
              </a:rPr>
              <a:t>append-only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Times New Roman"/>
              </a:rPr>
              <a:t>mọi cột string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Times New Roman"/>
              </a:rPr>
              <a:t>+ sổ loaded_batches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6016" y="2048256"/>
            <a:ext cx="384048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70064" y="1435608"/>
            <a:ext cx="1965960" cy="1234440"/>
          </a:xfrm>
          <a:prstGeom prst="roundRect">
            <a:avLst>
              <a:gd name="adj" fmla="val 12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i="0">
                <a:solidFill>
                  <a:srgbClr val="262626"/>
                </a:solidFill>
                <a:latin typeface="Times New Roman"/>
              </a:rPr>
              <a:t>Silver</a:t>
            </a:r>
          </a:p>
          <a:p>
            <a:pPr algn="ctr"/>
            <a:r>
              <a:rPr sz="1300" b="0" i="0">
                <a:solidFill>
                  <a:srgbClr val="262626"/>
                </a:solidFill>
                <a:latin typeface="Times New Roman"/>
              </a:rPr>
              <a:t>star schema</a:t>
            </a:r>
          </a:p>
          <a:p>
            <a:pPr algn="ctr"/>
            <a:r>
              <a:rPr sz="1300" b="0" i="0">
                <a:solidFill>
                  <a:srgbClr val="262626"/>
                </a:solidFill>
                <a:latin typeface="Times New Roman"/>
              </a:rPr>
              <a:t>fact + 3 dim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336024" y="2048256"/>
            <a:ext cx="384048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720072" y="1435608"/>
            <a:ext cx="1965960" cy="1234440"/>
          </a:xfrm>
          <a:prstGeom prst="roundRect">
            <a:avLst>
              <a:gd name="adj" fmla="val 12000"/>
            </a:avLst>
          </a:prstGeom>
          <a:solidFill>
            <a:srgbClr val="E6B82E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i="0">
                <a:solidFill>
                  <a:srgbClr val="262626"/>
                </a:solidFill>
                <a:latin typeface="Times New Roman"/>
              </a:rPr>
              <a:t>Gold</a:t>
            </a:r>
          </a:p>
          <a:p>
            <a:pPr algn="ctr"/>
            <a:r>
              <a:rPr sz="1300" b="0" i="0">
                <a:solidFill>
                  <a:srgbClr val="262626"/>
                </a:solidFill>
                <a:latin typeface="Times New Roman"/>
              </a:rPr>
              <a:t>3 mart BI</a:t>
            </a:r>
          </a:p>
          <a:p>
            <a:pPr algn="ctr"/>
            <a:r>
              <a:rPr sz="1300" b="0" i="0">
                <a:solidFill>
                  <a:srgbClr val="262626"/>
                </a:solidFill>
                <a:latin typeface="Times New Roman"/>
              </a:rPr>
              <a:t>1 bảng ML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70064" y="2944368"/>
            <a:ext cx="1965960" cy="548640"/>
          </a:xfrm>
          <a:prstGeom prst="roundRect">
            <a:avLst>
              <a:gd name="adj" fmla="val 12000"/>
            </a:avLst>
          </a:prstGeom>
          <a:solidFill>
            <a:srgbClr val="FFE699"/>
          </a:solidFill>
          <a:ln w="1587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262626"/>
                </a:solidFill>
                <a:latin typeface="Times New Roman"/>
              </a:rPr>
              <a:t>quarantine (8 luật)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353044" y="2670048"/>
            <a:ext cx="0" cy="27432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Table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0331471"/>
              </p:ext>
            </p:extLst>
          </p:nvPr>
        </p:nvGraphicFramePr>
        <p:xfrm>
          <a:off x="320040" y="3887974"/>
          <a:ext cx="7498077" cy="2194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74519"/>
                <a:gridCol w="2030729"/>
                <a:gridCol w="3592829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 dirty="0" err="1">
                          <a:solidFill>
                            <a:srgbClr val="FFFFFF"/>
                          </a:solidFill>
                          <a:latin typeface="Times New Roman"/>
                        </a:rPr>
                        <a:t>Bước</a:t>
                      </a:r>
                      <a:endParaRPr sz="1300" b="1" i="0" dirty="0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 dirty="0">
                          <a:solidFill>
                            <a:srgbClr val="FFFFFF"/>
                          </a:solidFill>
                          <a:latin typeface="Times New Roman"/>
                        </a:rPr>
                        <a:t>File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</a:rPr>
                        <a:t>Chạy độc lập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Cổng kiểm tra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src/validate.py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python -m src.validate (không cần Spark)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Landing → Bronze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src/bronze.py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python -m src.bronze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Bronze → Silver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src/silver.py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python -m src.silver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Silver → Gold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src/gold.py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python -m src.gold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Cả pipeline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src/run_pipeline.py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~1 </a:t>
                      </a:r>
                      <a:r>
                        <a:rPr sz="13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phút</a:t>
                      </a:r>
                      <a:r>
                        <a:rPr sz="13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3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trên</a:t>
                      </a:r>
                      <a:r>
                        <a:rPr sz="13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3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máy</a:t>
                      </a:r>
                      <a:r>
                        <a:rPr sz="13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local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8092440" y="4270248"/>
            <a:ext cx="3840480" cy="21945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262626"/>
                </a:solidFill>
                <a:latin typeface="Times New Roman"/>
              </a:rPr>
              <a:t>• </a:t>
            </a:r>
            <a:r>
              <a:rPr sz="1600" b="1" i="0">
                <a:solidFill>
                  <a:srgbClr val="262626"/>
                </a:solidFill>
                <a:latin typeface="Times New Roman"/>
              </a:rPr>
              <a:t>PySpark 3.5</a:t>
            </a:r>
            <a:r>
              <a:rPr sz="1600" b="0" i="0">
                <a:solidFill>
                  <a:srgbClr val="262626"/>
                </a:solidFill>
                <a:latin typeface="Times New Roman"/>
              </a:rPr>
              <a:t> chạy local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262626"/>
                </a:solidFill>
                <a:latin typeface="Times New Roman"/>
              </a:rPr>
              <a:t>• Lưu </a:t>
            </a:r>
            <a:r>
              <a:rPr sz="1600" b="1" i="0">
                <a:solidFill>
                  <a:srgbClr val="262626"/>
                </a:solidFill>
                <a:latin typeface="Times New Roman"/>
              </a:rPr>
              <a:t>Parquet</a:t>
            </a:r>
            <a:r>
              <a:rPr sz="1600" b="0" i="0">
                <a:solidFill>
                  <a:srgbClr val="262626"/>
                </a:solidFill>
                <a:latin typeface="Times New Roman"/>
              </a:rPr>
              <a:t>, partition theo tháng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262626"/>
                </a:solidFill>
                <a:latin typeface="Times New Roman"/>
              </a:rPr>
              <a:t>• Spark SQL ở Gold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262626"/>
                </a:solidFill>
                <a:latin typeface="Times New Roman"/>
              </a:rPr>
              <a:t>• </a:t>
            </a:r>
            <a:r>
              <a:rPr sz="1600" b="1" i="0">
                <a:solidFill>
                  <a:srgbClr val="262626"/>
                </a:solidFill>
                <a:latin typeface="Times New Roman"/>
              </a:rPr>
              <a:t>pytest — 27 test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51760" y="91440"/>
            <a:ext cx="6949440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C55A11"/>
                </a:solidFill>
                <a:latin typeface="Times New Roman"/>
              </a:rPr>
              <a:t>Section 3: Thiết kế &amp; Xây dựng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841248"/>
            <a:ext cx="11826240" cy="43891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070C0"/>
                </a:solidFill>
                <a:latin typeface="Times New Roman"/>
              </a:rPr>
              <a:t>❖Cổng kiểm tra lô: năm luật, sai một luật là từ chối cả lô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5013064"/>
              </p:ext>
            </p:extLst>
          </p:nvPr>
        </p:nvGraphicFramePr>
        <p:xfrm>
          <a:off x="320040" y="1591056"/>
          <a:ext cx="8237106" cy="2743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19196"/>
                <a:gridCol w="511791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 i="0" dirty="0" err="1">
                          <a:solidFill>
                            <a:srgbClr val="FFFFFF"/>
                          </a:solidFill>
                          <a:latin typeface="Times New Roman"/>
                        </a:rPr>
                        <a:t>rule_id</a:t>
                      </a:r>
                      <a:endParaRPr sz="1300" b="1" i="0" dirty="0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</a:rPr>
                        <a:t>Bắt lỗi gì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MANIFEST_INVALID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Thiếu/hỏng manifest, thiếu field, không thấy file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CHECKSUM_MISMATCH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File hỏng, truyền thiếu, </a:t>
                      </a:r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bị sửa tay</a:t>
                      </a:r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 sau bàn giao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SCHEMA_COLUMN_MISSING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Header thiếu cột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COUNT_MISMATCH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Số dòng ≠ manifest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PARTITION_MISMATCH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Thư mục, manifest, cột as_of_month không khớp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39" y="4471416"/>
            <a:ext cx="7991447" cy="27084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Nghiệm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thu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: 7 </a:t>
            </a:r>
            <a:r>
              <a:rPr sz="1400" b="0" i="0" dirty="0" smtClean="0">
                <a:solidFill>
                  <a:srgbClr val="262626"/>
                </a:solidFill>
                <a:latin typeface="Times New Roman"/>
              </a:rPr>
              <a:t>test</a:t>
            </a:r>
            <a:r>
              <a:rPr lang="en-US" sz="1400" b="0" i="0" dirty="0" smtClean="0">
                <a:solidFill>
                  <a:srgbClr val="262626"/>
                </a:solidFill>
                <a:latin typeface="Times New Roman"/>
              </a:rPr>
              <a:t>,</a:t>
            </a:r>
            <a:r>
              <a:rPr sz="1400" b="0" i="0" dirty="0" smtClean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mỗi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test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làm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hỏng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một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bản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sao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lô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thật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theo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1" i="0" dirty="0" err="1">
                <a:solidFill>
                  <a:srgbClr val="262626"/>
                </a:solidFill>
                <a:latin typeface="Times New Roman"/>
              </a:rPr>
              <a:t>một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cách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, validator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phải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bắt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đúng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luật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đó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51760" y="91440"/>
            <a:ext cx="6949440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C55A11"/>
                </a:solidFill>
                <a:latin typeface="Times New Roman"/>
              </a:rPr>
              <a:t>Section 3: Thiết kế &amp; Xây dựng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841248"/>
            <a:ext cx="11826240" cy="43891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070C0"/>
                </a:solidFill>
                <a:latin typeface="Times New Roman"/>
              </a:rPr>
              <a:t>❖Bronze: append-only, idempotent, và ghi dữ liệu trước — ghi sổ sau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298448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15875">
            <a:solidFill>
              <a:srgbClr val="1F5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262626"/>
                </a:solidFill>
                <a:latin typeface="Times New Roman"/>
              </a:rPr>
              <a:t>Cổng kiểm tra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057400" y="1728216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13432" y="1298448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15875">
            <a:solidFill>
              <a:srgbClr val="1F5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262626"/>
                </a:solidFill>
                <a:latin typeface="Times New Roman"/>
              </a:rPr>
              <a:t>Đã có trong sổ?</a:t>
            </a:r>
          </a:p>
          <a:p>
            <a:pPr algn="ctr"/>
            <a:r>
              <a:rPr sz="1300" b="0" i="0">
                <a:solidFill>
                  <a:srgbClr val="262626"/>
                </a:solidFill>
                <a:latin typeface="Times New Roman"/>
              </a:rPr>
              <a:t>→ bỏ qua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1728216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06824" y="1298448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15875">
            <a:solidFill>
              <a:srgbClr val="1F5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262626"/>
                </a:solidFill>
                <a:latin typeface="Times New Roman"/>
              </a:rPr>
              <a:t>Đọc CSV</a:t>
            </a:r>
          </a:p>
          <a:p>
            <a:pPr algn="ctr"/>
            <a:r>
              <a:rPr sz="1300" b="0" i="0">
                <a:solidFill>
                  <a:srgbClr val="262626"/>
                </a:solidFill>
                <a:latin typeface="Times New Roman"/>
              </a:rPr>
              <a:t>(mọi cột string)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44184" y="1728216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0216" y="1298448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15875">
            <a:solidFill>
              <a:srgbClr val="1F5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262626"/>
                </a:solidFill>
                <a:latin typeface="Times New Roman"/>
              </a:rPr>
              <a:t>Gắn _batch_id,</a:t>
            </a:r>
          </a:p>
          <a:p>
            <a:pPr algn="ctr"/>
            <a:r>
              <a:rPr sz="1300" b="0" i="0">
                <a:solidFill>
                  <a:srgbClr val="262626"/>
                </a:solidFill>
                <a:latin typeface="Times New Roman"/>
              </a:rPr>
              <a:t>_source_file, _ingest_ts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037576" y="1728216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293608" y="1298448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C98B5A"/>
          </a:solidFill>
          <a:ln w="15875">
            <a:solidFill>
              <a:srgbClr val="1F5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FFFFFF"/>
                </a:solidFill>
                <a:latin typeface="Times New Roman"/>
              </a:rPr>
              <a:t>① Ghi Bronze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030968" y="1728216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0287000" y="1298448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C98B5A"/>
          </a:solidFill>
          <a:ln w="15875">
            <a:solidFill>
              <a:srgbClr val="1F5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FFFFFF"/>
                </a:solidFill>
                <a:latin typeface="Times New Roman"/>
              </a:rPr>
              <a:t>② Ghi sổ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2395728"/>
            <a:ext cx="6949440" cy="25545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1" dirty="0" err="1" smtClean="0">
                <a:solidFill>
                  <a:srgbClr val="595959"/>
                </a:solidFill>
                <a:latin typeface="Times New Roman"/>
              </a:rPr>
              <a:t>Vì</a:t>
            </a:r>
            <a:r>
              <a:rPr sz="1300" b="0" i="1" dirty="0" smtClean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1" dirty="0" err="1">
                <a:solidFill>
                  <a:srgbClr val="595959"/>
                </a:solidFill>
                <a:latin typeface="Times New Roman"/>
              </a:rPr>
              <a:t>sao</a:t>
            </a:r>
            <a:r>
              <a:rPr sz="1300" b="0" i="1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1" dirty="0" err="1">
                <a:solidFill>
                  <a:srgbClr val="595959"/>
                </a:solidFill>
                <a:latin typeface="Times New Roman"/>
              </a:rPr>
              <a:t>ghi</a:t>
            </a:r>
            <a:r>
              <a:rPr sz="1300" b="0" i="1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1" dirty="0" err="1">
                <a:solidFill>
                  <a:srgbClr val="595959"/>
                </a:solidFill>
                <a:latin typeface="Times New Roman"/>
              </a:rPr>
              <a:t>dữ</a:t>
            </a:r>
            <a:r>
              <a:rPr sz="1300" b="0" i="1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1" dirty="0" err="1">
                <a:solidFill>
                  <a:srgbClr val="595959"/>
                </a:solidFill>
                <a:latin typeface="Times New Roman"/>
              </a:rPr>
              <a:t>liệu</a:t>
            </a:r>
            <a:r>
              <a:rPr sz="1300" b="0" i="1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1" dirty="0" err="1">
                <a:solidFill>
                  <a:srgbClr val="595959"/>
                </a:solidFill>
                <a:latin typeface="Times New Roman"/>
              </a:rPr>
              <a:t>trước</a:t>
            </a:r>
            <a:r>
              <a:rPr sz="1300" b="0" i="1" dirty="0">
                <a:solidFill>
                  <a:srgbClr val="595959"/>
                </a:solidFill>
                <a:latin typeface="Times New Roman"/>
              </a:rPr>
              <a:t>, </a:t>
            </a:r>
            <a:r>
              <a:rPr sz="1300" b="0" i="1" dirty="0" err="1">
                <a:solidFill>
                  <a:srgbClr val="595959"/>
                </a:solidFill>
                <a:latin typeface="Times New Roman"/>
              </a:rPr>
              <a:t>ghi</a:t>
            </a:r>
            <a:r>
              <a:rPr sz="1300" b="0" i="1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1" dirty="0" err="1">
                <a:solidFill>
                  <a:srgbClr val="595959"/>
                </a:solidFill>
                <a:latin typeface="Times New Roman"/>
              </a:rPr>
              <a:t>sổ</a:t>
            </a:r>
            <a:r>
              <a:rPr sz="1300" b="0" i="1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1" dirty="0" err="1">
                <a:solidFill>
                  <a:srgbClr val="595959"/>
                </a:solidFill>
                <a:latin typeface="Times New Roman"/>
              </a:rPr>
              <a:t>sau</a:t>
            </a:r>
            <a:endParaRPr sz="1300" b="0" i="1" dirty="0">
              <a:solidFill>
                <a:srgbClr val="595959"/>
              </a:solidFill>
              <a:latin typeface="Times New Roman"/>
            </a:endParaRPr>
          </a:p>
        </p:txBody>
      </p:sp>
      <p:graphicFrame>
        <p:nvGraphicFramePr>
          <p:cNvPr id="16" name="Table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6819580"/>
              </p:ext>
            </p:extLst>
          </p:nvPr>
        </p:nvGraphicFramePr>
        <p:xfrm>
          <a:off x="320040" y="2688336"/>
          <a:ext cx="10727823" cy="17007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77250"/>
                <a:gridCol w="4176214"/>
                <a:gridCol w="4674359"/>
              </a:tblGrid>
              <a:tr h="566928">
                <a:tc>
                  <a:txBody>
                    <a:bodyPr/>
                    <a:lstStyle/>
                    <a:p>
                      <a:r>
                        <a:rPr sz="1300" b="1" i="0" dirty="0" err="1">
                          <a:solidFill>
                            <a:srgbClr val="FFFFFF"/>
                          </a:solidFill>
                          <a:latin typeface="Times New Roman"/>
                        </a:rPr>
                        <a:t>Sự</a:t>
                      </a:r>
                      <a:r>
                        <a:rPr sz="1300" b="1" i="0" dirty="0">
                          <a:solidFill>
                            <a:srgbClr val="FFFFFF"/>
                          </a:solidFill>
                          <a:latin typeface="Times New Roman"/>
                        </a:rPr>
                        <a:t> </a:t>
                      </a:r>
                      <a:r>
                        <a:rPr sz="1300" b="1" i="0" dirty="0" err="1">
                          <a:solidFill>
                            <a:srgbClr val="FFFFFF"/>
                          </a:solidFill>
                          <a:latin typeface="Times New Roman"/>
                        </a:rPr>
                        <a:t>cố</a:t>
                      </a:r>
                      <a:r>
                        <a:rPr sz="1300" b="1" i="0" dirty="0">
                          <a:solidFill>
                            <a:srgbClr val="FFFFFF"/>
                          </a:solidFill>
                          <a:latin typeface="Times New Roman"/>
                        </a:rPr>
                        <a:t> </a:t>
                      </a:r>
                      <a:r>
                        <a:rPr sz="1300" b="1" i="0" dirty="0" err="1">
                          <a:solidFill>
                            <a:srgbClr val="FFFFFF"/>
                          </a:solidFill>
                          <a:latin typeface="Times New Roman"/>
                        </a:rPr>
                        <a:t>giữa</a:t>
                      </a:r>
                      <a:r>
                        <a:rPr sz="1300" b="1" i="0" dirty="0">
                          <a:solidFill>
                            <a:srgbClr val="FFFFFF"/>
                          </a:solidFill>
                          <a:latin typeface="Times New Roman"/>
                        </a:rPr>
                        <a:t> </a:t>
                      </a:r>
                      <a:r>
                        <a:rPr sz="1300" b="1" i="0" dirty="0" err="1">
                          <a:solidFill>
                            <a:srgbClr val="FFFFFF"/>
                          </a:solidFill>
                          <a:latin typeface="Times New Roman"/>
                        </a:rPr>
                        <a:t>hai</a:t>
                      </a:r>
                      <a:r>
                        <a:rPr sz="1300" b="1" i="0" dirty="0">
                          <a:solidFill>
                            <a:srgbClr val="FFFFFF"/>
                          </a:solidFill>
                          <a:latin typeface="Times New Roman"/>
                        </a:rPr>
                        <a:t> </a:t>
                      </a:r>
                      <a:r>
                        <a:rPr sz="1300" b="1" i="0" dirty="0" err="1">
                          <a:solidFill>
                            <a:srgbClr val="FFFFFF"/>
                          </a:solidFill>
                          <a:latin typeface="Times New Roman"/>
                        </a:rPr>
                        <a:t>bước</a:t>
                      </a:r>
                      <a:endParaRPr sz="1300" b="1" i="0" dirty="0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</a:rPr>
                        <a:t>Ghi sổ trước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</a:rPr>
                        <a:t>Ghi dữ liệu trước (đã chọn)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Hậu quả ở Bronze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Sổ nói “đã nạp”, Bronze không có → </a:t>
                      </a:r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mất lô vĩnh viễn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Lần sau nạp lại thành bản trùng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Hậu quả ở Silver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Thiếu cả tháng, không ai biết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Không</a:t>
                      </a:r>
                      <a:r>
                        <a:rPr sz="13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3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ảnh</a:t>
                      </a:r>
                      <a:r>
                        <a:rPr sz="13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3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hưởng</a:t>
                      </a:r>
                      <a:r>
                        <a:rPr sz="13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— Silver </a:t>
                      </a:r>
                      <a:r>
                        <a:rPr sz="13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chỉ</a:t>
                      </a:r>
                      <a:r>
                        <a:rPr sz="13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3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đọc</a:t>
                      </a:r>
                      <a:r>
                        <a:rPr sz="13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300" b="1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lô</a:t>
                      </a:r>
                      <a:r>
                        <a:rPr sz="1300" b="1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active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320040" y="4526280"/>
            <a:ext cx="6949440" cy="1463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62626"/>
                </a:solidFill>
                <a:latin typeface="Times New Roman"/>
              </a:rPr>
              <a:t>• </a:t>
            </a:r>
            <a:r>
              <a:rPr sz="1400" b="1" i="0">
                <a:solidFill>
                  <a:srgbClr val="262626"/>
                </a:solidFill>
                <a:latin typeface="Times New Roman"/>
              </a:rPr>
              <a:t>Lô active</a:t>
            </a:r>
            <a:r>
              <a:rPr sz="1400" b="0" i="0">
                <a:solidFill>
                  <a:srgbClr val="262626"/>
                </a:solidFill>
                <a:latin typeface="Times New Roman"/>
              </a:rPr>
              <a:t>: mỗi tháng lấy bản nạp mới nhất (_ingest_ts lớn nhất; bằng nhau → _batch_id lớn hơn). Gửi lại tháng 6 → Bronze giữ </a:t>
            </a:r>
            <a:r>
              <a:rPr sz="1400" b="1" i="0">
                <a:solidFill>
                  <a:srgbClr val="262626"/>
                </a:solidFill>
                <a:latin typeface="Times New Roman"/>
              </a:rPr>
              <a:t>cả hai</a:t>
            </a:r>
            <a:r>
              <a:rPr sz="1400" b="0" i="0">
                <a:solidFill>
                  <a:srgbClr val="262626"/>
                </a:solidFill>
                <a:latin typeface="Times New Roman"/>
              </a:rPr>
              <a:t> bản để truy vết, Silver chỉ đọc bản mới.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62626"/>
                </a:solidFill>
                <a:latin typeface="Times New Roman"/>
              </a:rPr>
              <a:t>• Nghiệm thu: chạy lại lần hai → “bỏ qua 20 lô đã nạp”, Bronze không đổi một dòng.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51760" y="91440"/>
            <a:ext cx="6949440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C55A11"/>
                </a:solidFill>
                <a:latin typeface="Times New Roman"/>
              </a:rPr>
              <a:t>Section 3: Thiết kế &amp; Xây dựng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841248"/>
            <a:ext cx="11826240" cy="43891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070C0"/>
                </a:solidFill>
                <a:latin typeface="Times New Roman"/>
              </a:rPr>
              <a:t>❖Silver: star schema ở grain “một hợp đồng”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2651760" y="1801368"/>
            <a:ext cx="2377440" cy="32918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fact_valuation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1760" y="2130552"/>
            <a:ext cx="2377440" cy="2025395"/>
          </a:xfrm>
          <a:prstGeom prst="rect">
            <a:avLst/>
          </a:prstGeom>
          <a:solidFill>
            <a:srgbClr val="FDEBE0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262626"/>
                </a:solidFill>
                <a:latin typeface="Times New Roman"/>
              </a:rPr>
              <a:t>ma_dinh_gia  (degenerate)</a:t>
            </a:r>
          </a:p>
          <a:p>
            <a:pPr algn="l"/>
            <a:r>
              <a:rPr sz="1100" b="0" i="0">
                <a:solidFill>
                  <a:srgbClr val="262626"/>
                </a:solidFill>
                <a:latin typeface="Times New Roman"/>
              </a:rPr>
              <a:t>model_key  FK</a:t>
            </a:r>
          </a:p>
          <a:p>
            <a:pPr algn="l"/>
            <a:r>
              <a:rPr sz="1100" b="0" i="0">
                <a:solidFill>
                  <a:srgbClr val="262626"/>
                </a:solidFill>
                <a:latin typeface="Times New Roman"/>
              </a:rPr>
              <a:t>vehicle_type_key  FK</a:t>
            </a:r>
          </a:p>
          <a:p>
            <a:pPr algn="l"/>
            <a:r>
              <a:rPr sz="1100" b="0" i="0">
                <a:solidFill>
                  <a:srgbClr val="262626"/>
                </a:solidFill>
                <a:latin typeface="Times New Roman"/>
              </a:rPr>
              <a:t>ngay_duyet_key  FK</a:t>
            </a:r>
          </a:p>
          <a:p>
            <a:pPr algn="l"/>
            <a:r>
              <a:rPr sz="1100" b="0" i="0">
                <a:solidFill>
                  <a:srgbClr val="262626"/>
                </a:solidFill>
                <a:latin typeface="Times New Roman"/>
              </a:rPr>
              <a:t>hieu_luc_tu_key  FK</a:t>
            </a:r>
          </a:p>
          <a:p>
            <a:pPr algn="l"/>
            <a:r>
              <a:rPr sz="1100" b="0" i="0">
                <a:solidFill>
                  <a:srgbClr val="262626"/>
                </a:solidFill>
                <a:latin typeface="Times New Roman"/>
              </a:rPr>
              <a:t>nam_san_xuat, so_cho_ngoi</a:t>
            </a:r>
          </a:p>
          <a:p>
            <a:pPr algn="l"/>
            <a:r>
              <a:rPr sz="1100" b="0" i="0">
                <a:solidFill>
                  <a:srgbClr val="262626"/>
                </a:solidFill>
                <a:latin typeface="Times New Roman"/>
              </a:rPr>
              <a:t>loai_dinh_gia, tuoi_xe</a:t>
            </a:r>
          </a:p>
          <a:p>
            <a:pPr algn="l"/>
            <a:r>
              <a:rPr sz="1100" b="0" i="0">
                <a:solidFill>
                  <a:srgbClr val="262626"/>
                </a:solidFill>
                <a:latin typeface="Times New Roman"/>
              </a:rPr>
              <a:t>gia_tri_trieu_vnd  MEASURE</a:t>
            </a:r>
          </a:p>
          <a:p>
            <a:pPr algn="l"/>
            <a:r>
              <a:rPr sz="1100" b="0" i="0">
                <a:solidFill>
                  <a:srgbClr val="262626"/>
                </a:solidFill>
                <a:latin typeface="Times New Roman"/>
              </a:rPr>
              <a:t>as_of_month, _batch_id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98448"/>
            <a:ext cx="2011680" cy="329184"/>
          </a:xfrm>
          <a:prstGeom prst="rect">
            <a:avLst/>
          </a:prstGeom>
          <a:solidFill>
            <a:srgbClr val="1F5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dim_model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2011680" cy="736092"/>
          </a:xfrm>
          <a:prstGeom prst="rect">
            <a:avLst/>
          </a:prstGeom>
          <a:solidFill>
            <a:srgbClr val="DDEBF7"/>
          </a:solidFill>
          <a:ln w="15875">
            <a:solidFill>
              <a:srgbClr val="1F5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262626"/>
                </a:solidFill>
                <a:latin typeface="Times New Roman"/>
              </a:rPr>
              <a:t>model_key  PK</a:t>
            </a:r>
          </a:p>
          <a:p>
            <a:pPr algn="l"/>
            <a:r>
              <a:rPr sz="1100" b="0" i="0">
                <a:solidFill>
                  <a:srgbClr val="262626"/>
                </a:solidFill>
                <a:latin typeface="Times New Roman"/>
              </a:rPr>
              <a:t>ma_dong_xe</a:t>
            </a:r>
          </a:p>
          <a:p>
            <a:pPr algn="l"/>
            <a:r>
              <a:rPr sz="1100" b="0" i="0">
                <a:solidFill>
                  <a:srgbClr val="262626"/>
                </a:solidFill>
                <a:latin typeface="Times New Roman"/>
              </a:rPr>
              <a:t>hang_xe, hieu_xe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3447288"/>
            <a:ext cx="2011680" cy="329184"/>
          </a:xfrm>
          <a:prstGeom prst="rect">
            <a:avLst/>
          </a:prstGeom>
          <a:solidFill>
            <a:srgbClr val="1F5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dim_vehicle_type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3776472"/>
            <a:ext cx="2011680" cy="950976"/>
          </a:xfrm>
          <a:prstGeom prst="rect">
            <a:avLst/>
          </a:prstGeom>
          <a:solidFill>
            <a:srgbClr val="DDEBF7"/>
          </a:solidFill>
          <a:ln w="15875">
            <a:solidFill>
              <a:srgbClr val="1F5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262626"/>
                </a:solidFill>
                <a:latin typeface="Times New Roman"/>
              </a:rPr>
              <a:t>vehicle_type_key  PK</a:t>
            </a:r>
          </a:p>
          <a:p>
            <a:pPr algn="l"/>
            <a:r>
              <a:rPr sz="1100" b="0" i="0">
                <a:solidFill>
                  <a:srgbClr val="262626"/>
                </a:solidFill>
                <a:latin typeface="Times New Roman"/>
              </a:rPr>
              <a:t>nhom_xe, mo_ta</a:t>
            </a:r>
          </a:p>
          <a:p>
            <a:pPr algn="l"/>
            <a:r>
              <a:rPr sz="1100" b="0" i="0">
                <a:solidFill>
                  <a:srgbClr val="262626"/>
                </a:solidFill>
                <a:latin typeface="Times New Roman"/>
              </a:rPr>
              <a:t>muc_dich_su_dung</a:t>
            </a:r>
          </a:p>
          <a:p>
            <a:pPr algn="l"/>
            <a:r>
              <a:rPr sz="1100" b="0" i="0">
                <a:solidFill>
                  <a:srgbClr val="262626"/>
                </a:solidFill>
                <a:latin typeface="Times New Roman"/>
              </a:rPr>
              <a:t>trong_pham_vi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121408"/>
            <a:ext cx="2011680" cy="329184"/>
          </a:xfrm>
          <a:prstGeom prst="rect">
            <a:avLst/>
          </a:prstGeom>
          <a:solidFill>
            <a:srgbClr val="1F5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 dirty="0" err="1" smtClean="0">
                <a:solidFill>
                  <a:srgbClr val="FFFFFF"/>
                </a:solidFill>
                <a:latin typeface="Times New Roman"/>
              </a:rPr>
              <a:t>dim_date</a:t>
            </a:r>
            <a:endParaRPr sz="1300" b="1" i="0" dirty="0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440680" y="2450592"/>
            <a:ext cx="2011680" cy="736092"/>
          </a:xfrm>
          <a:prstGeom prst="rect">
            <a:avLst/>
          </a:prstGeom>
          <a:solidFill>
            <a:srgbClr val="DDEBF7"/>
          </a:solidFill>
          <a:ln w="15875">
            <a:solidFill>
              <a:srgbClr val="1F5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262626"/>
                </a:solidFill>
                <a:latin typeface="Times New Roman"/>
              </a:rPr>
              <a:t>date_key  PK (yyyymmdd)</a:t>
            </a:r>
          </a:p>
          <a:p>
            <a:pPr algn="l"/>
            <a:r>
              <a:rPr sz="1100" b="0" i="0">
                <a:solidFill>
                  <a:srgbClr val="262626"/>
                </a:solidFill>
                <a:latin typeface="Times New Roman"/>
              </a:rPr>
              <a:t>ngay, nam, quy, thang</a:t>
            </a:r>
          </a:p>
          <a:p>
            <a:pPr algn="l"/>
            <a:r>
              <a:rPr sz="1100" b="0" i="0">
                <a:solidFill>
                  <a:srgbClr val="262626"/>
                </a:solidFill>
                <a:latin typeface="Times New Roman"/>
              </a:rPr>
              <a:t>nam_thang, la_cuoi_tuan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31720" y="1847088"/>
            <a:ext cx="320040" cy="640080"/>
          </a:xfrm>
          <a:prstGeom prst="line">
            <a:avLst/>
          </a:prstGeom>
          <a:ln w="22225">
            <a:solidFill>
              <a:srgbClr val="1F5F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331720" y="2715768"/>
            <a:ext cx="320040" cy="1143000"/>
          </a:xfrm>
          <a:prstGeom prst="line">
            <a:avLst/>
          </a:prstGeom>
          <a:ln w="22225">
            <a:solidFill>
              <a:srgbClr val="1F5F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029200" y="2487168"/>
            <a:ext cx="411480" cy="411480"/>
          </a:xfrm>
          <a:prstGeom prst="line">
            <a:avLst/>
          </a:prstGeom>
          <a:ln w="22225">
            <a:solidFill>
              <a:srgbClr val="1F5F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5029200" y="2670048"/>
            <a:ext cx="411480" cy="457200"/>
          </a:xfrm>
          <a:prstGeom prst="line">
            <a:avLst/>
          </a:prstGeom>
          <a:ln w="22225">
            <a:solidFill>
              <a:srgbClr val="1F5F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0" y="1298448"/>
            <a:ext cx="4572000" cy="25545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 i="1" dirty="0" smtClean="0">
                <a:solidFill>
                  <a:srgbClr val="595959"/>
                </a:solidFill>
                <a:latin typeface="Times New Roman"/>
              </a:rPr>
              <a:t>Grain </a:t>
            </a:r>
            <a:r>
              <a:rPr sz="1300" b="0" i="1" dirty="0" err="1">
                <a:solidFill>
                  <a:srgbClr val="595959"/>
                </a:solidFill>
                <a:latin typeface="Times New Roman"/>
              </a:rPr>
              <a:t>và</a:t>
            </a:r>
            <a:r>
              <a:rPr sz="1300" b="0" i="1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1" dirty="0" err="1">
                <a:solidFill>
                  <a:srgbClr val="595959"/>
                </a:solidFill>
                <a:latin typeface="Times New Roman"/>
              </a:rPr>
              <a:t>số</a:t>
            </a:r>
            <a:r>
              <a:rPr sz="1300" b="0" i="1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1" dirty="0" err="1">
                <a:solidFill>
                  <a:srgbClr val="595959"/>
                </a:solidFill>
                <a:latin typeface="Times New Roman"/>
              </a:rPr>
              <a:t>dòng</a:t>
            </a:r>
            <a:r>
              <a:rPr sz="1300" b="0" i="1" dirty="0">
                <a:solidFill>
                  <a:srgbClr val="595959"/>
                </a:solidFill>
                <a:latin typeface="Times New Roman"/>
              </a:rPr>
              <a:t> Silver (20 </a:t>
            </a:r>
            <a:r>
              <a:rPr sz="1300" b="0" i="1" dirty="0" err="1">
                <a:solidFill>
                  <a:srgbClr val="595959"/>
                </a:solidFill>
                <a:latin typeface="Times New Roman"/>
              </a:rPr>
              <a:t>lô</a:t>
            </a:r>
            <a:r>
              <a:rPr sz="1300" b="0" i="1" dirty="0">
                <a:solidFill>
                  <a:srgbClr val="595959"/>
                </a:solidFill>
                <a:latin typeface="Times New Roman"/>
              </a:rPr>
              <a:t>, ref 2026-07)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7315200" y="1591056"/>
          <a:ext cx="4571998" cy="2468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29945"/>
                <a:gridCol w="1977081"/>
                <a:gridCol w="864972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</a:rPr>
                        <a:t>Bảng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</a:rPr>
                        <a:t>Grain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</a:rPr>
                        <a:t>Dòng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fact_valuation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1 hợp đồng định giá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53.064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dim_model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1 mã dòng xe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2.167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dim_vehicle_type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1 mã loại xe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dim_date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1 ngày (2024–2027)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1.461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quarantine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1 dòng Bronze bị loại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6.357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7315200" y="4224528"/>
            <a:ext cx="4572000" cy="1463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 dirty="0">
                <a:solidFill>
                  <a:srgbClr val="262626"/>
                </a:solidFill>
                <a:latin typeface="Times New Roman"/>
              </a:rPr>
              <a:t>•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dim_model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: 2.167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mã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→ 106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dòng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xe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→ 27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hãng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400" b="0" i="0" dirty="0">
                <a:solidFill>
                  <a:srgbClr val="262626"/>
                </a:solidFill>
                <a:latin typeface="Times New Roman"/>
              </a:rPr>
              <a:t>•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Đơn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vị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: VND → </a:t>
            </a:r>
            <a:r>
              <a:rPr sz="1400" b="1" i="0" dirty="0" err="1">
                <a:solidFill>
                  <a:srgbClr val="262626"/>
                </a:solidFill>
                <a:latin typeface="Times New Roman"/>
              </a:rPr>
              <a:t>triệu</a:t>
            </a:r>
            <a:r>
              <a:rPr sz="1400" b="1" i="0" dirty="0">
                <a:solidFill>
                  <a:srgbClr val="262626"/>
                </a:solidFill>
                <a:latin typeface="Times New Roman"/>
              </a:rPr>
              <a:t> VND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ngay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ở Silver;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từ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đây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trở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đi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chỉ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một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đơn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vị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295328"/>
            <a:ext cx="6035040" cy="116852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dirty="0" smtClean="0">
                <a:solidFill>
                  <a:srgbClr val="262626"/>
                </a:solidFill>
                <a:latin typeface="Times New Roman"/>
              </a:rPr>
              <a:t>• </a:t>
            </a:r>
            <a:r>
              <a:rPr sz="1600" b="1" i="0" dirty="0" err="1">
                <a:solidFill>
                  <a:srgbClr val="262626"/>
                </a:solidFill>
                <a:latin typeface="Times New Roman"/>
              </a:rPr>
              <a:t>ma_dong_xe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là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cột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quan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trọng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nhất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: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hãng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và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dòng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xe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1" i="0" dirty="0" err="1">
                <a:solidFill>
                  <a:srgbClr val="262626"/>
                </a:solidFill>
                <a:latin typeface="Times New Roman"/>
              </a:rPr>
              <a:t>đều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giải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mã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từ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nó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qua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ref_model_map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(ref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có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phiên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bản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ở landing,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kiểm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SHA-256).</a:t>
            </a:r>
          </a:p>
          <a:p>
            <a:pPr algn="l">
              <a:spcAft>
                <a:spcPts val="1000"/>
              </a:spcAft>
            </a:pPr>
            <a:r>
              <a:rPr sz="1600" b="0" i="0" dirty="0">
                <a:solidFill>
                  <a:srgbClr val="262626"/>
                </a:solidFill>
                <a:latin typeface="Times New Roman"/>
              </a:rPr>
              <a:t>• </a:t>
            </a:r>
            <a:r>
              <a:rPr sz="1600" b="1" i="0" dirty="0" err="1">
                <a:solidFill>
                  <a:srgbClr val="262626"/>
                </a:solidFill>
                <a:latin typeface="Times New Roman"/>
              </a:rPr>
              <a:t>loai_dinh_gia</a:t>
            </a:r>
            <a:r>
              <a:rPr sz="1600" b="1" i="0" dirty="0">
                <a:solidFill>
                  <a:srgbClr val="262626"/>
                </a:solidFill>
                <a:latin typeface="Times New Roman"/>
              </a:rPr>
              <a:t> ∈ {new, used}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là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cột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1" i="0" dirty="0" err="1">
                <a:solidFill>
                  <a:srgbClr val="262626"/>
                </a:solidFill>
                <a:latin typeface="Times New Roman"/>
              </a:rPr>
              <a:t>suy</a:t>
            </a:r>
            <a:r>
              <a:rPr sz="16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1" i="0" dirty="0" err="1">
                <a:solidFill>
                  <a:srgbClr val="262626"/>
                </a:solidFill>
                <a:latin typeface="Times New Roman"/>
              </a:rPr>
              <a:t>luận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(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đời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xe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≥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năm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hiệu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lực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→ new);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luật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đã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được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nghiệp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vụ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xác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nhận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là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hợp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Times New Roman"/>
              </a:rPr>
              <a:t>lý</a:t>
            </a:r>
            <a:r>
              <a:rPr sz="1600" b="0" i="0" dirty="0">
                <a:solidFill>
                  <a:srgbClr val="262626"/>
                </a:solidFill>
                <a:latin typeface="Times New Roman"/>
              </a:rPr>
              <a:t> (2026-09-29</a:t>
            </a:r>
            <a:r>
              <a:rPr sz="1600" b="0" i="0" dirty="0" smtClean="0">
                <a:solidFill>
                  <a:srgbClr val="262626"/>
                </a:solidFill>
                <a:latin typeface="Times New Roman"/>
              </a:rPr>
              <a:t>).</a:t>
            </a:r>
            <a:endParaRPr sz="1600" b="0" i="0" dirty="0">
              <a:solidFill>
                <a:srgbClr val="262626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51760" y="91440"/>
            <a:ext cx="6949440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C55A11"/>
                </a:solidFill>
                <a:latin typeface="Times New Roman"/>
              </a:rPr>
              <a:t>Section 3: Thiết kế &amp; Xây dựng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841248"/>
            <a:ext cx="11826240" cy="43891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070C0"/>
                </a:solidFill>
                <a:latin typeface="Times New Roman"/>
              </a:rPr>
              <a:t>❖Quarantine: tách dòng lỗi, không xoá, và đối soát đủ từng dòng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39" y="1298448"/>
            <a:ext cx="8325817" cy="27084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Mỗi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dòng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vi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phạm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mang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1" i="0" dirty="0" err="1">
                <a:solidFill>
                  <a:srgbClr val="262626"/>
                </a:solidFill>
                <a:latin typeface="Times New Roman"/>
              </a:rPr>
              <a:t>một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rule_id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—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luật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đầu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tiên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theo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thứ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tự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ưu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tiên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—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và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giữ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1" i="0" dirty="0" err="1">
                <a:solidFill>
                  <a:srgbClr val="262626"/>
                </a:solidFill>
                <a:latin typeface="Times New Roman"/>
              </a:rPr>
              <a:t>nguyên</a:t>
            </a:r>
            <a:r>
              <a:rPr sz="14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1" i="0" dirty="0" err="1">
                <a:solidFill>
                  <a:srgbClr val="262626"/>
                </a:solidFill>
                <a:latin typeface="Times New Roman"/>
              </a:rPr>
              <a:t>mọi</a:t>
            </a:r>
            <a:r>
              <a:rPr sz="14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1" i="0" dirty="0" err="1">
                <a:solidFill>
                  <a:srgbClr val="262626"/>
                </a:solidFill>
                <a:latin typeface="Times New Roman"/>
              </a:rPr>
              <a:t>cột</a:t>
            </a:r>
            <a:r>
              <a:rPr sz="14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1" i="0" dirty="0" err="1">
                <a:solidFill>
                  <a:srgbClr val="262626"/>
                </a:solidFill>
                <a:latin typeface="Times New Roman"/>
              </a:rPr>
              <a:t>thô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203044"/>
              </p:ext>
            </p:extLst>
          </p:nvPr>
        </p:nvGraphicFramePr>
        <p:xfrm>
          <a:off x="320040" y="2002536"/>
          <a:ext cx="6766559" cy="2971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59540"/>
                <a:gridCol w="3743203"/>
                <a:gridCol w="863816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FFFFF"/>
                          </a:solidFill>
                          <a:latin typeface="Times New Roman"/>
                        </a:rPr>
                        <a:t>Luật</a:t>
                      </a:r>
                      <a:endParaRPr sz="1200" b="1" i="0" dirty="0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Vi phạm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Dòng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Times New Roman"/>
                        </a:rPr>
                        <a:t>CORRUPT_RECORD · DUP_KEY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Vỡ</a:t>
                      </a:r>
                      <a:r>
                        <a:rPr sz="12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2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cột</a:t>
                      </a:r>
                      <a:r>
                        <a:rPr sz="12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lang="en-US" sz="1200" b="0" i="0" dirty="0" smtClean="0">
                          <a:solidFill>
                            <a:srgbClr val="262626"/>
                          </a:solidFill>
                          <a:latin typeface="Times New Roman"/>
                        </a:rPr>
                        <a:t>,</a:t>
                      </a:r>
                      <a:r>
                        <a:rPr sz="1200" b="0" i="0" dirty="0" smtClean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2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khoá</a:t>
                      </a:r>
                      <a:r>
                        <a:rPr sz="12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2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hợp</a:t>
                      </a:r>
                      <a:r>
                        <a:rPr sz="12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2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đồng</a:t>
                      </a:r>
                      <a:r>
                        <a:rPr sz="12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 </a:t>
                      </a:r>
                      <a:r>
                        <a:rPr sz="12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rỗng</a:t>
                      </a:r>
                      <a:r>
                        <a:rPr sz="12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/</a:t>
                      </a:r>
                      <a:r>
                        <a:rPr sz="12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trùng</a:t>
                      </a:r>
                      <a:endParaRPr sz="1200" b="0" i="0" dirty="0">
                        <a:solidFill>
                          <a:srgbClr val="262626"/>
                        </a:solidFill>
                        <a:latin typeface="Times New Roman"/>
                      </a:endParaRP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0 · 0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Times New Roman"/>
                        </a:rPr>
                        <a:t>MISSING_FIELD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Rỗng ở mã xe / đời / số chỗ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Times New Roman"/>
                        </a:rPr>
                        <a:t>DATE_INVALID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Ngày sai dạng, hiệu lực ngược, lệch ngày duyệt &gt; 1 năm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231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Times New Roman"/>
                        </a:rPr>
                        <a:t>OUT_OF_SCOPE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Không phải ô tô chở người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Times New Roman"/>
                        </a:rPr>
                        <a:t>MODEL_CODE_UNKNOWN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Mã xe chưa có trong ref_model_map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Times New Roman"/>
                        </a:rPr>
                        <a:t>3.291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Times New Roman"/>
                        </a:rPr>
                        <a:t>VALUE_INVALID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Đời / số chỗ / loại định giá ngoài miền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288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Times New Roman"/>
                        </a:rPr>
                        <a:t>PRICE_INVALID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Giá sai dạng hoặc ngoài [50 triệu, 50 tỷ] VND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Times New Roman"/>
                        </a:rPr>
                        <a:t>2.513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65449" y="5407581"/>
            <a:ext cx="676656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0" i="1" dirty="0" err="1">
                <a:solidFill>
                  <a:srgbClr val="262626"/>
                </a:solidFill>
                <a:latin typeface="Cambria Math"/>
              </a:rPr>
              <a:t>N_bronze_active</a:t>
            </a:r>
            <a:r>
              <a:rPr sz="1800" b="0" i="1" dirty="0">
                <a:solidFill>
                  <a:srgbClr val="262626"/>
                </a:solidFill>
                <a:latin typeface="Cambria Math"/>
              </a:rPr>
              <a:t> = </a:t>
            </a:r>
            <a:r>
              <a:rPr sz="1800" b="0" i="1" dirty="0" err="1">
                <a:solidFill>
                  <a:srgbClr val="262626"/>
                </a:solidFill>
                <a:latin typeface="Cambria Math"/>
              </a:rPr>
              <a:t>N_fact</a:t>
            </a:r>
            <a:r>
              <a:rPr sz="1800" b="0" i="1" dirty="0">
                <a:solidFill>
                  <a:srgbClr val="262626"/>
                </a:solidFill>
                <a:latin typeface="Cambria Math"/>
              </a:rPr>
              <a:t> + </a:t>
            </a:r>
            <a:r>
              <a:rPr sz="1800" b="0" i="1" dirty="0" err="1">
                <a:solidFill>
                  <a:srgbClr val="262626"/>
                </a:solidFill>
                <a:latin typeface="Cambria Math"/>
              </a:rPr>
              <a:t>N_quarantine</a:t>
            </a:r>
            <a:endParaRPr sz="1800" b="0" i="1" dirty="0">
              <a:solidFill>
                <a:srgbClr val="262626"/>
              </a:solidFill>
              <a:latin typeface="Cambria Math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506269" y="2002536"/>
            <a:ext cx="4502851" cy="2630879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l"/>
            <a:r>
              <a:rPr sz="1300" b="1" i="0" dirty="0" err="1">
                <a:solidFill>
                  <a:srgbClr val="548235"/>
                </a:solidFill>
                <a:latin typeface="Times New Roman"/>
              </a:rPr>
              <a:t>Nhận</a:t>
            </a:r>
            <a:r>
              <a:rPr sz="1300" b="1" i="0" dirty="0">
                <a:solidFill>
                  <a:srgbClr val="548235"/>
                </a:solidFill>
                <a:latin typeface="Times New Roman"/>
              </a:rPr>
              <a:t> </a:t>
            </a:r>
            <a:r>
              <a:rPr sz="1300" b="1" i="0" dirty="0" err="1">
                <a:solidFill>
                  <a:srgbClr val="548235"/>
                </a:solidFill>
                <a:latin typeface="Times New Roman"/>
              </a:rPr>
              <a:t>định</a:t>
            </a:r>
            <a:r>
              <a:rPr sz="1300" b="1" i="0" dirty="0">
                <a:solidFill>
                  <a:srgbClr val="548235"/>
                </a:solidFill>
                <a:latin typeface="Times New Roman"/>
              </a:rPr>
              <a:t>: 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MODEL_CODE_UNKNOWN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chiếm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phần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lớn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quarantine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là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tin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tốt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: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dữ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liệu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gốc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không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sai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,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chỉ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thiếu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một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dòng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tra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cứu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.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Sửa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bằng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cách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bổ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sung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mã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vào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 smtClean="0">
                <a:solidFill>
                  <a:srgbClr val="262626"/>
                </a:solidFill>
                <a:latin typeface="Times New Roman"/>
              </a:rPr>
              <a:t>ref_model_map</a:t>
            </a:r>
            <a:r>
              <a:rPr lang="en-US" sz="1300" dirty="0">
                <a:solidFill>
                  <a:srgbClr val="262626"/>
                </a:solidFill>
                <a:latin typeface="Times New Roman"/>
              </a:rPr>
              <a:t>,</a:t>
            </a:r>
            <a:r>
              <a:rPr sz="1300" b="0" i="0" dirty="0" smtClean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không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đụng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code,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không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cần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nguồn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gửi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lại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lô</a:t>
            </a:r>
            <a:r>
              <a:rPr sz="1300" b="0" i="0" dirty="0" smtClean="0">
                <a:solidFill>
                  <a:srgbClr val="262626"/>
                </a:solidFill>
                <a:latin typeface="Times New Roman"/>
              </a:rPr>
              <a:t>.</a:t>
            </a:r>
            <a:endParaRPr sz="1300" b="0" i="0" dirty="0">
              <a:solidFill>
                <a:srgbClr val="262626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51760" y="91440"/>
            <a:ext cx="6949440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C55A11"/>
                </a:solidFill>
                <a:latin typeface="Times New Roman"/>
              </a:rPr>
              <a:t>Section 3: Thiết kế &amp; Xây dựng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841248"/>
            <a:ext cx="1182624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 dirty="0">
                <a:solidFill>
                  <a:srgbClr val="0070C0"/>
                </a:solidFill>
                <a:latin typeface="Times New Roman"/>
              </a:rPr>
              <a:t>❖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Bàn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giao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ref 2026-07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kéo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2.744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dòng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về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fact ở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mọi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</a:t>
            </a:r>
            <a:r>
              <a:rPr sz="2000" b="1" i="0" dirty="0" err="1" smtClean="0">
                <a:solidFill>
                  <a:srgbClr val="0070C0"/>
                </a:solidFill>
                <a:latin typeface="Times New Roman"/>
              </a:rPr>
              <a:t>tháng</a:t>
            </a:r>
            <a:endParaRPr sz="2000" b="1" i="0" dirty="0">
              <a:solidFill>
                <a:srgbClr val="0070C0"/>
              </a:solidFill>
              <a:latin typeface="Times New Roman"/>
            </a:endParaRPr>
          </a:p>
        </p:txBody>
      </p:sp>
      <p:pic>
        <p:nvPicPr>
          <p:cNvPr id="4" name="Picture 3" descr="hinh_07_phien_ban_r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98448"/>
            <a:ext cx="7223760" cy="3598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" y="4915102"/>
            <a:ext cx="7223760" cy="25545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 i="1" dirty="0" err="1" smtClean="0">
                <a:solidFill>
                  <a:srgbClr val="595959"/>
                </a:solidFill>
                <a:latin typeface="Times New Roman"/>
              </a:rPr>
              <a:t>Tỷ</a:t>
            </a:r>
            <a:r>
              <a:rPr sz="1300" b="0" i="1" dirty="0" smtClean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1" dirty="0" err="1">
                <a:solidFill>
                  <a:srgbClr val="595959"/>
                </a:solidFill>
                <a:latin typeface="Times New Roman"/>
              </a:rPr>
              <a:t>lệ</a:t>
            </a:r>
            <a:r>
              <a:rPr sz="1300" b="0" i="1" dirty="0">
                <a:solidFill>
                  <a:srgbClr val="595959"/>
                </a:solidFill>
                <a:latin typeface="Times New Roman"/>
              </a:rPr>
              <a:t> quarantine </a:t>
            </a:r>
            <a:r>
              <a:rPr sz="1300" b="0" i="1" dirty="0" err="1">
                <a:solidFill>
                  <a:srgbClr val="595959"/>
                </a:solidFill>
                <a:latin typeface="Times New Roman"/>
              </a:rPr>
              <a:t>theo</a:t>
            </a:r>
            <a:r>
              <a:rPr sz="1300" b="0" i="1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1" dirty="0" err="1">
                <a:solidFill>
                  <a:srgbClr val="595959"/>
                </a:solidFill>
                <a:latin typeface="Times New Roman"/>
              </a:rPr>
              <a:t>tháng</a:t>
            </a:r>
            <a:r>
              <a:rPr sz="1300" b="0" i="1" dirty="0">
                <a:solidFill>
                  <a:srgbClr val="595959"/>
                </a:solidFill>
                <a:latin typeface="Times New Roman"/>
              </a:rPr>
              <a:t>: ref 2026-06 so </a:t>
            </a:r>
            <a:r>
              <a:rPr sz="1300" b="0" i="1" dirty="0" err="1">
                <a:solidFill>
                  <a:srgbClr val="595959"/>
                </a:solidFill>
                <a:latin typeface="Times New Roman"/>
              </a:rPr>
              <a:t>với</a:t>
            </a:r>
            <a:r>
              <a:rPr sz="1300" b="0" i="1" dirty="0">
                <a:solidFill>
                  <a:srgbClr val="595959"/>
                </a:solidFill>
                <a:latin typeface="Times New Roman"/>
              </a:rPr>
              <a:t> ref 2026-07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26679" y="1298448"/>
            <a:ext cx="4160520" cy="25545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 i="1" dirty="0" err="1" smtClean="0">
                <a:solidFill>
                  <a:srgbClr val="595959"/>
                </a:solidFill>
                <a:latin typeface="Times New Roman"/>
              </a:rPr>
              <a:t>Cùng</a:t>
            </a:r>
            <a:r>
              <a:rPr sz="1300" b="0" i="1" dirty="0" smtClean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1" dirty="0">
                <a:solidFill>
                  <a:srgbClr val="595959"/>
                </a:solidFill>
                <a:latin typeface="Times New Roman"/>
              </a:rPr>
              <a:t>20 </a:t>
            </a:r>
            <a:r>
              <a:rPr sz="1300" b="0" i="1" dirty="0" err="1">
                <a:solidFill>
                  <a:srgbClr val="595959"/>
                </a:solidFill>
                <a:latin typeface="Times New Roman"/>
              </a:rPr>
              <a:t>lô</a:t>
            </a:r>
            <a:r>
              <a:rPr sz="1300" b="0" i="1" dirty="0">
                <a:solidFill>
                  <a:srgbClr val="595959"/>
                </a:solidFill>
                <a:latin typeface="Times New Roman"/>
              </a:rPr>
              <a:t>, </a:t>
            </a:r>
            <a:r>
              <a:rPr sz="1300" b="0" i="1" dirty="0" err="1">
                <a:solidFill>
                  <a:srgbClr val="595959"/>
                </a:solidFill>
                <a:latin typeface="Times New Roman"/>
              </a:rPr>
              <a:t>hai</a:t>
            </a:r>
            <a:r>
              <a:rPr sz="1300" b="0" i="1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1" dirty="0" err="1">
                <a:solidFill>
                  <a:srgbClr val="595959"/>
                </a:solidFill>
                <a:latin typeface="Times New Roman"/>
              </a:rPr>
              <a:t>phiên</a:t>
            </a:r>
            <a:r>
              <a:rPr sz="1300" b="0" i="1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1" dirty="0" err="1">
                <a:solidFill>
                  <a:srgbClr val="595959"/>
                </a:solidFill>
                <a:latin typeface="Times New Roman"/>
              </a:rPr>
              <a:t>bản</a:t>
            </a:r>
            <a:r>
              <a:rPr sz="1300" b="0" i="1" dirty="0">
                <a:solidFill>
                  <a:srgbClr val="595959"/>
                </a:solidFill>
                <a:latin typeface="Times New Roman"/>
              </a:rPr>
              <a:t> ref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26679" y="1591056"/>
          <a:ext cx="4160519" cy="2468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86697"/>
                <a:gridCol w="1236911"/>
                <a:gridCol w="1236911"/>
              </a:tblGrid>
              <a:tr h="41148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ref 2026-06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ref 2026-07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Times New Roman"/>
                        </a:rPr>
                        <a:t>Mã / dòng xe / hãng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1.426 / 61 / 13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2.167 / 106 / 27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Times New Roman"/>
                        </a:rPr>
                        <a:t>fact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50.320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53.064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Times New Roman"/>
                        </a:rPr>
                        <a:t>quarantine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9.101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6.357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Times New Roman"/>
                        </a:rPr>
                        <a:t>% quarantine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15,32%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10,70%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Times New Roman"/>
                        </a:rPr>
                        <a:t>MODEL_CODE_UNKNOWN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6.202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3.291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26679" y="4178808"/>
            <a:ext cx="4160520" cy="124803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 i="0" dirty="0">
                <a:solidFill>
                  <a:srgbClr val="262626"/>
                </a:solidFill>
                <a:latin typeface="Times New Roman"/>
              </a:rPr>
              <a:t>• Ref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có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phiên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bản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ở landing: version=YYYY-MM + manifest,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kiểm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SHA-256 </a:t>
            </a:r>
            <a:r>
              <a:rPr lang="en-US" sz="1300" b="0" i="0" dirty="0" smtClean="0">
                <a:solidFill>
                  <a:srgbClr val="262626"/>
                </a:solidFill>
                <a:latin typeface="Times New Roman"/>
              </a:rPr>
              <a:t>,</a:t>
            </a:r>
            <a:r>
              <a:rPr sz="1300" b="0" i="0" dirty="0" smtClean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1" i="0" dirty="0" err="1">
                <a:solidFill>
                  <a:srgbClr val="262626"/>
                </a:solidFill>
                <a:latin typeface="Times New Roman"/>
              </a:rPr>
              <a:t>bất</a:t>
            </a:r>
            <a:r>
              <a:rPr sz="13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1" i="0" dirty="0" err="1">
                <a:solidFill>
                  <a:srgbClr val="262626"/>
                </a:solidFill>
                <a:latin typeface="Times New Roman"/>
              </a:rPr>
              <a:t>biến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như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lô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tháng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300" b="0" i="0" dirty="0">
                <a:solidFill>
                  <a:srgbClr val="262626"/>
                </a:solidFill>
                <a:latin typeface="Times New Roman"/>
              </a:rPr>
              <a:t>• Silver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dùng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bản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mới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nhất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cho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mọi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tháng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(restate); </a:t>
            </a:r>
            <a:endParaRPr lang="en-US" sz="1300" b="0" i="0" dirty="0" smtClean="0">
              <a:solidFill>
                <a:srgbClr val="262626"/>
              </a:solidFill>
              <a:latin typeface="Times New Roman"/>
            </a:endParaRPr>
          </a:p>
          <a:p>
            <a:pPr algn="l">
              <a:spcAft>
                <a:spcPts val="500"/>
              </a:spcAft>
            </a:pPr>
            <a:r>
              <a:rPr sz="1300" b="0" i="0" dirty="0" smtClean="0">
                <a:solidFill>
                  <a:srgbClr val="262626"/>
                </a:solidFill>
                <a:latin typeface="Times New Roman"/>
              </a:rPr>
              <a:t>--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ref-version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để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tái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tạo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kết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quả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cũ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300" b="0" i="0" dirty="0">
                <a:solidFill>
                  <a:srgbClr val="262626"/>
                </a:solidFill>
                <a:latin typeface="Times New Roman"/>
              </a:rPr>
              <a:t>• run_log.csv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ghi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lại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mỗi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lần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chạy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: ref,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mốc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chia,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số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dòng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51760" y="91440"/>
            <a:ext cx="6949440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C55A11"/>
                </a:solidFill>
                <a:latin typeface="Times New Roman"/>
              </a:rPr>
              <a:t>Section 3: Thiết kế &amp; Xây dựng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841248"/>
            <a:ext cx="1182624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 dirty="0">
                <a:solidFill>
                  <a:srgbClr val="0070C0"/>
                </a:solidFill>
                <a:latin typeface="Times New Roman"/>
              </a:rPr>
              <a:t>❖Gold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cho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phân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tích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: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cùng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một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</a:t>
            </a:r>
            <a:r>
              <a:rPr lang="en-US" sz="2000" b="1" i="0" dirty="0" err="1" smtClean="0">
                <a:solidFill>
                  <a:srgbClr val="0070C0"/>
                </a:solidFill>
                <a:latin typeface="Times New Roman"/>
              </a:rPr>
              <a:t>cách</a:t>
            </a:r>
            <a:r>
              <a:rPr sz="2000" b="1" i="0" dirty="0" smtClean="0">
                <a:solidFill>
                  <a:srgbClr val="0070C0"/>
                </a:solidFill>
                <a:latin typeface="Times New Roman"/>
              </a:rPr>
              <a:t>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truy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vấn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</a:t>
            </a:r>
            <a:r>
              <a:rPr sz="2000" b="1" i="0" dirty="0" err="1">
                <a:solidFill>
                  <a:srgbClr val="0070C0"/>
                </a:solidFill>
                <a:latin typeface="Times New Roman"/>
              </a:rPr>
              <a:t>trên</a:t>
            </a:r>
            <a:r>
              <a:rPr sz="2000" b="1" i="0" dirty="0">
                <a:solidFill>
                  <a:srgbClr val="0070C0"/>
                </a:solidFill>
                <a:latin typeface="Times New Roman"/>
              </a:rPr>
              <a:t> star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298448"/>
            <a:ext cx="6583680" cy="1325880"/>
          </a:xfrm>
          <a:prstGeom prst="rect">
            <a:avLst/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l"/>
            <a:r>
              <a:rPr sz="1200" b="0" i="0">
                <a:solidFill>
                  <a:srgbClr val="E6E6E6"/>
                </a:solidFill>
                <a:latin typeface="Consolas"/>
              </a:rPr>
              <a:t>SELECT &lt;thuộc tính dimension&gt;, MEDIAN(f.gia_tri_trieu_vnd)</a:t>
            </a:r>
          </a:p>
          <a:p>
            <a:pPr algn="l"/>
            <a:r>
              <a:rPr sz="1200" b="0" i="0">
                <a:solidFill>
                  <a:srgbClr val="E6E6E6"/>
                </a:solidFill>
                <a:latin typeface="Consolas"/>
              </a:rPr>
              <a:t>FROM fact_valuation f JOIN dim_model m ON f.model_key = m.model_key</a:t>
            </a:r>
          </a:p>
          <a:p>
            <a:pPr algn="l"/>
            <a:r>
              <a:rPr sz="1200" b="0" i="0">
                <a:solidFill>
                  <a:srgbClr val="E6E6E6"/>
                </a:solidFill>
                <a:latin typeface="Consolas"/>
              </a:rPr>
              <a:t>                      JOIN dim_date  d ON f.ngay_duyet_key = d.date_key</a:t>
            </a:r>
          </a:p>
          <a:p>
            <a:pPr algn="l"/>
            <a:r>
              <a:rPr sz="1200" b="0" i="0">
                <a:solidFill>
                  <a:srgbClr val="E6E6E6"/>
                </a:solidFill>
                <a:latin typeface="Consolas"/>
              </a:rPr>
              <a:t>GROUP BY &lt;thuộc tính dimension&gt;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807208"/>
            <a:ext cx="6583680" cy="25545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 i="1" dirty="0" smtClean="0">
                <a:solidFill>
                  <a:srgbClr val="595959"/>
                </a:solidFill>
                <a:latin typeface="Times New Roman"/>
              </a:rPr>
              <a:t>Ba </a:t>
            </a:r>
            <a:r>
              <a:rPr sz="1300" b="0" i="1" dirty="0">
                <a:solidFill>
                  <a:srgbClr val="595959"/>
                </a:solidFill>
                <a:latin typeface="Times New Roman"/>
              </a:rPr>
              <a:t>mart </a:t>
            </a:r>
            <a:r>
              <a:rPr sz="1300" b="0" i="1" dirty="0" err="1">
                <a:solidFill>
                  <a:srgbClr val="595959"/>
                </a:solidFill>
                <a:latin typeface="Times New Roman"/>
              </a:rPr>
              <a:t>phân</a:t>
            </a:r>
            <a:r>
              <a:rPr sz="1300" b="0" i="1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1" dirty="0" err="1">
                <a:solidFill>
                  <a:srgbClr val="595959"/>
                </a:solidFill>
                <a:latin typeface="Times New Roman"/>
              </a:rPr>
              <a:t>tích</a:t>
            </a:r>
            <a:r>
              <a:rPr sz="1300" b="0" i="1" dirty="0">
                <a:solidFill>
                  <a:srgbClr val="595959"/>
                </a:solidFill>
                <a:latin typeface="Times New Roman"/>
              </a:rPr>
              <a:t> (20 </a:t>
            </a:r>
            <a:r>
              <a:rPr sz="1300" b="0" i="1" dirty="0" err="1">
                <a:solidFill>
                  <a:srgbClr val="595959"/>
                </a:solidFill>
                <a:latin typeface="Times New Roman"/>
              </a:rPr>
              <a:t>lô</a:t>
            </a:r>
            <a:r>
              <a:rPr sz="1300" b="0" i="1" dirty="0">
                <a:solidFill>
                  <a:srgbClr val="595959"/>
                </a:solidFill>
                <a:latin typeface="Times New Roman"/>
              </a:rPr>
              <a:t>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3099816"/>
          <a:ext cx="6583678" cy="1645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6852"/>
                <a:gridCol w="3578086"/>
                <a:gridCol w="858740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</a:rPr>
                        <a:t>Mart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</a:rPr>
                        <a:t>Grain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</a:rPr>
                        <a:t>Dòng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mart_vehicle_price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(hãng, dòng xe, đời, số chỗ)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1.417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mart_monthly_trend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(tháng, hãng, mục đích sử dụng, mới/cũ)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1.243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Times New Roman"/>
                        </a:rPr>
                        <a:t>mart_data_quality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tháng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223760" y="1389888"/>
            <a:ext cx="466344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0" i="1">
                <a:solidFill>
                  <a:srgbClr val="262626"/>
                </a:solidFill>
                <a:latin typeface="Cambria Math"/>
              </a:rPr>
              <a:t>ρ = P̃_used / P̃_new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1389888"/>
            <a:ext cx="73152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2000" b="0" i="0">
                <a:solidFill>
                  <a:srgbClr val="262626"/>
                </a:solidFill>
                <a:latin typeface="Times New Roman"/>
              </a:rPr>
              <a:t>(3)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1847088"/>
            <a:ext cx="4663440" cy="6683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 i="0" dirty="0">
                <a:solidFill>
                  <a:srgbClr val="595959"/>
                </a:solidFill>
                <a:latin typeface="Times New Roman"/>
              </a:rPr>
              <a:t>•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P̃_used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,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P̃_new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: </a:t>
            </a:r>
            <a:r>
              <a:rPr sz="1300" b="1" i="0" dirty="0" err="1">
                <a:solidFill>
                  <a:srgbClr val="595959"/>
                </a:solidFill>
                <a:latin typeface="Times New Roman"/>
              </a:rPr>
              <a:t>trung</a:t>
            </a:r>
            <a:r>
              <a:rPr sz="1300" b="1" i="0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1" i="0" dirty="0" err="1">
                <a:solidFill>
                  <a:srgbClr val="595959"/>
                </a:solidFill>
                <a:latin typeface="Times New Roman"/>
              </a:rPr>
              <a:t>vị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giá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định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giá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(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triệu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VND)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của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các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hợp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đồng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used / new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trong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cùng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nhóm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(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hãng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,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dòng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xe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,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đời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,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số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chỗ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)</a:t>
            </a:r>
          </a:p>
          <a:p>
            <a:pPr algn="l">
              <a:spcAft>
                <a:spcPts val="100"/>
              </a:spcAft>
            </a:pPr>
            <a:r>
              <a:rPr sz="1300" b="0" i="0" dirty="0">
                <a:solidFill>
                  <a:srgbClr val="595959"/>
                </a:solidFill>
                <a:latin typeface="Times New Roman"/>
              </a:rPr>
              <a:t>• ρ: </a:t>
            </a:r>
            <a:r>
              <a:rPr sz="1300" b="0" i="0" dirty="0" err="1" smtClean="0">
                <a:solidFill>
                  <a:srgbClr val="595959"/>
                </a:solidFill>
                <a:latin typeface="Times New Roman"/>
              </a:rPr>
              <a:t>ty_le_con_lai</a:t>
            </a:r>
            <a:r>
              <a:rPr lang="en-US" sz="1300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lang="en-US" sz="1300" dirty="0" smtClean="0">
                <a:solidFill>
                  <a:srgbClr val="595959"/>
                </a:solidFill>
                <a:latin typeface="Times New Roman"/>
              </a:rPr>
              <a:t>~</a:t>
            </a:r>
            <a:r>
              <a:rPr sz="1300" b="0" i="0" dirty="0" smtClean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tỷ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lệ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giá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trị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còn</a:t>
            </a:r>
            <a:r>
              <a:rPr sz="1300" b="0" i="0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595959"/>
                </a:solidFill>
                <a:latin typeface="Times New Roman"/>
              </a:rPr>
              <a:t>lại</a:t>
            </a:r>
            <a:endParaRPr sz="1300" b="0" i="0" dirty="0">
              <a:solidFill>
                <a:srgbClr val="595959"/>
              </a:solidFill>
              <a:latin typeface="Times New Roman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223760" y="3310128"/>
            <a:ext cx="4663440" cy="146304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l"/>
            <a:r>
              <a:rPr sz="1400" b="1" i="0">
                <a:solidFill>
                  <a:srgbClr val="548235"/>
                </a:solidFill>
                <a:latin typeface="Times New Roman"/>
              </a:rPr>
              <a:t>Vì sao: </a:t>
            </a:r>
            <a:r>
              <a:rPr sz="1400" b="0" i="0">
                <a:solidFill>
                  <a:srgbClr val="262626"/>
                </a:solidFill>
                <a:latin typeface="Times New Roman"/>
              </a:rPr>
              <a:t>Trung vị, không trung bình: chỉ một hợp đồng khai giá bất thường là kéo lệch trung bình của cả nhóm; trung vị thì không.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51760" y="91440"/>
            <a:ext cx="6949440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C55A11"/>
                </a:solidFill>
                <a:latin typeface="Times New Roman"/>
              </a:rPr>
              <a:t>Section 3: Thiết kế &amp; Xây dựng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841248"/>
            <a:ext cx="11826240" cy="43891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070C0"/>
                </a:solidFill>
                <a:latin typeface="Times New Roman"/>
              </a:rPr>
              <a:t>❖Gold cho ML: không gộp, không leakage, chia theo thời gian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298448"/>
            <a:ext cx="585216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Times New Roman"/>
              </a:rPr>
              <a:t>mart_ml_training: </a:t>
            </a:r>
            <a:r>
              <a:rPr sz="1400" b="1" i="0">
                <a:solidFill>
                  <a:srgbClr val="262626"/>
                </a:solidFill>
                <a:latin typeface="Times New Roman"/>
              </a:rPr>
              <a:t>1 dòng = 1 hợp đồng</a:t>
            </a:r>
            <a:r>
              <a:rPr sz="1400" b="0" i="0">
                <a:solidFill>
                  <a:srgbClr val="262626"/>
                </a:solidFill>
                <a:latin typeface="Times New Roman"/>
              </a:rPr>
              <a:t> (53.064 dòng), 8 feature + target gia_tri_trieu_vnd + cột split.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847088"/>
            <a:ext cx="585216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0" i="1">
                <a:solidFill>
                  <a:srgbClr val="262626"/>
                </a:solidFill>
                <a:latin typeface="Cambria Math"/>
              </a:rPr>
              <a:t>split = train nếu m ≤ m₀ ;  test nếu m &gt; m₀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40680" y="1847088"/>
            <a:ext cx="73152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Times New Roman"/>
              </a:rPr>
              <a:t>(4)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304288"/>
            <a:ext cx="585216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</a:rPr>
              <a:t>• m: tháng duyệt (thang_duyet)  ·  m₀: ML_TRAIN_END_MONTH = 2026-03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624328"/>
            <a:ext cx="5852160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 i="1">
                <a:solidFill>
                  <a:srgbClr val="595959"/>
                </a:solidFill>
                <a:latin typeface="Times New Roman"/>
              </a:rPr>
              <a:t>Bảng 19: Ba quyết định của bảng ML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2916936"/>
          <a:ext cx="5852160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09344"/>
                <a:gridCol w="4242816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Quyết định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Lý do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Times New Roman"/>
                        </a:rPr>
                        <a:t>Không GROUP BY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Gộp về trung vị là xoá mất biến động mà model phải học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Times New Roman"/>
                        </a:rPr>
                        <a:t>Chia theo tháng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Model luôn đoán cho tháng tương lai; chia ngẫu nhiên → “đã thấy tương lai” → điểm test đẹp giả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Times New Roman"/>
                        </a:rPr>
                        <a:t>Không feature tổng hợp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Trung vị theo dòng xe tính trên toàn bộ dữ liệu chứa giá của tập test → leakage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5001768"/>
            <a:ext cx="585216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62626"/>
                </a:solidFill>
                <a:latin typeface="Times New Roman"/>
              </a:rPr>
              <a:t>Contract đầu ra </a:t>
            </a:r>
            <a:r>
              <a:rPr sz="1300" b="1" i="0">
                <a:solidFill>
                  <a:srgbClr val="262626"/>
                </a:solidFill>
                <a:latin typeface="Times New Roman"/>
              </a:rPr>
              <a:t>kiểm bằng code</a:t>
            </a:r>
            <a:r>
              <a:rPr sz="1300" b="0" i="0">
                <a:solidFill>
                  <a:srgbClr val="262626"/>
                </a:solidFill>
                <a:latin typeface="Times New Roman"/>
              </a:rPr>
              <a:t> trước khi ghi: sai cột, thứ tự, kiểu, hoặc có null → job dừng.</a:t>
            </a:r>
          </a:p>
        </p:txBody>
      </p:sp>
      <p:pic>
        <p:nvPicPr>
          <p:cNvPr id="11" name="Picture 10" descr="hinh_09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486400" cy="272130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4038037"/>
            <a:ext cx="5486400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 i="1">
                <a:solidFill>
                  <a:srgbClr val="595959"/>
                </a:solidFill>
                <a:latin typeface="Times New Roman"/>
              </a:rPr>
              <a:t>Hình 6: Số dòng train/test theo tháng duyệt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0" y="4394653"/>
          <a:ext cx="5486399" cy="9875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31520"/>
                <a:gridCol w="1950720"/>
                <a:gridCol w="975360"/>
                <a:gridCol w="853439"/>
                <a:gridCol w="975360"/>
              </a:tblGrid>
              <a:tr h="329184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Tháng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Dòng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Tỷ lệ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Dòng xe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train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2025-01 → 2026-03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38.357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72,3%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test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2026-04 → 2026-08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14.707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27,7%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6400800" y="5760720"/>
            <a:ext cx="5486400" cy="77724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l"/>
            <a:r>
              <a:rPr sz="1200" b="1" i="0">
                <a:solidFill>
                  <a:srgbClr val="548235"/>
                </a:solidFill>
                <a:latin typeface="Times New Roman"/>
              </a:rPr>
              <a:t>Nhận định: </a:t>
            </a:r>
            <a:r>
              <a:rPr sz="1200" b="0" i="0">
                <a:solidFill>
                  <a:srgbClr val="262626"/>
                </a:solidFill>
                <a:latin typeface="Times New Roman"/>
              </a:rPr>
              <a:t>Không dùng được cho model cũ: thiếu so_km, hop_so, kieu_dang; target là giá thẩm định bảo hiểm, không phải giá rao bán.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133856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6000" b="1" i="0">
                <a:solidFill>
                  <a:srgbClr val="FFFFFF"/>
                </a:solidFill>
                <a:latin typeface="Times New Roman"/>
              </a:rPr>
              <a:t>Outline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" y="1481328"/>
            <a:ext cx="5577840" cy="960120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15875">
            <a:solidFill>
              <a:srgbClr val="C0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Bối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</a:t>
            </a:r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cảnh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&amp; </a:t>
            </a:r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Bài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</a:t>
            </a:r>
            <a:r>
              <a:rPr sz="2600" b="0" i="0" dirty="0" err="1" smtClean="0">
                <a:solidFill>
                  <a:srgbClr val="C55A11"/>
                </a:solidFill>
                <a:latin typeface="Times New Roman"/>
              </a:rPr>
              <a:t>toán</a:t>
            </a:r>
            <a:endParaRPr sz="2600" b="0" i="0" dirty="0">
              <a:solidFill>
                <a:srgbClr val="C55A11"/>
              </a:solidFill>
              <a:latin typeface="Times New Roman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76072" y="1325880"/>
            <a:ext cx="1463040" cy="310896"/>
          </a:xfrm>
          <a:prstGeom prst="roundRect">
            <a:avLst>
              <a:gd name="adj" fmla="val 12000"/>
            </a:avLst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0" i="0">
                <a:solidFill>
                  <a:srgbClr val="FFFFFF"/>
                </a:solidFill>
                <a:latin typeface="Times New Roman"/>
              </a:rPr>
              <a:t>SECTION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807208"/>
            <a:ext cx="5577840" cy="960120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15875">
            <a:solidFill>
              <a:srgbClr val="C0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Kiến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</a:t>
            </a:r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thức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</a:t>
            </a:r>
            <a:r>
              <a:rPr sz="2600" b="0" i="0" dirty="0" err="1" smtClean="0">
                <a:solidFill>
                  <a:srgbClr val="C55A11"/>
                </a:solidFill>
                <a:latin typeface="Times New Roman"/>
              </a:rPr>
              <a:t>nền</a:t>
            </a:r>
            <a:endParaRPr sz="2600" b="0" i="0" dirty="0">
              <a:solidFill>
                <a:srgbClr val="C55A11"/>
              </a:solidFill>
              <a:latin typeface="Times New Roman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76072" y="2651760"/>
            <a:ext cx="1463040" cy="310896"/>
          </a:xfrm>
          <a:prstGeom prst="roundRect">
            <a:avLst>
              <a:gd name="adj" fmla="val 12000"/>
            </a:avLst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0" i="0">
                <a:solidFill>
                  <a:srgbClr val="FFFFFF"/>
                </a:solidFill>
                <a:latin typeface="Times New Roman"/>
              </a:rPr>
              <a:t>SECTION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4133087"/>
            <a:ext cx="5577840" cy="960120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15875">
            <a:solidFill>
              <a:srgbClr val="C0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Thiết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</a:t>
            </a:r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kế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&amp; </a:t>
            </a:r>
            <a:r>
              <a:rPr sz="2600" b="0" i="0" dirty="0" err="1">
                <a:solidFill>
                  <a:srgbClr val="C55A11"/>
                </a:solidFill>
                <a:latin typeface="Times New Roman"/>
              </a:rPr>
              <a:t>Xây</a:t>
            </a:r>
            <a:r>
              <a:rPr sz="2600" b="0" i="0" dirty="0">
                <a:solidFill>
                  <a:srgbClr val="C55A11"/>
                </a:solidFill>
                <a:latin typeface="Times New Roman"/>
              </a:rPr>
              <a:t> </a:t>
            </a:r>
            <a:r>
              <a:rPr sz="2600" b="0" i="0" dirty="0" err="1" smtClean="0">
                <a:solidFill>
                  <a:srgbClr val="C55A11"/>
                </a:solidFill>
                <a:latin typeface="Times New Roman"/>
              </a:rPr>
              <a:t>dựng</a:t>
            </a:r>
            <a:endParaRPr sz="2600" b="0" i="0" dirty="0">
              <a:solidFill>
                <a:srgbClr val="C55A11"/>
              </a:solidFill>
              <a:latin typeface="Times New Roman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76072" y="3977639"/>
            <a:ext cx="1463040" cy="310896"/>
          </a:xfrm>
          <a:prstGeom prst="roundRect">
            <a:avLst>
              <a:gd name="adj" fmla="val 12000"/>
            </a:avLst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0" i="0">
                <a:solidFill>
                  <a:srgbClr val="FFFFFF"/>
                </a:solidFill>
                <a:latin typeface="Times New Roman"/>
              </a:rPr>
              <a:t>SECTION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458968"/>
            <a:ext cx="6126480" cy="960120"/>
          </a:xfrm>
          <a:prstGeom prst="roundRect">
            <a:avLst>
              <a:gd name="adj" fmla="val 12000"/>
            </a:avLst>
          </a:prstGeom>
          <a:solidFill>
            <a:srgbClr val="F4B183"/>
          </a:solidFill>
          <a:ln w="31750">
            <a:solidFill>
              <a:srgbClr val="C0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i="0" dirty="0" err="1">
                <a:solidFill>
                  <a:srgbClr val="C55A11"/>
                </a:solidFill>
                <a:latin typeface="Times New Roman"/>
              </a:rPr>
              <a:t>Kết</a:t>
            </a:r>
            <a:r>
              <a:rPr sz="3000" b="1" i="0" dirty="0">
                <a:solidFill>
                  <a:srgbClr val="C55A11"/>
                </a:solidFill>
                <a:latin typeface="Times New Roman"/>
              </a:rPr>
              <a:t> </a:t>
            </a:r>
            <a:r>
              <a:rPr sz="3000" b="1" i="0" dirty="0" err="1">
                <a:solidFill>
                  <a:srgbClr val="C55A11"/>
                </a:solidFill>
                <a:latin typeface="Times New Roman"/>
              </a:rPr>
              <a:t>quả</a:t>
            </a:r>
            <a:r>
              <a:rPr sz="3000" b="1" i="0" dirty="0">
                <a:solidFill>
                  <a:srgbClr val="C55A11"/>
                </a:solidFill>
                <a:latin typeface="Times New Roman"/>
              </a:rPr>
              <a:t> &amp; </a:t>
            </a:r>
            <a:r>
              <a:rPr sz="3000" b="1" i="0" dirty="0" err="1">
                <a:solidFill>
                  <a:srgbClr val="C55A11"/>
                </a:solidFill>
                <a:latin typeface="Times New Roman"/>
              </a:rPr>
              <a:t>Đánh</a:t>
            </a:r>
            <a:r>
              <a:rPr sz="3000" b="1" i="0" dirty="0">
                <a:solidFill>
                  <a:srgbClr val="C55A11"/>
                </a:solidFill>
                <a:latin typeface="Times New Roman"/>
              </a:rPr>
              <a:t> </a:t>
            </a:r>
            <a:r>
              <a:rPr sz="3000" b="1" i="0" dirty="0" err="1" smtClean="0">
                <a:solidFill>
                  <a:srgbClr val="C55A11"/>
                </a:solidFill>
                <a:latin typeface="Times New Roman"/>
              </a:rPr>
              <a:t>giá</a:t>
            </a:r>
            <a:endParaRPr sz="3000" b="1" i="0" dirty="0">
              <a:solidFill>
                <a:srgbClr val="C55A11"/>
              </a:solidFill>
              <a:latin typeface="Times New Roman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76072" y="5303520"/>
            <a:ext cx="1463040" cy="310896"/>
          </a:xfrm>
          <a:prstGeom prst="roundRect">
            <a:avLst>
              <a:gd name="adj" fmla="val 12000"/>
            </a:avLst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Times New Roman"/>
              </a:rPr>
              <a:t>SECTION 4</a:t>
            </a:r>
          </a:p>
        </p:txBody>
      </p:sp>
      <p:pic>
        <p:nvPicPr>
          <p:cNvPr id="11" name="Picture 10" descr="hinh_05_quarantine_theo_tha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2194560"/>
            <a:ext cx="4663440" cy="236341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51760" y="91440"/>
            <a:ext cx="6949440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C55A11"/>
                </a:solidFill>
                <a:latin typeface="Times New Roman"/>
              </a:rPr>
              <a:t>Section 4: Kết quả &amp; Đánh giá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841248"/>
            <a:ext cx="11826240" cy="43891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070C0"/>
                </a:solidFill>
                <a:latin typeface="Times New Roman"/>
              </a:rPr>
              <a:t>❖Kết quả đo bằng số: 20/20 lô qua cổng, mỗi dòng Bronze đều có chỗ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298448"/>
            <a:ext cx="5120640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 i="1">
                <a:solidFill>
                  <a:srgbClr val="595959"/>
                </a:solidFill>
                <a:latin typeface="Times New Roman"/>
              </a:rPr>
              <a:t>Bảng 20: Số dòng qua từng tầng (2025-01 → 2026-08)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91056"/>
          <a:ext cx="5120639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3830"/>
                <a:gridCol w="1998298"/>
                <a:gridCol w="1748511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Tầng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Bảng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Dòng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Times New Roman"/>
                        </a:rPr>
                        <a:t>Landing → Bronze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20/20 lô qua cổng kiểm tra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59.421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Times New Roman"/>
                        </a:rPr>
                        <a:t>Silver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fact_valuation · quarantine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53.064 · 6.357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Times New Roman"/>
                        </a:rPr>
                        <a:t>Gold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3 mart BI · bảng ML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1.417 / 1.243 / 20 · 53.064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3557016"/>
            <a:ext cx="512064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 i="1">
                <a:solidFill>
                  <a:srgbClr val="262626"/>
                </a:solidFill>
                <a:latin typeface="Cambria Math"/>
              </a:rPr>
              <a:t>q = N_quarantine / N_bronze_active × 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3557016"/>
            <a:ext cx="73152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Times New Roman"/>
              </a:rPr>
              <a:t>(5)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014216"/>
            <a:ext cx="512064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</a:rPr>
              <a:t>• 20 lô: </a:t>
            </a:r>
            <a:r>
              <a:rPr sz="1300" b="1" i="0">
                <a:solidFill>
                  <a:srgbClr val="595959"/>
                </a:solidFill>
                <a:latin typeface="Times New Roman"/>
              </a:rPr>
              <a:t>10,70%</a:t>
            </a:r>
            <a:r>
              <a:rPr sz="1300" b="0" i="0">
                <a:solidFill>
                  <a:srgbClr val="595959"/>
                </a:solidFill>
                <a:latin typeface="Times New Roman"/>
              </a:rPr>
              <a:t> toàn kỳ · 7,87% – 13,78% theo tháng</a:t>
            </a:r>
          </a:p>
          <a:p>
            <a:pPr algn="l">
              <a:spcAft>
                <a:spcPts val="1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</a:rPr>
              <a:t>• 18 lô thật, ref 2026-06: 15,24% · 11,28% – 18,28%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4700016"/>
            <a:ext cx="5120640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62626"/>
                </a:solidFill>
                <a:latin typeface="Times New Roman"/>
              </a:rPr>
              <a:t>Chạy lại → Bronze bỏ qua 20/20 lô · 27 test pass · cả pipeline ~1 phút.</a:t>
            </a:r>
          </a:p>
        </p:txBody>
      </p:sp>
      <p:pic>
        <p:nvPicPr>
          <p:cNvPr id="10" name="Picture 9" descr="hinh_05_quarantine_theo_tha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298448"/>
            <a:ext cx="6217920" cy="31512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0" y="4467960"/>
            <a:ext cx="6217920" cy="25545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 i="1" dirty="0" err="1" smtClean="0">
                <a:solidFill>
                  <a:srgbClr val="595959"/>
                </a:solidFill>
                <a:latin typeface="Times New Roman"/>
              </a:rPr>
              <a:t>Tỷ</a:t>
            </a:r>
            <a:r>
              <a:rPr sz="1300" b="0" i="1" dirty="0" smtClean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1" dirty="0" err="1">
                <a:solidFill>
                  <a:srgbClr val="595959"/>
                </a:solidFill>
                <a:latin typeface="Times New Roman"/>
              </a:rPr>
              <a:t>lệ</a:t>
            </a:r>
            <a:r>
              <a:rPr sz="1300" b="0" i="1" dirty="0">
                <a:solidFill>
                  <a:srgbClr val="595959"/>
                </a:solidFill>
                <a:latin typeface="Times New Roman"/>
              </a:rPr>
              <a:t> quarantine </a:t>
            </a:r>
            <a:r>
              <a:rPr sz="1300" b="0" i="1" dirty="0" err="1">
                <a:solidFill>
                  <a:srgbClr val="595959"/>
                </a:solidFill>
                <a:latin typeface="Times New Roman"/>
              </a:rPr>
              <a:t>theo</a:t>
            </a:r>
            <a:r>
              <a:rPr sz="1300" b="0" i="1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1" dirty="0" err="1">
                <a:solidFill>
                  <a:srgbClr val="595959"/>
                </a:solidFill>
                <a:latin typeface="Times New Roman"/>
              </a:rPr>
              <a:t>tháng</a:t>
            </a:r>
            <a:r>
              <a:rPr sz="1300" b="0" i="1" dirty="0">
                <a:solidFill>
                  <a:srgbClr val="595959"/>
                </a:solidFill>
                <a:latin typeface="Times New Roman"/>
              </a:rPr>
              <a:t>, </a:t>
            </a:r>
            <a:r>
              <a:rPr sz="1300" b="0" i="1" dirty="0" err="1">
                <a:solidFill>
                  <a:srgbClr val="595959"/>
                </a:solidFill>
                <a:latin typeface="Times New Roman"/>
              </a:rPr>
              <a:t>tách</a:t>
            </a:r>
            <a:r>
              <a:rPr sz="1300" b="0" i="1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1" dirty="0" err="1">
                <a:solidFill>
                  <a:srgbClr val="595959"/>
                </a:solidFill>
                <a:latin typeface="Times New Roman"/>
              </a:rPr>
              <a:t>theo</a:t>
            </a:r>
            <a:r>
              <a:rPr sz="1300" b="0" i="1" dirty="0">
                <a:solidFill>
                  <a:srgbClr val="595959"/>
                </a:solidFill>
                <a:latin typeface="Times New Roman"/>
              </a:rPr>
              <a:t> </a:t>
            </a:r>
            <a:r>
              <a:rPr sz="1300" b="0" i="1" dirty="0" err="1">
                <a:solidFill>
                  <a:srgbClr val="595959"/>
                </a:solidFill>
                <a:latin typeface="Times New Roman"/>
              </a:rPr>
              <a:t>rule_id</a:t>
            </a:r>
            <a:endParaRPr sz="1300" b="0" i="1" dirty="0">
              <a:solidFill>
                <a:srgbClr val="595959"/>
              </a:solidFill>
              <a:latin typeface="Times New Roman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669280" y="4824576"/>
            <a:ext cx="6217920" cy="132588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l"/>
            <a:r>
              <a:rPr lang="en-US" sz="1200" b="1" i="0" dirty="0" err="1" smtClean="0">
                <a:solidFill>
                  <a:srgbClr val="548235"/>
                </a:solidFill>
                <a:latin typeface="Times New Roman"/>
              </a:rPr>
              <a:t>B</a:t>
            </a:r>
            <a:r>
              <a:rPr sz="1200" b="1" i="0" dirty="0" err="1" smtClean="0">
                <a:solidFill>
                  <a:srgbClr val="548235"/>
                </a:solidFill>
                <a:latin typeface="Times New Roman"/>
              </a:rPr>
              <a:t>iểu</a:t>
            </a:r>
            <a:r>
              <a:rPr sz="1200" b="1" i="0" dirty="0" smtClean="0">
                <a:solidFill>
                  <a:srgbClr val="548235"/>
                </a:solidFill>
                <a:latin typeface="Times New Roman"/>
              </a:rPr>
              <a:t> </a:t>
            </a:r>
            <a:r>
              <a:rPr sz="1200" b="1" i="0" dirty="0" err="1">
                <a:solidFill>
                  <a:srgbClr val="548235"/>
                </a:solidFill>
                <a:latin typeface="Times New Roman"/>
              </a:rPr>
              <a:t>đồ</a:t>
            </a:r>
            <a:r>
              <a:rPr sz="1200" b="1" i="0" dirty="0">
                <a:solidFill>
                  <a:srgbClr val="548235"/>
                </a:solidFill>
                <a:latin typeface="Times New Roman"/>
              </a:rPr>
              <a:t>: </a:t>
            </a:r>
            <a:r>
              <a:rPr sz="1200" b="0" i="0" dirty="0">
                <a:solidFill>
                  <a:srgbClr val="262626"/>
                </a:solidFill>
                <a:latin typeface="Times New Roman"/>
              </a:rPr>
              <a:t>2026-03 </a:t>
            </a:r>
            <a:r>
              <a:rPr sz="1200" b="0" i="0" dirty="0" err="1">
                <a:solidFill>
                  <a:srgbClr val="262626"/>
                </a:solidFill>
                <a:latin typeface="Times New Roman"/>
              </a:rPr>
              <a:t>cao</a:t>
            </a:r>
            <a:r>
              <a:rPr sz="12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200" b="0" i="0" dirty="0" err="1">
                <a:solidFill>
                  <a:srgbClr val="262626"/>
                </a:solidFill>
                <a:latin typeface="Times New Roman"/>
              </a:rPr>
              <a:t>nhất</a:t>
            </a:r>
            <a:r>
              <a:rPr sz="1200" b="0" i="0" dirty="0">
                <a:solidFill>
                  <a:srgbClr val="262626"/>
                </a:solidFill>
                <a:latin typeface="Times New Roman"/>
              </a:rPr>
              <a:t> (13,78%) do VALUE_INVALID </a:t>
            </a:r>
            <a:r>
              <a:rPr sz="1200" b="0" i="0" dirty="0" err="1">
                <a:solidFill>
                  <a:srgbClr val="262626"/>
                </a:solidFill>
                <a:latin typeface="Times New Roman"/>
              </a:rPr>
              <a:t>tăng</a:t>
            </a:r>
            <a:r>
              <a:rPr sz="12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200" b="0" i="0" dirty="0" err="1">
                <a:solidFill>
                  <a:srgbClr val="262626"/>
                </a:solidFill>
                <a:latin typeface="Times New Roman"/>
              </a:rPr>
              <a:t>vọt</a:t>
            </a:r>
            <a:r>
              <a:rPr sz="12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200" b="0" i="0" dirty="0" err="1">
                <a:solidFill>
                  <a:srgbClr val="262626"/>
                </a:solidFill>
                <a:latin typeface="Times New Roman"/>
              </a:rPr>
              <a:t>lên</a:t>
            </a:r>
            <a:r>
              <a:rPr sz="1200" b="0" i="0" dirty="0">
                <a:solidFill>
                  <a:srgbClr val="262626"/>
                </a:solidFill>
                <a:latin typeface="Times New Roman"/>
              </a:rPr>
              <a:t> 121 </a:t>
            </a:r>
            <a:r>
              <a:rPr sz="1200" b="0" i="0" dirty="0" err="1">
                <a:solidFill>
                  <a:srgbClr val="262626"/>
                </a:solidFill>
                <a:latin typeface="Times New Roman"/>
              </a:rPr>
              <a:t>dòng</a:t>
            </a:r>
            <a:r>
              <a:rPr sz="1200" b="0" i="0" dirty="0">
                <a:solidFill>
                  <a:srgbClr val="262626"/>
                </a:solidFill>
                <a:latin typeface="Times New Roman"/>
              </a:rPr>
              <a:t>; 2025-02 </a:t>
            </a:r>
            <a:r>
              <a:rPr sz="1200" b="0" i="0" dirty="0" err="1">
                <a:solidFill>
                  <a:srgbClr val="262626"/>
                </a:solidFill>
                <a:latin typeface="Times New Roman"/>
              </a:rPr>
              <a:t>cao</a:t>
            </a:r>
            <a:r>
              <a:rPr sz="12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200" b="0" i="0" dirty="0" err="1">
                <a:solidFill>
                  <a:srgbClr val="262626"/>
                </a:solidFill>
                <a:latin typeface="Times New Roman"/>
              </a:rPr>
              <a:t>vì</a:t>
            </a:r>
            <a:r>
              <a:rPr sz="1200" b="0" i="0" dirty="0">
                <a:solidFill>
                  <a:srgbClr val="262626"/>
                </a:solidFill>
                <a:latin typeface="Times New Roman"/>
              </a:rPr>
              <a:t> PRICE_INVALID (159/268). 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51760" y="91440"/>
            <a:ext cx="6949440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C55A11"/>
                </a:solidFill>
                <a:latin typeface="Times New Roman"/>
              </a:rPr>
              <a:t>Section 4: Kết quả &amp; Đánh giá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841248"/>
            <a:ext cx="11826240" cy="43891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070C0"/>
                </a:solidFill>
                <a:latin typeface="Times New Roman"/>
              </a:rPr>
              <a:t>❖Dữ liệu nói gì: xe cũ cùng đời được định giá thấp hơn xe mới khoảng 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298448"/>
            <a:ext cx="5760720" cy="40233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262626"/>
                </a:solidFill>
                <a:latin typeface="Times New Roman"/>
              </a:rPr>
              <a:t>• </a:t>
            </a:r>
            <a:r>
              <a:rPr sz="1400" b="1" i="0">
                <a:solidFill>
                  <a:srgbClr val="262626"/>
                </a:solidFill>
                <a:latin typeface="Times New Roman"/>
              </a:rPr>
              <a:t>Tỷ lệ còn lại</a:t>
            </a:r>
            <a:r>
              <a:rPr sz="1400" b="0" i="0">
                <a:solidFill>
                  <a:srgbClr val="262626"/>
                </a:solidFill>
                <a:latin typeface="Times New Roman"/>
              </a:rPr>
              <a:t> (3): 115/951 nhóm có đủ giá mới lẫn giá cũ — </a:t>
            </a:r>
            <a:r>
              <a:rPr sz="1400" b="1" i="0">
                <a:solidFill>
                  <a:srgbClr val="262626"/>
                </a:solidFill>
                <a:latin typeface="Times New Roman"/>
              </a:rPr>
              <a:t>tất cả đều đời 2024–2026</a:t>
            </a:r>
            <a:r>
              <a:rPr sz="1400" b="0" i="0">
                <a:solidFill>
                  <a:srgbClr val="262626"/>
                </a:solidFill>
                <a:latin typeface="Times New Roman"/>
              </a:rPr>
              <a:t>; trung vị ρ = </a:t>
            </a:r>
            <a:r>
              <a:rPr sz="1400" b="1" i="0">
                <a:solidFill>
                  <a:srgbClr val="262626"/>
                </a:solidFill>
                <a:latin typeface="Times New Roman"/>
              </a:rPr>
              <a:t>0,938</a:t>
            </a:r>
            <a:r>
              <a:rPr sz="1400" b="0" i="0">
                <a:solidFill>
                  <a:srgbClr val="262626"/>
                </a:solidFill>
                <a:latin typeface="Times New Roman"/>
              </a:rPr>
              <a:t>, khoảng 0,47 – 1,11. Theo đời: 2024 → 0,926 · 2025 → 0,938 · 2026 → 0,979.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262626"/>
                </a:solidFill>
                <a:latin typeface="Times New Roman"/>
              </a:rPr>
              <a:t>• </a:t>
            </a:r>
            <a:r>
              <a:rPr sz="1400" b="1" i="0">
                <a:solidFill>
                  <a:srgbClr val="262626"/>
                </a:solidFill>
                <a:latin typeface="Times New Roman"/>
              </a:rPr>
              <a:t>13 nhóm có ρ &gt; 1</a:t>
            </a:r>
            <a:r>
              <a:rPr sz="1400" b="0" i="0">
                <a:solidFill>
                  <a:srgbClr val="262626"/>
                </a:solidFill>
                <a:latin typeface="Times New Roman"/>
              </a:rPr>
              <a:t> — xe cũ được định giá cao hơn xe mới cùng đời (vd. Hyundai Creta 2026: 1,082; Kia Carnival 2026: 1,106). Luật suy ra loai_dinh_gia đã được xác nhận → giả thuyết chính: khác phiên bản (trim) trong cùng dòng xe.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262626"/>
                </a:solidFill>
                <a:latin typeface="Times New Roman"/>
              </a:rPr>
              <a:t>• </a:t>
            </a:r>
            <a:r>
              <a:rPr sz="1400" b="1" i="0">
                <a:solidFill>
                  <a:srgbClr val="262626"/>
                </a:solidFill>
                <a:latin typeface="Times New Roman"/>
              </a:rPr>
              <a:t>Chất lượng phụ thuộc bảng tham chiếu</a:t>
            </a:r>
            <a:r>
              <a:rPr sz="1400" b="0" i="0">
                <a:solidFill>
                  <a:srgbClr val="262626"/>
                </a:solidFill>
                <a:latin typeface="Times New Roman"/>
              </a:rPr>
              <a:t>: 64% dòng quarantine (18 lô thật) là MODEL_CODE_UNKNOWN — cải thiện bằng bổ sung ref_model_map, không cần đổi pipeline.</a:t>
            </a:r>
          </a:p>
        </p:txBody>
      </p:sp>
      <p:pic>
        <p:nvPicPr>
          <p:cNvPr id="5" name="Picture 4" descr="hinh_06_rho_theo_doi_x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98448"/>
            <a:ext cx="5623560" cy="32953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63640" y="4612092"/>
            <a:ext cx="5623560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 i="1">
                <a:solidFill>
                  <a:srgbClr val="595959"/>
                </a:solidFill>
                <a:latin typeface="Times New Roman"/>
              </a:rPr>
              <a:t>Hình 8: Phân phối ρ theo đời xe (18 lô thật, ref 2026-06)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5440680"/>
            <a:ext cx="11551920" cy="96012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l"/>
            <a:r>
              <a:rPr sz="1300" b="1" i="0">
                <a:solidFill>
                  <a:srgbClr val="548235"/>
                </a:solidFill>
                <a:latin typeface="Times New Roman"/>
              </a:rPr>
              <a:t>Đề xuất: </a:t>
            </a:r>
            <a:r>
              <a:rPr sz="1300" b="0" i="0">
                <a:solidFill>
                  <a:srgbClr val="262626"/>
                </a:solidFill>
                <a:latin typeface="Times New Roman"/>
              </a:rPr>
              <a:t>Gửi Ban Nghiệp vụ Xe trước: danh sách mã xe chưa có trong ref_model_map (xếp theo số hợp đồng) để duyệt bổ sung — tác động lớn nhất, chi phí thấp nhất. Sau đó là 13 nhóm ρ &gt; 1, đề nghị kiểm tra phiên bản xe của các hợp đồng có nhiều dòng nhất.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51760" y="91440"/>
            <a:ext cx="6949440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C55A11"/>
                </a:solidFill>
                <a:latin typeface="Times New Roman"/>
              </a:rPr>
              <a:t>Section 4: Kết quả &amp; Đánh giá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841248"/>
            <a:ext cx="11826240" cy="43891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070C0"/>
                </a:solidFill>
                <a:latin typeface="Times New Roman"/>
              </a:rPr>
              <a:t>❖Đối chiếu mục tiêu &amp; Hạn chế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8465779"/>
              </p:ext>
            </p:extLst>
          </p:nvPr>
        </p:nvGraphicFramePr>
        <p:xfrm>
          <a:off x="320040" y="1591056"/>
          <a:ext cx="6035040" cy="24140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79904"/>
                <a:gridCol w="1207008"/>
                <a:gridCol w="2548128"/>
              </a:tblGrid>
              <a:tr h="402336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FFFFF"/>
                          </a:solidFill>
                          <a:latin typeface="Times New Roman"/>
                        </a:rPr>
                        <a:t>Mục</a:t>
                      </a:r>
                      <a:r>
                        <a:rPr sz="1200" b="1" i="0" dirty="0">
                          <a:solidFill>
                            <a:srgbClr val="FFFFFF"/>
                          </a:solidFill>
                          <a:latin typeface="Times New Roman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FFFFF"/>
                          </a:solidFill>
                          <a:latin typeface="Times New Roman"/>
                        </a:rPr>
                        <a:t>tiêu</a:t>
                      </a:r>
                      <a:endParaRPr sz="1200" b="1" i="0" dirty="0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Kết quả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Bằng chứng</a:t>
                      </a:r>
                    </a:p>
                  </a:txBody>
                  <a:tcPr marL="64008" marR="64008" marT="22860" marB="22860" anchor="ctr">
                    <a:solidFill>
                      <a:srgbClr val="1F5F9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Nạp incremental, idempotent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Đạt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Chạy lại: bỏ qua 20/20 lô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Cổng kiểm tra bắt lô hỏng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Đạt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7 test; sự cố CRLF thật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Star schema ở Silver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Đạt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fact + 3 dim; đối soát (2) khớp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Không mất dòng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Đạt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59.421 = 53.064 + 6.357</a:t>
                      </a:r>
                    </a:p>
                  </a:txBody>
                  <a:tcPr marL="64008" marR="64008" marT="22860" marB="22860" anchor="ctr">
                    <a:solidFill>
                      <a:srgbClr val="EAF1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Trả lời Q1–Q4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Times New Roman"/>
                        </a:rPr>
                        <a:t>Đạt</a:t>
                      </a: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 dirty="0">
                          <a:solidFill>
                            <a:srgbClr val="262626"/>
                          </a:solidFill>
                          <a:latin typeface="Times New Roman"/>
                        </a:rPr>
                        <a:t>3 mart BI + </a:t>
                      </a:r>
                      <a:r>
                        <a:rPr sz="1200" b="0" i="0" dirty="0" err="1">
                          <a:solidFill>
                            <a:srgbClr val="262626"/>
                          </a:solidFill>
                          <a:latin typeface="Times New Roman"/>
                        </a:rPr>
                        <a:t>mart_ml_training</a:t>
                      </a:r>
                      <a:endParaRPr sz="1200" b="0" i="0" dirty="0">
                        <a:solidFill>
                          <a:srgbClr val="262626"/>
                        </a:solidFill>
                        <a:latin typeface="Times New Roman"/>
                      </a:endParaRPr>
                    </a:p>
                  </a:txBody>
                  <a:tcPr marL="64008" marR="64008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629401" y="1966370"/>
            <a:ext cx="5303520" cy="131215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 i="0" dirty="0">
                <a:solidFill>
                  <a:srgbClr val="262626"/>
                </a:solidFill>
                <a:latin typeface="Times New Roman"/>
              </a:rPr>
              <a:t>•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ref_model_map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chưa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phủ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hết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mã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→ 5,5%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dòng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(20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lô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)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chưa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vào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fact.</a:t>
            </a:r>
          </a:p>
          <a:p>
            <a:pPr algn="l">
              <a:spcAft>
                <a:spcPts val="500"/>
              </a:spcAft>
            </a:pPr>
            <a:r>
              <a:rPr sz="1300" b="0" i="0" dirty="0" smtClean="0">
                <a:solidFill>
                  <a:srgbClr val="262626"/>
                </a:solidFill>
                <a:latin typeface="Times New Roman"/>
              </a:rPr>
              <a:t>•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loai_dinh_gia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là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1" i="0" dirty="0" err="1">
                <a:solidFill>
                  <a:srgbClr val="262626"/>
                </a:solidFill>
                <a:latin typeface="Times New Roman"/>
              </a:rPr>
              <a:t>suy</a:t>
            </a:r>
            <a:r>
              <a:rPr sz="13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1" i="0" dirty="0" err="1">
                <a:solidFill>
                  <a:srgbClr val="262626"/>
                </a:solidFill>
                <a:latin typeface="Times New Roman"/>
              </a:rPr>
              <a:t>luận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→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đổi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luật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thì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ρ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và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bảng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ML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đổi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theo.</a:t>
            </a:r>
            <a:endParaRPr sz="1300" b="0" i="0" dirty="0">
              <a:solidFill>
                <a:srgbClr val="262626"/>
              </a:solidFill>
              <a:latin typeface="Times New Roman"/>
            </a:endParaRPr>
          </a:p>
          <a:p>
            <a:pPr algn="l">
              <a:spcAft>
                <a:spcPts val="500"/>
              </a:spcAft>
            </a:pPr>
            <a:r>
              <a:rPr sz="1300" b="0" i="0" dirty="0">
                <a:solidFill>
                  <a:srgbClr val="262626"/>
                </a:solidFill>
                <a:latin typeface="Times New Roman"/>
              </a:rPr>
              <a:t>•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Chỉ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18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tháng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dữ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liệu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thật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→ ρ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chỉ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đo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được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cho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xe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0–2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năm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tuổi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300" b="0" i="0" dirty="0">
                <a:solidFill>
                  <a:srgbClr val="262626"/>
                </a:solidFill>
                <a:latin typeface="Times New Roman"/>
              </a:rPr>
              <a:t>•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Lô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2026-07/08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và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ref 2026-07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là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1" i="0" dirty="0" err="1">
                <a:solidFill>
                  <a:srgbClr val="262626"/>
                </a:solidFill>
                <a:latin typeface="Times New Roman"/>
              </a:rPr>
              <a:t>giả</a:t>
            </a:r>
            <a:r>
              <a:rPr sz="1300" b="1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1" i="0" dirty="0" err="1">
                <a:solidFill>
                  <a:srgbClr val="262626"/>
                </a:solidFill>
                <a:latin typeface="Times New Roman"/>
              </a:rPr>
              <a:t>định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—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chỉ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dùng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cho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số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kỹ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thuật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300" b="0" i="0" dirty="0" smtClean="0">
                <a:solidFill>
                  <a:srgbClr val="262626"/>
                </a:solidFill>
                <a:latin typeface="Times New Roman"/>
              </a:rPr>
              <a:t>• 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Parquet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thuần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(Data Lake):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không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ACID,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không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time travel, </a:t>
            </a:r>
            <a:r>
              <a:rPr sz="1300" b="0" i="0" dirty="0" err="1">
                <a:solidFill>
                  <a:srgbClr val="262626"/>
                </a:solidFill>
                <a:latin typeface="Times New Roman"/>
              </a:rPr>
              <a:t>không</a:t>
            </a:r>
            <a:r>
              <a:rPr sz="1300" b="0" i="0" dirty="0">
                <a:solidFill>
                  <a:srgbClr val="262626"/>
                </a:solidFill>
                <a:latin typeface="Times New Roman"/>
              </a:rPr>
              <a:t> SCD.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51760" y="91440"/>
            <a:ext cx="6949440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C55A11"/>
                </a:solidFill>
                <a:latin typeface="Times New Roman"/>
              </a:rPr>
              <a:t>Section 4: Kết quả &amp; Đánh giá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841248"/>
            <a:ext cx="11826240" cy="43891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070C0"/>
                </a:solidFill>
                <a:latin typeface="Times New Roman"/>
              </a:rPr>
              <a:t>❖Hướng phát triển &amp; Kết luận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538921"/>
            <a:ext cx="11551920" cy="132497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 dirty="0">
                <a:solidFill>
                  <a:srgbClr val="262626"/>
                </a:solidFill>
                <a:latin typeface="Times New Roman"/>
              </a:rPr>
              <a:t>•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Tiếp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tục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bổ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sung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ref_model_map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→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chạy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lại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Silver →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đo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lại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quarantine (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không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đổi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code).</a:t>
            </a:r>
          </a:p>
          <a:p>
            <a:pPr algn="l">
              <a:spcAft>
                <a:spcPts val="900"/>
              </a:spcAft>
            </a:pPr>
            <a:r>
              <a:rPr sz="1500" b="0" i="0" dirty="0">
                <a:solidFill>
                  <a:srgbClr val="262626"/>
                </a:solidFill>
                <a:latin typeface="Times New Roman"/>
              </a:rPr>
              <a:t>•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dim_model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thành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1" i="0" dirty="0">
                <a:solidFill>
                  <a:srgbClr val="262626"/>
                </a:solidFill>
                <a:latin typeface="Times New Roman"/>
              </a:rPr>
              <a:t>SCD Type 2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khi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bảng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tham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chiếu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bắt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đầu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thay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đổi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thật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.</a:t>
            </a:r>
          </a:p>
          <a:p>
            <a:pPr algn="l">
              <a:spcAft>
                <a:spcPts val="900"/>
              </a:spcAft>
            </a:pPr>
            <a:r>
              <a:rPr sz="1500" b="0" i="0" dirty="0" smtClean="0">
                <a:solidFill>
                  <a:srgbClr val="262626"/>
                </a:solidFill>
                <a:latin typeface="Times New Roman"/>
              </a:rPr>
              <a:t>•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Huấn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luyện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model baseline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trên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mart_ml_training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; so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điểm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chia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theo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tháng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với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chia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ngẫu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nhiên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để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1" i="0" dirty="0" err="1">
                <a:solidFill>
                  <a:srgbClr val="262626"/>
                </a:solidFill>
                <a:latin typeface="Times New Roman"/>
              </a:rPr>
              <a:t>đo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leakage.</a:t>
            </a:r>
          </a:p>
          <a:p>
            <a:pPr algn="l">
              <a:spcAft>
                <a:spcPts val="900"/>
              </a:spcAft>
            </a:pPr>
            <a:r>
              <a:rPr sz="1500" b="0" i="0" dirty="0">
                <a:solidFill>
                  <a:srgbClr val="262626"/>
                </a:solidFill>
                <a:latin typeface="Times New Roman"/>
              </a:rPr>
              <a:t>•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Đưa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lang="en-US" sz="1500" b="0" i="0" dirty="0" err="1" smtClean="0">
                <a:solidFill>
                  <a:srgbClr val="262626"/>
                </a:solidFill>
                <a:latin typeface="Times New Roman"/>
              </a:rPr>
              <a:t>thêm</a:t>
            </a:r>
            <a:r>
              <a:rPr sz="1500" b="0" i="0" dirty="0" smtClean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nguồn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smtClean="0">
                <a:solidFill>
                  <a:srgbClr val="262626"/>
                </a:solidFill>
                <a:latin typeface="Times New Roman"/>
              </a:rPr>
              <a:t>crawl</a:t>
            </a:r>
            <a:r>
              <a:rPr lang="en-US" sz="1500" b="0" i="0" dirty="0" smtClean="0">
                <a:solidFill>
                  <a:srgbClr val="262626"/>
                </a:solidFill>
                <a:latin typeface="Times New Roman"/>
              </a:rPr>
              <a:t> </a:t>
            </a:r>
            <a:r>
              <a:rPr lang="en-US" sz="1500" b="0" i="0" dirty="0" err="1" smtClean="0">
                <a:solidFill>
                  <a:srgbClr val="262626"/>
                </a:solidFill>
                <a:latin typeface="Times New Roman"/>
              </a:rPr>
              <a:t>từ</a:t>
            </a:r>
            <a:r>
              <a:rPr lang="en-US" sz="1500" b="0" i="0" dirty="0" smtClean="0">
                <a:solidFill>
                  <a:srgbClr val="262626"/>
                </a:solidFill>
                <a:latin typeface="Times New Roman"/>
              </a:rPr>
              <a:t> bonbanh.com</a:t>
            </a:r>
            <a:r>
              <a:rPr sz="1500" b="0" i="0" dirty="0" smtClean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1" i="0" dirty="0" err="1">
                <a:solidFill>
                  <a:srgbClr val="262626"/>
                </a:solidFill>
                <a:latin typeface="Times New Roman"/>
              </a:rPr>
              <a:t>khi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cần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độ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err="1" smtClean="0">
                <a:solidFill>
                  <a:srgbClr val="262626"/>
                </a:solidFill>
                <a:latin typeface="Times New Roman"/>
              </a:rPr>
              <a:t>phủ</a:t>
            </a:r>
            <a:r>
              <a:rPr lang="en-US" sz="1500" b="0" i="0" dirty="0" smtClean="0">
                <a:solidFill>
                  <a:srgbClr val="262626"/>
                </a:solidFill>
                <a:latin typeface="Times New Roman"/>
              </a:rPr>
              <a:t>, </a:t>
            </a:r>
            <a:r>
              <a:rPr sz="1500" b="0" i="0" dirty="0" err="1" smtClean="0">
                <a:solidFill>
                  <a:srgbClr val="262626"/>
                </a:solidFill>
                <a:latin typeface="Times New Roman"/>
              </a:rPr>
              <a:t>gắn</a:t>
            </a:r>
            <a:r>
              <a:rPr sz="1500" b="0" i="0" dirty="0" smtClean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thêm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dim_source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vào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star schema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mà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không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phá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cấu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Times New Roman"/>
              </a:rPr>
              <a:t>trúc</a:t>
            </a:r>
            <a:r>
              <a:rPr sz="1500" b="0" i="0" dirty="0">
                <a:solidFill>
                  <a:srgbClr val="262626"/>
                </a:solidFill>
                <a:latin typeface="Times New Roman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3398294"/>
            <a:ext cx="11551920" cy="152773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l"/>
            <a:r>
              <a:rPr sz="1400" b="1" i="0" dirty="0" err="1">
                <a:solidFill>
                  <a:srgbClr val="548235"/>
                </a:solidFill>
                <a:latin typeface="Times New Roman"/>
              </a:rPr>
              <a:t>Kết</a:t>
            </a:r>
            <a:r>
              <a:rPr sz="1400" b="1" i="0" dirty="0">
                <a:solidFill>
                  <a:srgbClr val="548235"/>
                </a:solidFill>
                <a:latin typeface="Times New Roman"/>
              </a:rPr>
              <a:t> </a:t>
            </a:r>
            <a:r>
              <a:rPr sz="1400" b="1" i="0" dirty="0" err="1">
                <a:solidFill>
                  <a:srgbClr val="548235"/>
                </a:solidFill>
                <a:latin typeface="Times New Roman"/>
              </a:rPr>
              <a:t>luận</a:t>
            </a:r>
            <a:r>
              <a:rPr sz="1400" b="1" i="0" dirty="0">
                <a:solidFill>
                  <a:srgbClr val="548235"/>
                </a:solidFill>
                <a:latin typeface="Times New Roman"/>
              </a:rPr>
              <a:t>: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Đã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dựng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một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Data Lake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bốn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tầng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bằng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PySpark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từ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dữ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liệu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định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giá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thật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: 20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lô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đi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qua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cổng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kiểm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tra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,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mọi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dòng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đều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có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chỗ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trong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fact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hoặc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quarantine,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và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bốn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câu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hỏi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nghiệp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vụ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có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bảng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trả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lời</a:t>
            </a:r>
            <a:r>
              <a:rPr sz="1400" b="0" i="0" dirty="0" smtClean="0">
                <a:solidFill>
                  <a:srgbClr val="262626"/>
                </a:solidFill>
                <a:latin typeface="Times New Roman"/>
              </a:rPr>
              <a:t>.</a:t>
            </a:r>
            <a:endParaRPr lang="en-US" sz="1400" b="0" i="0" dirty="0" smtClean="0">
              <a:solidFill>
                <a:srgbClr val="262626"/>
              </a:solidFill>
              <a:latin typeface="Times New Roman"/>
            </a:endParaRPr>
          </a:p>
          <a:p>
            <a:pPr algn="l"/>
            <a:endParaRPr sz="1400" b="0" i="0" dirty="0">
              <a:solidFill>
                <a:srgbClr val="262626"/>
              </a:solidFill>
              <a:latin typeface="Times New Roman"/>
            </a:endParaRPr>
          </a:p>
          <a:p>
            <a:pPr algn="l"/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Bài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học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chính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: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chốt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grain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và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luật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trước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khi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viết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code;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dữ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liệu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lỗi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phải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được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giữ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lại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để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sửa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,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không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được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xoá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.</a:t>
            </a:r>
          </a:p>
          <a:p>
            <a:pPr algn="l"/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Giá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trị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thực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tế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: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một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nguồn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tham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chiếu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giá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xe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theo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dòng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/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đời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,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đo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được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chất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lượng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từng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 smtClean="0">
                <a:solidFill>
                  <a:srgbClr val="262626"/>
                </a:solidFill>
                <a:latin typeface="Times New Roman"/>
              </a:rPr>
              <a:t>tháng</a:t>
            </a:r>
            <a:r>
              <a:rPr lang="en-US" dirty="0">
                <a:solidFill>
                  <a:srgbClr val="262626"/>
                </a:solidFill>
                <a:latin typeface="Times New Roman"/>
              </a:rPr>
              <a:t>,</a:t>
            </a:r>
            <a:r>
              <a:rPr sz="1400" b="0" i="0" dirty="0" smtClean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đầu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vào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cho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thẩm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định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và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cho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model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định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giá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sau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Times New Roman"/>
              </a:rPr>
              <a:t>này</a:t>
            </a:r>
            <a:r>
              <a:rPr sz="1400" b="0" i="0" dirty="0">
                <a:solidFill>
                  <a:srgbClr val="262626"/>
                </a:solidFill>
                <a:latin typeface="Times New Roman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5669280"/>
            <a:ext cx="11551920" cy="731520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lang="en-US" sz="2400" b="1" i="0" dirty="0" smtClean="0">
                <a:solidFill>
                  <a:srgbClr val="FFFFFF"/>
                </a:solidFill>
                <a:latin typeface="Times New Roman"/>
              </a:rPr>
              <a:t>Thank you</a:t>
            </a:r>
            <a:endParaRPr sz="2400" b="1" i="0" dirty="0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3591</Words>
  <Application>Microsoft Office PowerPoint</Application>
  <PresentationFormat>Widescreen</PresentationFormat>
  <Paragraphs>500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Algerian</vt:lpstr>
      <vt:lpstr>Arial</vt:lpstr>
      <vt:lpstr>Calibri</vt:lpstr>
      <vt:lpstr>Cambria Math</vt:lpstr>
      <vt:lpstr>Consolas</vt:lpstr>
      <vt:lpstr>Times New Roman</vt:lpstr>
      <vt:lpstr>Office Theme</vt:lpstr>
      <vt:lpstr>Data Lake Medallion + Star Schema bằng PySpark cho giá trị xe ô tô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Lake Medallion + Star Schema bằng PySpark cho giá trị xe ô tô Từ bản trích dữ liệu định giá nghiệp vụ đến bảng phân tích và bảng đặc trưng ML</dc:title>
  <dc:creator>Dinh Vinh</dc:creator>
  <cp:lastModifiedBy>Microsoft account</cp:lastModifiedBy>
  <cp:revision>9</cp:revision>
  <dcterms:created xsi:type="dcterms:W3CDTF">2020-03-12T03:20:56Z</dcterms:created>
  <dcterms:modified xsi:type="dcterms:W3CDTF">2026-10-08T14:55:28Z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2023-04-25T11:39:23Z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0d5f3e43-23a8-4a49-ae94-00ca286a0b61</vt:lpwstr>
  </property>
  <property fmtid="{D5CDD505-2E9C-101B-9397-08002B2CF9AE}" pid="7" name="MSIP_Label_defa4170-0d19-0005-0004-bc88714345d2_ActionId">
    <vt:lpwstr>136951cf-fc08-4d56-bcb4-8eb818cc7f75</vt:lpwstr>
  </property>
  <property fmtid="{D5CDD505-2E9C-101B-9397-08002B2CF9AE}" pid="8" name="MSIP_Label_defa4170-0d19-0005-0004-bc88714345d2_ContentBits">
    <vt:lpwstr>0</vt:lpwstr>
  </property>
</Properties>
</file>